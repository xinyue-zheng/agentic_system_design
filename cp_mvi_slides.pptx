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41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models: CP (Confidence Predictor) and MVI (Missing-Value Imaginer)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CP = </a:t>
            </a:r>
            <a:r>
              <a:rPr lang="en-US" sz="1300" dirty="0">
                <a:solidFill>
                  <a:srgbClr val="5F5E5A"/>
                </a:solidFill>
              </a:rPr>
              <a:t>features (with missing) → target distribution.    </a:t>
            </a:r>
            <a:r>
              <a:rPr lang="en-US" sz="1300" b="1" dirty="0">
                <a:solidFill>
                  <a:srgbClr val="534AB7"/>
                </a:solidFill>
              </a:rPr>
              <a:t>MVI = </a:t>
            </a:r>
            <a:r>
              <a:rPr lang="en-US" sz="1300" dirty="0">
                <a:solidFill>
                  <a:srgbClr val="5F5E5A"/>
                </a:solidFill>
              </a:rPr>
              <a:t>known features → distribution of a missing feature.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—  train once on history, then frozen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394960" cy="1627632"/>
          </a:xfrm>
          <a:prstGeom prst="roundRect">
            <a:avLst>
              <a:gd name="adj" fmla="val 2809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773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20391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Data: </a:t>
            </a:r>
            <a:r>
              <a:rPr lang="en-US" sz="1300" dirty="0">
                <a:solidFill>
                  <a:srgbClr val="5F5E5A"/>
                </a:solidFill>
              </a:rPr>
              <a:t>history rows = KPI features + coverage features + real </a:t>
            </a:r>
            <a:r>
              <a:rPr lang="en-US" sz="1300" dirty="0" err="1">
                <a:solidFill>
                  <a:srgbClr val="5F5E5A"/>
                </a:solidFill>
              </a:rPr>
              <a:t>RRC_loss</a:t>
            </a:r>
            <a:r>
              <a:rPr lang="en-US" sz="1300" dirty="0">
                <a:solidFill>
                  <a:srgbClr val="5F5E5A"/>
                </a:solidFill>
              </a:rPr>
              <a:t> (target).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</a:rPr>
              <a:t>Randomly mask acquirable features (case data never masked); Y stays real </a:t>
            </a:r>
            <a:r>
              <a:rPr lang="en-US" sz="1300" dirty="0" err="1">
                <a:solidFill>
                  <a:srgbClr val="5F5E5A"/>
                </a:solidFill>
              </a:rPr>
              <a:t>RRC_loss</a:t>
            </a:r>
            <a:r>
              <a:rPr lang="en-US" sz="1300" dirty="0">
                <a:solidFill>
                  <a:srgbClr val="5F5E5A"/>
                </a:solidFill>
              </a:rPr>
              <a:t>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</a:rPr>
              <a:t>Fit 3 gradient-boosted quantile models (α = .1/.5/.9, pinball loss).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Result: </a:t>
            </a:r>
            <a:r>
              <a:rPr lang="en-US" sz="1300" dirty="0">
                <a:solidFill>
                  <a:srgbClr val="5F5E5A"/>
                </a:solidFill>
              </a:rPr>
              <a:t>any feature subset → </a:t>
            </a:r>
            <a:r>
              <a:rPr lang="en-US" sz="1300" dirty="0" err="1">
                <a:solidFill>
                  <a:srgbClr val="5F5E5A"/>
                </a:solidFill>
              </a:rPr>
              <a:t>RRC_loss</a:t>
            </a:r>
            <a:r>
              <a:rPr lang="en-US" sz="1300" dirty="0">
                <a:solidFill>
                  <a:srgbClr val="5F5E5A"/>
                </a:solidFill>
              </a:rPr>
              <a:t> estimated p10,p50,p90. Width = uncertainty.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12080" cy="1627632"/>
          </a:xfrm>
          <a:prstGeom prst="roundRect">
            <a:avLst>
              <a:gd name="adj" fmla="val 2809"/>
            </a:avLst>
          </a:prstGeom>
          <a:solidFill>
            <a:srgbClr val="EEEDFE"/>
          </a:solidFill>
          <a:ln w="762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837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Same recipe, different target.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</a:rPr>
              <a:t>Y = a feature’s own real value; X = known features.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</a:rPr>
              <a:t>One quantile set per acquirable feature.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</a:rPr>
              <a:t>Result: </a:t>
            </a:r>
            <a:r>
              <a:rPr lang="en-US" sz="1300" dirty="0">
                <a:solidFill>
                  <a:srgbClr val="5F5E5A"/>
                </a:solidFill>
              </a:rPr>
              <a:t>before acquiring feature X, predict X’s plausible value distribution from what we already know.</a:t>
            </a:r>
            <a:endParaRPr lang="en-US" sz="13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E1E77D-79A7-5B69-D930-54AB728CEDED}"/>
              </a:ext>
            </a:extLst>
          </p:cNvPr>
          <p:cNvSpPr txBox="1"/>
          <p:nvPr/>
        </p:nvSpPr>
        <p:spPr>
          <a:xfrm>
            <a:off x="640080" y="4094018"/>
            <a:ext cx="110642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Data preparation: </a:t>
            </a:r>
          </a:p>
          <a:p>
            <a:r>
              <a:rPr lang="en-US" sz="1300" dirty="0"/>
              <a:t>Select ticket with cell/whole USID outage,</a:t>
            </a:r>
          </a:p>
          <a:p>
            <a:r>
              <a:rPr lang="en-US" sz="1300" dirty="0"/>
              <a:t>Gather the KPI data for the outage USIDs and the neighbors get from attribute data (top 20 neighbors)</a:t>
            </a:r>
          </a:p>
          <a:p>
            <a:r>
              <a:rPr lang="en-US" sz="1300" dirty="0" err="1"/>
              <a:t>RRC_loss</a:t>
            </a:r>
            <a:r>
              <a:rPr lang="en-US" sz="1300" dirty="0"/>
              <a:t>: using time-series decomposition to get </a:t>
            </a:r>
            <a:r>
              <a:rPr lang="en-US" sz="1300" dirty="0" err="1"/>
              <a:t>RRC_loss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flow: one case, from arrival to a confident estimate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CP</a:t>
            </a:r>
            <a:r>
              <a:rPr lang="en-US" sz="1200" dirty="0">
                <a:solidFill>
                  <a:srgbClr val="5F5E5A"/>
                </a:solidFill>
              </a:rPr>
              <a:t> = Confidence Predictor (features→loss band).   </a:t>
            </a:r>
            <a:r>
              <a:rPr lang="en-US" sz="1200" b="1" dirty="0">
                <a:solidFill>
                  <a:srgbClr val="534AB7"/>
                </a:solidFill>
              </a:rPr>
              <a:t>MVI</a:t>
            </a:r>
            <a:r>
              <a:rPr lang="en-US" sz="1200" dirty="0">
                <a:solidFill>
                  <a:srgbClr val="5F5E5A"/>
                </a:solidFill>
              </a:rPr>
              <a:t> = Missing-Value Imaginer (imagines an unacquired feature). The two are used only inside the gain calculation, expanded below.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1554480" cy="841248"/>
          </a:xfrm>
          <a:prstGeom prst="roundRect">
            <a:avLst>
              <a:gd name="adj" fmla="val 5435"/>
            </a:avLst>
          </a:prstGeom>
          <a:solidFill>
            <a:srgbClr val="F1EFE8"/>
          </a:solidFill>
          <a:ln w="889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arrives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 the case;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attribute, coverage missing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2029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1755648"/>
            <a:ext cx="1554480" cy="841248"/>
          </a:xfrm>
          <a:prstGeom prst="roundRect">
            <a:avLst>
              <a:gd name="adj" fmla="val 5435"/>
            </a:avLst>
          </a:prstGeom>
          <a:solidFill>
            <a:srgbClr val="E1F5EE"/>
          </a:solidFill>
          <a:ln w="889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18470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→ initial target band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21031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band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alone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41648" y="2029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1755648"/>
            <a:ext cx="2011680" cy="841248"/>
          </a:xfrm>
          <a:prstGeom prst="roundRect">
            <a:avLst>
              <a:gd name="adj" fmla="val 5435"/>
            </a:avLst>
          </a:prstGeom>
          <a:solidFill>
            <a:srgbClr val="FBEAD7"/>
          </a:solidFill>
          <a:ln w="889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70832" y="184708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action candidates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0832" y="210312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cost for every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 (see below)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2029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1755648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EEEDFE"/>
          </a:solidFill>
          <a:ln w="889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6832" y="184708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6832" y="2103120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gain/cost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02168" y="2029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58200" y="1755648"/>
            <a:ext cx="15544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889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31352" y="18470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31352" y="21031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action;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feature(s)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30968" y="2029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287000" y="1755648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E1F5EE"/>
          </a:solidFill>
          <a:ln w="889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60152" y="184708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60152" y="2103120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narrows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27080" y="2596896"/>
            <a:ext cx="0" cy="292608"/>
          </a:xfrm>
          <a:prstGeom prst="line">
            <a:avLst/>
          </a:prstGeom>
          <a:noFill/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03520" y="2889504"/>
            <a:ext cx="5623560" cy="0"/>
          </a:xfrm>
          <a:prstGeom prst="line">
            <a:avLst/>
          </a:prstGeom>
          <a:noFill/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303520" y="2596896"/>
            <a:ext cx="0" cy="292608"/>
          </a:xfrm>
          <a:prstGeom prst="line">
            <a:avLst/>
          </a:prstGeom>
          <a:noFill/>
          <a:ln w="158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75504" y="25603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6883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band is narrow enough  (or budget spent)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03920" y="2948940"/>
            <a:ext cx="3346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band threshold→ Output report 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5021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“score candidates” expanded — for ONE candidate X: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3813048"/>
            <a:ext cx="11247120" cy="2807208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48592" y="5061412"/>
            <a:ext cx="1288473" cy="914400"/>
          </a:xfrm>
          <a:prstGeom prst="roundRect">
            <a:avLst>
              <a:gd name="adj" fmla="val 3333"/>
            </a:avLst>
          </a:prstGeom>
          <a:solidFill>
            <a:srgbClr val="E1F5EE"/>
          </a:solidFill>
          <a:ln w="889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5846" y="5133733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 (current)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5846" y="5408053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features in,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missing → band.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width_now = p90−p10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12494" y="438247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212848" y="4007358"/>
            <a:ext cx="1324217" cy="992124"/>
          </a:xfrm>
          <a:prstGeom prst="roundRect">
            <a:avLst>
              <a:gd name="adj" fmla="val 3333"/>
            </a:avLst>
          </a:prstGeom>
          <a:solidFill>
            <a:srgbClr val="EEEDFE"/>
          </a:solidFill>
          <a:ln w="889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340102" y="4109605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  (imagine X)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340102" y="4383925"/>
            <a:ext cx="1232777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X not yet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→ predict 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values v₁…vₖ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likelihoods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058203" y="4061389"/>
            <a:ext cx="1324217" cy="914401"/>
          </a:xfrm>
          <a:prstGeom prst="roundRect">
            <a:avLst>
              <a:gd name="adj" fmla="val 3333"/>
            </a:avLst>
          </a:prstGeom>
          <a:solidFill>
            <a:srgbClr val="E1F5EE"/>
          </a:solidFill>
          <a:ln w="889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85457" y="4085913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 (per value)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85457" y="4360233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vᵢ, fill X=vᵢ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 gives a narrower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band; take its width.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by likelihood.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44342" y="4694197"/>
            <a:ext cx="2025396" cy="1061120"/>
          </a:xfrm>
          <a:prstGeom prst="roundRect">
            <a:avLst>
              <a:gd name="adj" fmla="val 3333"/>
            </a:avLst>
          </a:prstGeom>
          <a:solidFill>
            <a:srgbClr val="FBEAD7"/>
          </a:solidFill>
          <a:ln w="889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96055" y="470230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cost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96055" y="497662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expected_width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 likelihood · width(vᵢ)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width_now − expected_width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gain / cost(X)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8180" y="6303541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35"/>
                </a:solidFill>
              </a:rPr>
              <a:t>Repeat for every candidate → a score each → the main loop picks the max.  </a:t>
            </a:r>
            <a:endParaRPr lang="en-US" sz="10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200043A-E4A4-C086-8F2B-8C15B4EBA7D1}"/>
              </a:ext>
            </a:extLst>
          </p:cNvPr>
          <p:cNvSpPr/>
          <p:nvPr/>
        </p:nvSpPr>
        <p:spPr>
          <a:xfrm>
            <a:off x="5889777" y="5073880"/>
            <a:ext cx="938645" cy="28554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gain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DF6A2382-0515-3294-9D5A-AEDC309E9A10}"/>
              </a:ext>
            </a:extLst>
          </p:cNvPr>
          <p:cNvCxnSpPr>
            <a:cxnSpLocks/>
            <a:stCxn id="48" idx="3"/>
            <a:endCxn id="56" idx="0"/>
          </p:cNvCxnSpPr>
          <p:nvPr/>
        </p:nvCxnSpPr>
        <p:spPr>
          <a:xfrm>
            <a:off x="5382420" y="4518590"/>
            <a:ext cx="976680" cy="5552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29FD4C3C-343C-89D6-8782-DDF17C680350}"/>
              </a:ext>
            </a:extLst>
          </p:cNvPr>
          <p:cNvCxnSpPr>
            <a:endCxn id="56" idx="4"/>
          </p:cNvCxnSpPr>
          <p:nvPr/>
        </p:nvCxnSpPr>
        <p:spPr>
          <a:xfrm flipV="1">
            <a:off x="3537065" y="5359423"/>
            <a:ext cx="2822035" cy="1591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A16764F-920D-5F37-7D6A-C690FF14947B}"/>
              </a:ext>
            </a:extLst>
          </p:cNvPr>
          <p:cNvCxnSpPr>
            <a:stCxn id="56" idx="6"/>
            <a:endCxn id="52" idx="1"/>
          </p:cNvCxnSpPr>
          <p:nvPr/>
        </p:nvCxnSpPr>
        <p:spPr>
          <a:xfrm>
            <a:off x="6828422" y="5216652"/>
            <a:ext cx="315920" cy="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features: how each candidate is turned into model inputs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= one acquisition action. Its raw output is a time series; a shared extractor turns it into fixed features used by both CP and MVI, offline and online.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SERIES  →  Feature Extractor  →  Same Features for Online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37359"/>
            <a:ext cx="3291840" cy="151956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" y="18379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KPI series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2130552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case, per KPI (rrc, throughput, volume, prb_used, pdcch_cce_util): the pre-outage window (4 weeks), at a chosen granularity(daily, hourly)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59352" y="173736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42232" y="1720734"/>
            <a:ext cx="3383280" cy="1536191"/>
          </a:xfrm>
          <a:prstGeom prst="roundRect">
            <a:avLst>
              <a:gd name="adj" fmla="val 2857"/>
            </a:avLst>
          </a:prstGeom>
          <a:solidFill>
            <a:srgbClr val="E1F5EE"/>
          </a:solidFill>
          <a:ln w="762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34256" y="183794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34256" y="2130552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turns a variable-length series into fixed features. Using </a:t>
            </a:r>
            <a:r>
              <a:rPr lang="en-US" sz="1050" dirty="0" err="1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</a:t>
            </a: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extract features (from KPI data) and select the most important features when input with the target.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71232" y="173736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1737360"/>
            <a:ext cx="3703320" cy="1536192"/>
          </a:xfrm>
          <a:prstGeom prst="roundRect">
            <a:avLst>
              <a:gd name="adj" fmla="val 2857"/>
            </a:avLst>
          </a:prstGeom>
          <a:solidFill>
            <a:srgbClr val="EEEDFE"/>
          </a:solidFill>
          <a:ln w="762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46136" y="183794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 for Online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46136" y="2130552"/>
            <a:ext cx="3447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Online mode, it will use the same features for rating the actions and narrow the prediction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21608"/>
            <a:ext cx="5532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POINT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197096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Few familiar KPIs,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Goal of this stage: show CP’s band actually narrows as features are acquired (coverage check holds at each missingness level).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Use gradient boosting — fast, no GPU, gives feature importance for selection.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721608"/>
            <a:ext cx="5532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7E5D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 (add candidates later)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197096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Candidate set is just a registry; add a new KPI / coverage feature by registering it later.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More candidates from a bigger pool, include more KPIs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</a:rPr>
              <a:t>Models don’t change — only the input slots grow; CP / MVI retrain on the wider table.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724</Words>
  <Application>Microsoft Macintosh PowerPoint</Application>
  <PresentationFormat>Widescreen</PresentationFormat>
  <Paragraphs>89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outage-agent</dc:creator>
  <cp:lastModifiedBy>Zheng, Xinyue</cp:lastModifiedBy>
  <cp:revision>2</cp:revision>
  <dcterms:created xsi:type="dcterms:W3CDTF">2026-06-16T15:02:21Z</dcterms:created>
  <dcterms:modified xsi:type="dcterms:W3CDTF">2026-06-16T16:51:11Z</dcterms:modified>
</cp:coreProperties>
</file>