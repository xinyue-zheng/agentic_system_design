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20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32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RRC (k)</c:v>
                </c:pt>
              </c:strCache>
            </c:strRef>
          </c:tx>
          <c:spPr>
            <a:ln w="25400" cap="flat">
              <a:solidFill>
                <a:srgbClr val="1D4ED8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Sheet1!$A$2:$A$16</c:f>
              <c:strCache>
                <c:ptCount val="15"/>
                <c:pt idx="0">
                  <c:v>00:00</c:v>
                </c:pt>
                <c:pt idx="4">
                  <c:v>06:00</c:v>
                </c:pt>
                <c:pt idx="7">
                  <c:v>12:00</c:v>
                </c:pt>
                <c:pt idx="10">
                  <c:v>18:00</c:v>
                </c:pt>
                <c:pt idx="13">
                  <c:v>24:00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30</c:v>
                </c:pt>
                <c:pt idx="1">
                  <c:v>40</c:v>
                </c:pt>
                <c:pt idx="2">
                  <c:v>35</c:v>
                </c:pt>
                <c:pt idx="3">
                  <c:v>50</c:v>
                </c:pt>
                <c:pt idx="4">
                  <c:v>45</c:v>
                </c:pt>
                <c:pt idx="5">
                  <c:v>65</c:v>
                </c:pt>
                <c:pt idx="6">
                  <c:v>90</c:v>
                </c:pt>
                <c:pt idx="7">
                  <c:v>75</c:v>
                </c:pt>
                <c:pt idx="8">
                  <c:v>60</c:v>
                </c:pt>
                <c:pt idx="9">
                  <c:v>95</c:v>
                </c:pt>
                <c:pt idx="10">
                  <c:v>105</c:v>
                </c:pt>
                <c:pt idx="11">
                  <c:v>100</c:v>
                </c:pt>
                <c:pt idx="12">
                  <c:v>80</c:v>
                </c:pt>
                <c:pt idx="13">
                  <c:v>70</c:v>
                </c:pt>
                <c:pt idx="14">
                  <c:v>68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3A0-B649-842E-5072CCCED7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50"/>
          <c:min val="0"/>
        </c:scaling>
        <c:delete val="0"/>
        <c:axPos val="l"/>
        <c:majorGridlines>
          <c:spPr>
            <a:ln w="9525" cap="flat">
              <a:solidFill>
                <a:srgbClr val="E5E9F0"/>
              </a:solidFill>
              <a:prstDash val="dash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800" b="0" i="0" u="none" strike="noStrike">
                    <a:solidFill>
                      <a:srgbClr val="6B7280"/>
                    </a:solidFill>
                    <a:latin typeface="Arial"/>
                  </a:defRPr>
                </a:pPr>
                <a:r>
                  <a:rPr lang="en-US" sz="800" b="0" i="0" u="none" strike="noStrike">
                    <a:solidFill>
                      <a:srgbClr val="6B7280"/>
                    </a:solidFill>
                    <a:latin typeface="Arial"/>
                  </a:rPr>
                  <a:t>RRC (k)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50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Utilization (%)</c:v>
                </c:pt>
              </c:strCache>
            </c:strRef>
          </c:tx>
          <c:spPr>
            <a:solidFill>
              <a:srgbClr val="1D4ED8"/>
            </a:solidFill>
            <a:effectLst/>
          </c:spPr>
          <c:invertIfNegative val="0"/>
          <c:cat>
            <c:strRef>
              <c:f>Sheet1!$A$2:$A$12</c:f>
              <c:strCache>
                <c:ptCount val="11"/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38</c:v>
                </c:pt>
                <c:pt idx="1">
                  <c:v>42</c:v>
                </c:pt>
                <c:pt idx="2">
                  <c:v>30</c:v>
                </c:pt>
                <c:pt idx="3">
                  <c:v>55</c:v>
                </c:pt>
                <c:pt idx="4">
                  <c:v>35</c:v>
                </c:pt>
                <c:pt idx="5">
                  <c:v>60</c:v>
                </c:pt>
                <c:pt idx="6">
                  <c:v>45</c:v>
                </c:pt>
                <c:pt idx="7">
                  <c:v>58</c:v>
                </c:pt>
                <c:pt idx="8">
                  <c:v>40</c:v>
                </c:pt>
                <c:pt idx="9">
                  <c:v>72</c:v>
                </c:pt>
                <c:pt idx="10">
                  <c:v>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9FA-E744-957A-54EDCE3FBB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5E9F0"/>
              </a:solidFill>
              <a:prstDash val="dash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800" b="0" i="0" u="none" strike="noStrike">
                    <a:solidFill>
                      <a:srgbClr val="6B7280"/>
                    </a:solidFill>
                    <a:latin typeface="Arial"/>
                  </a:defRPr>
                </a:pPr>
                <a:r>
                  <a:rPr lang="en-US" sz="800" b="0" i="0" u="none" strike="noStrike">
                    <a:solidFill>
                      <a:srgbClr val="6B7280"/>
                    </a:solidFill>
                    <a:latin typeface="Arial"/>
                  </a:rPr>
                  <a:t>Utilization (%)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50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4686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Motivation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9646920" y="292608"/>
            <a:ext cx="2148840" cy="365760"/>
          </a:xfrm>
          <a:prstGeom prst="roundRect">
            <a:avLst>
              <a:gd name="adj" fmla="val 20000"/>
            </a:avLst>
          </a:prstGeom>
          <a:solidFill>
            <a:srgbClr val="F5F7FB"/>
          </a:solidFill>
          <a:ln w="12700">
            <a:solidFill>
              <a:srgbClr val="C7D2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646920" y="29260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 / Future Text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11384280" cy="0"/>
          </a:xfrm>
          <a:prstGeom prst="line">
            <a:avLst/>
          </a:prstGeom>
          <a:noFill/>
          <a:ln w="19050">
            <a:solidFill>
              <a:srgbClr val="2255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47472" y="905256"/>
            <a:ext cx="109728" cy="109728"/>
          </a:xfrm>
          <a:prstGeom prst="ellipse">
            <a:avLst/>
          </a:prstGeom>
          <a:solidFill>
            <a:srgbClr val="2255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6510528"/>
            <a:ext cx="11064240" cy="0"/>
          </a:xfrm>
          <a:prstGeom prst="line">
            <a:avLst/>
          </a:prstGeom>
          <a:noFill/>
          <a:ln w="19050">
            <a:solidFill>
              <a:srgbClr val="2255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1503152" y="6400800"/>
            <a:ext cx="256032" cy="256032"/>
          </a:xfrm>
          <a:prstGeom prst="ellipse">
            <a:avLst/>
          </a:prstGeom>
          <a:solidFill>
            <a:srgbClr val="2255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1503152" y="64008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234440"/>
            <a:ext cx="3246120" cy="169164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5875">
            <a:solidFill>
              <a:srgbClr val="2255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48640" y="1234440"/>
            <a:ext cx="3246120" cy="384048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123444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/ RSRP Map</a:t>
            </a:r>
            <a:endParaRPr lang="en-US" sz="1400" dirty="0"/>
          </a:p>
        </p:txBody>
      </p:sp>
      <p:pic>
        <p:nvPicPr>
          <p:cNvPr id="13" name="Image 0" descr="/home/claude/imgs/coverage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673352"/>
            <a:ext cx="3099816" cy="1197864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4114800" y="1234440"/>
            <a:ext cx="3246120" cy="169164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5875">
            <a:solidFill>
              <a:srgbClr val="2255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114800" y="1234440"/>
            <a:ext cx="3246120" cy="384048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114800" y="123444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 / RRC</a:t>
            </a:r>
            <a:endParaRPr lang="en-US" sz="1400" dirty="0"/>
          </a:p>
        </p:txBody>
      </p:sp>
      <p:graphicFrame>
        <p:nvGraphicFramePr>
          <p:cNvPr id="17" name="Chart 0"/>
          <p:cNvGraphicFramePr/>
          <p:nvPr/>
        </p:nvGraphicFramePr>
        <p:xfrm>
          <a:off x="4187952" y="1636776"/>
          <a:ext cx="3099816" cy="12618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8" name="Shape 14"/>
          <p:cNvSpPr/>
          <p:nvPr/>
        </p:nvSpPr>
        <p:spPr>
          <a:xfrm>
            <a:off x="7680960" y="1234440"/>
            <a:ext cx="3246120" cy="169164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5875">
            <a:solidFill>
              <a:srgbClr val="2255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7680960" y="1234440"/>
            <a:ext cx="3246120" cy="384048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7680960" y="123444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PRB Utilization</a:t>
            </a:r>
            <a:endParaRPr lang="en-US" sz="1400" dirty="0"/>
          </a:p>
        </p:txBody>
      </p:sp>
      <p:graphicFrame>
        <p:nvGraphicFramePr>
          <p:cNvPr id="21" name="Chart 1"/>
          <p:cNvGraphicFramePr/>
          <p:nvPr/>
        </p:nvGraphicFramePr>
        <p:xfrm>
          <a:off x="7754112" y="1636776"/>
          <a:ext cx="3099816" cy="12618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2" name="Shape 17"/>
          <p:cNvSpPr/>
          <p:nvPr/>
        </p:nvSpPr>
        <p:spPr>
          <a:xfrm>
            <a:off x="548640" y="3977640"/>
            <a:ext cx="3246120" cy="169164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5875">
            <a:solidFill>
              <a:srgbClr val="2255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548640" y="3977640"/>
            <a:ext cx="3246120" cy="384048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/>
          <p:nvPr/>
        </p:nvSpPr>
        <p:spPr>
          <a:xfrm>
            <a:off x="548640" y="397764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Population Density</a:t>
            </a:r>
            <a:endParaRPr lang="en-US" sz="1400" dirty="0"/>
          </a:p>
        </p:txBody>
      </p:sp>
      <p:pic>
        <p:nvPicPr>
          <p:cNvPr id="25" name="Image 1" descr="/home/claude/imgs/population_densit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" y="4416552"/>
            <a:ext cx="3099816" cy="1197864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7680960" y="3977640"/>
            <a:ext cx="3246120" cy="169164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5875">
            <a:solidFill>
              <a:srgbClr val="2255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1"/>
          <p:cNvSpPr/>
          <p:nvPr/>
        </p:nvSpPr>
        <p:spPr>
          <a:xfrm>
            <a:off x="7680960" y="3977640"/>
            <a:ext cx="3246120" cy="384048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2"/>
          <p:cNvSpPr/>
          <p:nvPr/>
        </p:nvSpPr>
        <p:spPr>
          <a:xfrm>
            <a:off x="7680960" y="397764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OSM Region Features</a:t>
            </a:r>
            <a:endParaRPr lang="en-US" sz="1400" dirty="0"/>
          </a:p>
        </p:txBody>
      </p:sp>
      <p:pic>
        <p:nvPicPr>
          <p:cNvPr id="29" name="Image 2" descr="/home/claude/imgs/osm_ma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54112" y="4416552"/>
            <a:ext cx="3099816" cy="1197864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4297680" y="3977640"/>
            <a:ext cx="2880360" cy="1691640"/>
          </a:xfrm>
          <a:prstGeom prst="roundRect">
            <a:avLst>
              <a:gd name="adj" fmla="val 4324"/>
            </a:avLst>
          </a:prstGeom>
          <a:solidFill>
            <a:srgbClr val="1B2A6B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4"/>
          <p:cNvSpPr/>
          <p:nvPr/>
        </p:nvSpPr>
        <p:spPr>
          <a:xfrm>
            <a:off x="5500116" y="4197096"/>
            <a:ext cx="402336" cy="402336"/>
          </a:xfrm>
          <a:prstGeom prst="ellipse">
            <a:avLst/>
          </a:prstGeom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5"/>
          <p:cNvSpPr/>
          <p:nvPr/>
        </p:nvSpPr>
        <p:spPr>
          <a:xfrm>
            <a:off x="5618988" y="4389120"/>
            <a:ext cx="64008" cy="1371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26"/>
          <p:cNvSpPr/>
          <p:nvPr/>
        </p:nvSpPr>
        <p:spPr>
          <a:xfrm>
            <a:off x="5705856" y="4315968"/>
            <a:ext cx="64008" cy="2103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27"/>
          <p:cNvSpPr/>
          <p:nvPr/>
        </p:nvSpPr>
        <p:spPr>
          <a:xfrm>
            <a:off x="5792724" y="4425696"/>
            <a:ext cx="64008" cy="1005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28"/>
          <p:cNvSpPr/>
          <p:nvPr/>
        </p:nvSpPr>
        <p:spPr>
          <a:xfrm>
            <a:off x="5875020" y="4572000"/>
            <a:ext cx="219456" cy="219456"/>
          </a:xfrm>
          <a:prstGeom prst="line">
            <a:avLst/>
          </a:prstGeom>
          <a:noFill/>
          <a:ln w="508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29"/>
          <p:cNvSpPr/>
          <p:nvPr/>
        </p:nvSpPr>
        <p:spPr>
          <a:xfrm>
            <a:off x="4297680" y="484632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Outage Impact</a:t>
            </a:r>
            <a:endParaRPr lang="en-US" sz="1900" dirty="0"/>
          </a:p>
          <a:p>
            <a:pPr marL="0" indent="0" algn="ctr">
              <a:lnSpc>
                <a:spcPts val="22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1900" dirty="0"/>
          </a:p>
        </p:txBody>
      </p:sp>
      <p:sp>
        <p:nvSpPr>
          <p:cNvPr id="37" name="Shape 30"/>
          <p:cNvSpPr/>
          <p:nvPr/>
        </p:nvSpPr>
        <p:spPr>
          <a:xfrm>
            <a:off x="3520440" y="2926080"/>
            <a:ext cx="914400" cy="105156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1"/>
          <p:cNvSpPr/>
          <p:nvPr/>
        </p:nvSpPr>
        <p:spPr>
          <a:xfrm>
            <a:off x="5737860" y="2926080"/>
            <a:ext cx="0" cy="105156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2"/>
          <p:cNvSpPr/>
          <p:nvPr/>
        </p:nvSpPr>
        <p:spPr>
          <a:xfrm flipH="1">
            <a:off x="7040880" y="2926080"/>
            <a:ext cx="914400" cy="105156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3"/>
          <p:cNvSpPr/>
          <p:nvPr/>
        </p:nvSpPr>
        <p:spPr>
          <a:xfrm>
            <a:off x="3794760" y="4823460"/>
            <a:ext cx="50292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4"/>
          <p:cNvSpPr/>
          <p:nvPr/>
        </p:nvSpPr>
        <p:spPr>
          <a:xfrm>
            <a:off x="7178040" y="4823460"/>
            <a:ext cx="50292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5"/>
          <p:cNvSpPr/>
          <p:nvPr/>
        </p:nvSpPr>
        <p:spPr>
          <a:xfrm>
            <a:off x="2103120" y="5806440"/>
            <a:ext cx="7955280" cy="566928"/>
          </a:xfrm>
          <a:prstGeom prst="roundRect">
            <a:avLst>
              <a:gd name="adj" fmla="val 16129"/>
            </a:avLst>
          </a:prstGeom>
          <a:solidFill>
            <a:srgbClr val="EAF0FB"/>
          </a:solidFill>
          <a:ln w="12700">
            <a:solidFill>
              <a:srgbClr val="D3E0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36"/>
          <p:cNvSpPr/>
          <p:nvPr/>
        </p:nvSpPr>
        <p:spPr>
          <a:xfrm>
            <a:off x="2331720" y="5897880"/>
            <a:ext cx="384048" cy="384048"/>
          </a:xfrm>
          <a:prstGeom prst="ellipse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37"/>
          <p:cNvSpPr/>
          <p:nvPr/>
        </p:nvSpPr>
        <p:spPr>
          <a:xfrm>
            <a:off x="2441448" y="5952744"/>
            <a:ext cx="164592" cy="164592"/>
          </a:xfrm>
          <a:prstGeom prst="ellipse">
            <a:avLst/>
          </a:prstGeom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38"/>
          <p:cNvSpPr/>
          <p:nvPr/>
        </p:nvSpPr>
        <p:spPr>
          <a:xfrm>
            <a:off x="2478024" y="6121908"/>
            <a:ext cx="9144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39"/>
          <p:cNvSpPr/>
          <p:nvPr/>
        </p:nvSpPr>
        <p:spPr>
          <a:xfrm>
            <a:off x="2487168" y="6163056"/>
            <a:ext cx="73152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0"/>
          <p:cNvSpPr/>
          <p:nvPr/>
        </p:nvSpPr>
        <p:spPr>
          <a:xfrm>
            <a:off x="2523744" y="5980176"/>
            <a:ext cx="0" cy="13716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1"/>
          <p:cNvSpPr/>
          <p:nvPr/>
        </p:nvSpPr>
        <p:spPr>
          <a:xfrm>
            <a:off x="2926080" y="580644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single data source is sufficient.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C0742A3-AF9B-A5F1-DCB1-EA90D723F8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400" y="444500"/>
            <a:ext cx="7772400" cy="4369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4157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data analysis&#10;&#10;AI-generated content may be incorrect.">
            <a:extLst>
              <a:ext uri="{FF2B5EF4-FFF2-40B4-BE49-F238E27FC236}">
                <a16:creationId xmlns:a16="http://schemas.microsoft.com/office/drawing/2014/main" id="{ABCC0227-89E8-F464-19B5-00E6AACE0D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400" y="444500"/>
            <a:ext cx="7772400" cy="4369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902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process&#10;&#10;AI-generated content may be incorrect.">
            <a:extLst>
              <a:ext uri="{FF2B5EF4-FFF2-40B4-BE49-F238E27FC236}">
                <a16:creationId xmlns:a16="http://schemas.microsoft.com/office/drawing/2014/main" id="{BE1C00CD-6939-7319-9057-40ACA11541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400" y="444500"/>
            <a:ext cx="7772400" cy="4369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0883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37</Words>
  <Application>Microsoft Macintosh PowerPoint</Application>
  <PresentationFormat>Widescreen</PresentationFormat>
  <Paragraphs>14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6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Zheng, Xinyue</cp:lastModifiedBy>
  <cp:revision>2</cp:revision>
  <dcterms:created xsi:type="dcterms:W3CDTF">2026-07-31T03:47:14Z</dcterms:created>
  <dcterms:modified xsi:type="dcterms:W3CDTF">2026-07-31T04:11:52Z</dcterms:modified>
</cp:coreProperties>
</file>