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
  </p:notesMasterIdLst>
  <p:sldIdLst>
    <p:sldId id="258" r:id="rId2"/>
    <p:sldId id="259" r:id="rId3"/>
    <p:sldId id="260" r:id="rId4"/>
    <p:sldId id="256" r:id="rId5"/>
    <p:sldId id="257" r:id="rId6"/>
    <p:sldId id="261" r:id="rId7"/>
  </p:sldIdLst>
  <p:sldSz cx="15240000" cy="85725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28"/>
  </p:normalViewPr>
  <p:slideViewPr>
    <p:cSldViewPr snapToGrid="0">
      <p:cViewPr varScale="1">
        <p:scale>
          <a:sx n="91" d="100"/>
          <a:sy n="91" d="100"/>
        </p:scale>
        <p:origin x="704"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 challenges for the proposed cellular outage analysis agent. The investigation policy must choose both the next goal and an action given partial evidence. Stopping criteria must distinguish sufficient evidence from exhaustion of the available budget. Offline failure diagnosis must locate the steps or decisions responsible for an unsuccessful trace. The verification agent and its criteria remain to be designed. It should check intermediate steps and the evidence behind their conclusions. These are design requirements, not claims that verification guarantees correctness.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Scope</a:t>
            </a:r>
          </a:p>
          <a:p>
            <a:r>
              <a:t>These are candidate design directions for discussion, not implemented mechanisms or demonstrated contributions. The agent performs spatial investigation before final backup and load calculations. Existing tool interfaces and calculation capabilities remain baseline infrastructure.</a:t>
            </a:r>
          </a:p>
          <a:p>
            <a:endParaRPr/>
          </a:p>
          <a:p>
            <a:r>
              <a:t>Adaptive action selection</a:t>
            </a:r>
          </a:p>
          <a:p>
            <a:r>
              <a:t>The LLM chooses the next action. Context organization and action interfaces are separate choices that can be compared while holding the model, tools, data and stopping policy fixed.</a:t>
            </a:r>
          </a:p>
          <a:p>
            <a:endParaRPr/>
          </a:p>
          <a:p>
            <a:r>
              <a:t>Investigation stopping</a:t>
            </a:r>
          </a:p>
          <a:p>
            <a:r>
              <a:t>Completion checks establish compliance with a declared investigation protocol. Independent sampling can find omissions within its scope, but it does not establish exhaustive coverage. Budget exhaustion and missing required evidence return an incomplete status.</a:t>
            </a:r>
          </a:p>
          <a:p>
            <a:endParaRPr/>
          </a:p>
          <a:p>
            <a:r>
              <a:t>Decision error detection</a:t>
            </a:r>
          </a:p>
          <a:p>
            <a:r>
              <a:t>Focus on valid tool calls followed by unsupported or incorrect investigation judgments. For example, roadside observations alone do not establish the absence of target-cell coverage throughout a residential area. Targeted verification may refute such a claim. A different next action or an expansion justified by new evidence is not automatically an error. Some judgments require expert feedback.</a:t>
            </a:r>
          </a:p>
          <a:p>
            <a:endParaRPr/>
          </a:p>
          <a:p>
            <a:r>
              <a:t>Correction and recovery</a:t>
            </a:r>
          </a:p>
          <a:p>
            <a:r>
              <a:t>Correct the affected state and repeat the required work. Retain observations that remain valid. A checkpoint enables recovery, but does not identify errors or determine the correct repair. Compare recovery methods using the same identified error and correct feedback.</a:t>
            </a:r>
          </a:p>
          <a:p>
            <a:endParaRPr/>
          </a:p>
          <a:p>
            <a:r>
              <a:t>Experience across cases</a:t>
            </a:r>
          </a:p>
          <a:p>
            <a:r>
              <a:t>Case retrieval and in-context learning reuse existing experience at inference time without updating model weights. An offline process can propose skill changes, evaluate them on validation cases, and accept or reject them. Keep final test cases separate from candidate selection. This remains a candidate extension until feedback and evaluation data are available.</a:t>
            </a:r>
          </a:p>
          <a:p>
            <a:endParaRPr/>
          </a:p>
          <a:p>
            <a:r>
              <a:t>Method references</a:t>
            </a:r>
          </a:p>
          <a:p>
            <a:r>
              <a:t>ReAct: https://arxiv.org/abs/2210.03629</a:t>
            </a:r>
          </a:p>
          <a:p>
            <a:r>
              <a:t>SWE-agent: https://arxiv.org/html/2405.15793v3</a:t>
            </a:r>
          </a:p>
          <a:p>
            <a:r>
              <a:t>LangGraph conditional routing: https://docs.langchain.com/oss/python/langgraph/graph-api</a:t>
            </a:r>
          </a:p>
          <a:p>
            <a:r>
              <a:t>LangGraph persistence: https://docs.langchain.com/oss/python/langgraph/persistence</a:t>
            </a:r>
          </a:p>
          <a:p>
            <a:r>
              <a:t>LangGraph interrupts: https://docs.langchain.com/oss/python/langgraph/interrupts</a:t>
            </a:r>
          </a:p>
          <a:p>
            <a:r>
              <a:t>LangGraph time travel: https://docs.langchain.com/oss/python/langgraph/use-time-travel</a:t>
            </a:r>
          </a:p>
          <a:p>
            <a:r>
              <a:t>Reflexion: https://arxiv.org/abs/2303.11366</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6306050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85800" y="420053"/>
            <a:ext cx="9144000" cy="342900"/>
          </a:xfrm>
          <a:prstGeom prst="rect">
            <a:avLst/>
          </a:prstGeom>
          <a:noFill/>
          <a:ln/>
        </p:spPr>
        <p:txBody>
          <a:bodyPr wrap="square" lIns="0" tIns="0" rIns="0" bIns="0" rtlCol="0" anchor="ctr"/>
          <a:lstStyle/>
          <a:p>
            <a:r>
              <a:rPr lang="en-US" sz="4375" b="1" kern="0" spc="375" dirty="0">
                <a:solidFill>
                  <a:srgbClr val="2E5EAA"/>
                </a:solidFill>
                <a:latin typeface="Calibri" pitchFamily="34" charset="0"/>
                <a:ea typeface="Calibri" pitchFamily="34" charset="-122"/>
                <a:cs typeface="Calibri" pitchFamily="34" charset="-120"/>
              </a:rPr>
              <a:t>PROBLEM STATEMENT</a:t>
            </a:r>
            <a:endParaRPr lang="en-US" sz="4375" dirty="0"/>
          </a:p>
        </p:txBody>
      </p:sp>
      <p:sp>
        <p:nvSpPr>
          <p:cNvPr id="3" name="Text 1"/>
          <p:cNvSpPr txBox="1"/>
          <p:nvPr/>
        </p:nvSpPr>
        <p:spPr>
          <a:xfrm>
            <a:off x="685800" y="1102995"/>
            <a:ext cx="13830300" cy="971550"/>
          </a:xfrm>
          <a:prstGeom prst="rect">
            <a:avLst/>
          </a:prstGeom>
          <a:noFill/>
          <a:ln/>
        </p:spPr>
        <p:txBody>
          <a:bodyPr wrap="square" lIns="0" tIns="0" rIns="0" bIns="0" rtlCol="0" anchor="t"/>
          <a:lstStyle/>
          <a:p>
            <a:r>
              <a:rPr lang="en-US" sz="2250" b="1" dirty="0">
                <a:solidFill>
                  <a:srgbClr val="1C2430"/>
                </a:solidFill>
                <a:latin typeface="Cambria" pitchFamily="34" charset="0"/>
                <a:ea typeface="Cambria" pitchFamily="34" charset="-122"/>
                <a:cs typeface="Cambria" pitchFamily="34" charset="-120"/>
              </a:rPr>
              <a:t>Assessing outage impact </a:t>
            </a:r>
            <a:r>
              <a:rPr lang="en-US" sz="2250" b="1" dirty="0" err="1">
                <a:solidFill>
                  <a:srgbClr val="1C2430"/>
                </a:solidFill>
                <a:latin typeface="Cambria" pitchFamily="34" charset="0"/>
                <a:ea typeface="Cambria" pitchFamily="34" charset="-122"/>
                <a:cs typeface="Cambria" pitchFamily="34" charset="-120"/>
              </a:rPr>
              <a:t>querys</a:t>
            </a:r>
            <a:r>
              <a:rPr lang="en-US" sz="2250" b="1" dirty="0">
                <a:solidFill>
                  <a:srgbClr val="1C2430"/>
                </a:solidFill>
                <a:latin typeface="Cambria" pitchFamily="34" charset="0"/>
                <a:ea typeface="Cambria" pitchFamily="34" charset="-122"/>
                <a:cs typeface="Cambria" pitchFamily="34" charset="-120"/>
              </a:rPr>
              <a:t> with an </a:t>
            </a:r>
            <a:r>
              <a:rPr lang="en-US" sz="2250" b="1" dirty="0">
                <a:solidFill>
                  <a:srgbClr val="2E5EAA"/>
                </a:solidFill>
                <a:latin typeface="Cambria" pitchFamily="34" charset="0"/>
                <a:ea typeface="Cambria" pitchFamily="34" charset="-122"/>
                <a:cs typeface="Cambria" pitchFamily="34" charset="-120"/>
              </a:rPr>
              <a:t>agentic system</a:t>
            </a:r>
            <a:endParaRPr lang="en-US" sz="2250" dirty="0"/>
          </a:p>
        </p:txBody>
      </p:sp>
      <p:sp>
        <p:nvSpPr>
          <p:cNvPr id="4" name="Shape 2"/>
          <p:cNvSpPr/>
          <p:nvPr/>
        </p:nvSpPr>
        <p:spPr>
          <a:xfrm>
            <a:off x="685800" y="1617345"/>
            <a:ext cx="3314700" cy="2000250"/>
          </a:xfrm>
          <a:prstGeom prst="roundRect">
            <a:avLst>
              <a:gd name="adj" fmla="val 5714"/>
            </a:avLst>
          </a:prstGeom>
          <a:solidFill>
            <a:srgbClr val="FFFFFF"/>
          </a:solidFill>
          <a:ln w="19050">
            <a:solidFill>
              <a:srgbClr val="C8452F"/>
            </a:solidFill>
            <a:prstDash val="dash"/>
          </a:ln>
        </p:spPr>
        <p:txBody>
          <a:bodyPr/>
          <a:lstStyle/>
          <a:p>
            <a:endParaRPr lang="en-US" sz="2250"/>
          </a:p>
        </p:txBody>
      </p:sp>
      <p:sp>
        <p:nvSpPr>
          <p:cNvPr id="5" name="Text 3"/>
          <p:cNvSpPr txBox="1"/>
          <p:nvPr/>
        </p:nvSpPr>
        <p:spPr>
          <a:xfrm>
            <a:off x="685800" y="1845945"/>
            <a:ext cx="3314700" cy="800100"/>
          </a:xfrm>
          <a:prstGeom prst="rect">
            <a:avLst/>
          </a:prstGeom>
          <a:noFill/>
          <a:ln/>
        </p:spPr>
        <p:txBody>
          <a:bodyPr wrap="square" lIns="0" tIns="0" rIns="0" bIns="0" rtlCol="0" anchor="ctr"/>
          <a:lstStyle/>
          <a:p>
            <a:pPr algn="ctr"/>
            <a:r>
              <a:rPr lang="en-US" sz="2000" b="1" dirty="0">
                <a:solidFill>
                  <a:srgbClr val="C8452F"/>
                </a:solidFill>
                <a:latin typeface="Cambria" pitchFamily="34" charset="0"/>
                <a:ea typeface="Cambria" pitchFamily="34" charset="-122"/>
                <a:cs typeface="Cambria" pitchFamily="34" charset="-120"/>
              </a:rPr>
              <a:t>What if these cells</a:t>
            </a:r>
            <a:endParaRPr lang="en-US" sz="2000" dirty="0"/>
          </a:p>
          <a:p>
            <a:pPr algn="ctr"/>
            <a:r>
              <a:rPr lang="en-US" sz="2000" b="1" dirty="0">
                <a:solidFill>
                  <a:srgbClr val="C8452F"/>
                </a:solidFill>
                <a:latin typeface="Cambria" pitchFamily="34" charset="0"/>
                <a:ea typeface="Cambria" pitchFamily="34" charset="-122"/>
                <a:cs typeface="Cambria" pitchFamily="34" charset="-120"/>
              </a:rPr>
              <a:t>go offline?</a:t>
            </a:r>
            <a:endParaRPr lang="en-US" sz="2000" dirty="0"/>
          </a:p>
        </p:txBody>
      </p:sp>
      <p:sp>
        <p:nvSpPr>
          <p:cNvPr id="6" name="Text 4"/>
          <p:cNvSpPr txBox="1"/>
          <p:nvPr/>
        </p:nvSpPr>
        <p:spPr>
          <a:xfrm>
            <a:off x="685800" y="2931795"/>
            <a:ext cx="3314700" cy="457200"/>
          </a:xfrm>
          <a:prstGeom prst="rect">
            <a:avLst/>
          </a:prstGeom>
          <a:noFill/>
          <a:ln/>
        </p:spPr>
        <p:txBody>
          <a:bodyPr wrap="square" lIns="0" tIns="0" rIns="0" bIns="0" rtlCol="0" anchor="ctr"/>
          <a:lstStyle/>
          <a:p>
            <a:pPr algn="ctr"/>
            <a:r>
              <a:rPr lang="en-US" sz="1500" dirty="0">
                <a:solidFill>
                  <a:srgbClr val="8A93A2"/>
                </a:solidFill>
                <a:latin typeface="Calibri" pitchFamily="34" charset="0"/>
                <a:ea typeface="Calibri" pitchFamily="34" charset="-122"/>
                <a:cs typeface="Calibri" pitchFamily="34" charset="-120"/>
              </a:rPr>
              <a:t>carrier  ·  sector  ·  site</a:t>
            </a:r>
            <a:endParaRPr lang="en-US" sz="1500" dirty="0"/>
          </a:p>
        </p:txBody>
      </p:sp>
      <p:sp>
        <p:nvSpPr>
          <p:cNvPr id="7" name="Shape 5"/>
          <p:cNvSpPr/>
          <p:nvPr/>
        </p:nvSpPr>
        <p:spPr>
          <a:xfrm>
            <a:off x="4629150" y="2017395"/>
            <a:ext cx="2857500" cy="1200150"/>
          </a:xfrm>
          <a:prstGeom prst="roundRect">
            <a:avLst>
              <a:gd name="adj" fmla="val 9524"/>
            </a:avLst>
          </a:prstGeom>
          <a:solidFill>
            <a:srgbClr val="13294B"/>
          </a:solidFill>
          <a:ln/>
        </p:spPr>
        <p:txBody>
          <a:bodyPr/>
          <a:lstStyle/>
          <a:p>
            <a:endParaRPr lang="en-US" sz="2250"/>
          </a:p>
        </p:txBody>
      </p:sp>
      <p:sp>
        <p:nvSpPr>
          <p:cNvPr id="8" name="Text 6"/>
          <p:cNvSpPr txBox="1"/>
          <p:nvPr/>
        </p:nvSpPr>
        <p:spPr>
          <a:xfrm>
            <a:off x="4629150" y="2074545"/>
            <a:ext cx="2857500" cy="708660"/>
          </a:xfrm>
          <a:prstGeom prst="rect">
            <a:avLst/>
          </a:prstGeom>
          <a:noFill/>
          <a:ln/>
        </p:spPr>
        <p:txBody>
          <a:bodyPr wrap="square" lIns="0" tIns="0" rIns="0" bIns="0" rtlCol="0" anchor="ctr"/>
          <a:lstStyle/>
          <a:p>
            <a:pPr algn="ctr"/>
            <a:r>
              <a:rPr lang="en-US" sz="1875" b="1" dirty="0">
                <a:solidFill>
                  <a:srgbClr val="FFFFFF"/>
                </a:solidFill>
                <a:latin typeface="Cambria" pitchFamily="34" charset="0"/>
                <a:ea typeface="Cambria" pitchFamily="34" charset="-122"/>
                <a:cs typeface="Cambria" pitchFamily="34" charset="-120"/>
              </a:rPr>
              <a:t>agentic</a:t>
            </a:r>
            <a:endParaRPr lang="en-US" sz="1875" dirty="0"/>
          </a:p>
          <a:p>
            <a:pPr algn="ctr"/>
            <a:r>
              <a:rPr lang="en-US" sz="1875" b="1" dirty="0">
                <a:solidFill>
                  <a:srgbClr val="FFFFFF"/>
                </a:solidFill>
                <a:latin typeface="Cambria" pitchFamily="34" charset="0"/>
                <a:ea typeface="Cambria" pitchFamily="34" charset="-122"/>
                <a:cs typeface="Cambria" pitchFamily="34" charset="-120"/>
              </a:rPr>
              <a:t>system</a:t>
            </a:r>
            <a:endParaRPr lang="en-US" sz="1875" dirty="0"/>
          </a:p>
        </p:txBody>
      </p:sp>
      <p:sp>
        <p:nvSpPr>
          <p:cNvPr id="9" name="Text 7"/>
          <p:cNvSpPr txBox="1"/>
          <p:nvPr/>
        </p:nvSpPr>
        <p:spPr>
          <a:xfrm>
            <a:off x="5008096" y="2783205"/>
            <a:ext cx="2099608" cy="365760"/>
          </a:xfrm>
          <a:prstGeom prst="rect">
            <a:avLst/>
          </a:prstGeom>
          <a:noFill/>
          <a:ln/>
        </p:spPr>
        <p:txBody>
          <a:bodyPr wrap="square" lIns="0" tIns="0" rIns="0" bIns="0" rtlCol="0" anchor="ctr"/>
          <a:lstStyle/>
          <a:p>
            <a:pPr algn="ctr"/>
            <a:r>
              <a:rPr lang="en-US" sz="1313" dirty="0">
                <a:solidFill>
                  <a:schemeClr val="bg1"/>
                </a:solidFill>
              </a:rPr>
              <a:t>LLM, Tool boxes, Skill libraries, Dataset</a:t>
            </a:r>
          </a:p>
        </p:txBody>
      </p:sp>
      <p:sp>
        <p:nvSpPr>
          <p:cNvPr id="10" name="Shape 8"/>
          <p:cNvSpPr/>
          <p:nvPr/>
        </p:nvSpPr>
        <p:spPr>
          <a:xfrm>
            <a:off x="4057650" y="2617470"/>
            <a:ext cx="514350" cy="0"/>
          </a:xfrm>
          <a:prstGeom prst="line">
            <a:avLst/>
          </a:prstGeom>
          <a:noFill/>
          <a:ln w="22225">
            <a:solidFill>
              <a:srgbClr val="13294B"/>
            </a:solidFill>
            <a:prstDash val="solid"/>
            <a:tailEnd type="triangle"/>
          </a:ln>
        </p:spPr>
        <p:txBody>
          <a:bodyPr/>
          <a:lstStyle/>
          <a:p>
            <a:endParaRPr lang="en-US" sz="2250"/>
          </a:p>
        </p:txBody>
      </p:sp>
      <p:sp>
        <p:nvSpPr>
          <p:cNvPr id="11" name="Shape 9"/>
          <p:cNvSpPr/>
          <p:nvPr/>
        </p:nvSpPr>
        <p:spPr>
          <a:xfrm>
            <a:off x="8401050" y="1617345"/>
            <a:ext cx="6115050" cy="571500"/>
          </a:xfrm>
          <a:prstGeom prst="roundRect">
            <a:avLst>
              <a:gd name="adj" fmla="val 12000"/>
            </a:avLst>
          </a:prstGeom>
          <a:solidFill>
            <a:srgbClr val="E8EFF9"/>
          </a:solidFill>
          <a:ln/>
        </p:spPr>
        <p:txBody>
          <a:bodyPr/>
          <a:lstStyle/>
          <a:p>
            <a:endParaRPr lang="en-US" sz="2250"/>
          </a:p>
        </p:txBody>
      </p:sp>
      <p:sp>
        <p:nvSpPr>
          <p:cNvPr id="12" name="Text 10"/>
          <p:cNvSpPr txBox="1"/>
          <p:nvPr/>
        </p:nvSpPr>
        <p:spPr>
          <a:xfrm>
            <a:off x="8606790" y="1617345"/>
            <a:ext cx="5772150" cy="571500"/>
          </a:xfrm>
          <a:prstGeom prst="rect">
            <a:avLst/>
          </a:prstGeom>
          <a:noFill/>
          <a:ln/>
        </p:spPr>
        <p:txBody>
          <a:bodyPr wrap="square" lIns="0" tIns="0" rIns="0" bIns="0" rtlCol="0" anchor="ctr"/>
          <a:lstStyle/>
          <a:p>
            <a:r>
              <a:rPr lang="en-US" sz="1500" b="1" dirty="0">
                <a:solidFill>
                  <a:srgbClr val="1C2430"/>
                </a:solidFill>
                <a:latin typeface="Calibri" pitchFamily="34" charset="0"/>
                <a:ea typeface="Calibri" pitchFamily="34" charset="-122"/>
                <a:cs typeface="Calibri" pitchFamily="34" charset="-120"/>
              </a:rPr>
              <a:t>Traffic redistribution  </a:t>
            </a:r>
            <a:r>
              <a:rPr lang="en-US" sz="1313" dirty="0">
                <a:solidFill>
                  <a:srgbClr val="8A93A2"/>
                </a:solidFill>
                <a:latin typeface="Calibri" pitchFamily="34" charset="0"/>
                <a:ea typeface="Calibri" pitchFamily="34" charset="-122"/>
                <a:cs typeface="Calibri" pitchFamily="34" charset="-120"/>
              </a:rPr>
              <a:t>which backup cells</a:t>
            </a:r>
            <a:endParaRPr lang="en-US" sz="1500" dirty="0"/>
          </a:p>
        </p:txBody>
      </p:sp>
      <p:sp>
        <p:nvSpPr>
          <p:cNvPr id="13" name="Shape 11"/>
          <p:cNvSpPr/>
          <p:nvPr/>
        </p:nvSpPr>
        <p:spPr>
          <a:xfrm>
            <a:off x="8401050" y="2337435"/>
            <a:ext cx="6115050" cy="571500"/>
          </a:xfrm>
          <a:prstGeom prst="roundRect">
            <a:avLst>
              <a:gd name="adj" fmla="val 12000"/>
            </a:avLst>
          </a:prstGeom>
          <a:solidFill>
            <a:srgbClr val="E8EFF9"/>
          </a:solidFill>
          <a:ln/>
        </p:spPr>
        <p:txBody>
          <a:bodyPr/>
          <a:lstStyle/>
          <a:p>
            <a:endParaRPr lang="en-US" sz="2250"/>
          </a:p>
        </p:txBody>
      </p:sp>
      <p:sp>
        <p:nvSpPr>
          <p:cNvPr id="14" name="Text 12"/>
          <p:cNvSpPr txBox="1"/>
          <p:nvPr/>
        </p:nvSpPr>
        <p:spPr>
          <a:xfrm>
            <a:off x="8606790" y="2337435"/>
            <a:ext cx="5772150" cy="571500"/>
          </a:xfrm>
          <a:prstGeom prst="rect">
            <a:avLst/>
          </a:prstGeom>
          <a:noFill/>
          <a:ln/>
        </p:spPr>
        <p:txBody>
          <a:bodyPr wrap="square" lIns="0" tIns="0" rIns="0" bIns="0" rtlCol="0" anchor="ctr"/>
          <a:lstStyle/>
          <a:p>
            <a:r>
              <a:rPr lang="en-US" sz="1500" b="1" dirty="0">
                <a:solidFill>
                  <a:srgbClr val="1C2430"/>
                </a:solidFill>
                <a:latin typeface="Calibri" pitchFamily="34" charset="0"/>
                <a:ea typeface="Calibri" pitchFamily="34" charset="-122"/>
                <a:cs typeface="Calibri" pitchFamily="34" charset="-120"/>
              </a:rPr>
              <a:t>Impact map  </a:t>
            </a:r>
            <a:r>
              <a:rPr lang="en-US" sz="1313" dirty="0">
                <a:solidFill>
                  <a:srgbClr val="8A93A2"/>
                </a:solidFill>
                <a:latin typeface="Calibri" pitchFamily="34" charset="0"/>
                <a:ea typeface="Calibri" pitchFamily="34" charset="-122"/>
                <a:cs typeface="Calibri" pitchFamily="34" charset="-120"/>
              </a:rPr>
              <a:t>loss · degraded · ok</a:t>
            </a:r>
            <a:endParaRPr lang="en-US" sz="1500" dirty="0"/>
          </a:p>
        </p:txBody>
      </p:sp>
      <p:sp>
        <p:nvSpPr>
          <p:cNvPr id="15" name="Shape 13"/>
          <p:cNvSpPr/>
          <p:nvPr/>
        </p:nvSpPr>
        <p:spPr>
          <a:xfrm>
            <a:off x="8401050" y="3057525"/>
            <a:ext cx="6115050" cy="571500"/>
          </a:xfrm>
          <a:prstGeom prst="roundRect">
            <a:avLst>
              <a:gd name="adj" fmla="val 12000"/>
            </a:avLst>
          </a:prstGeom>
          <a:solidFill>
            <a:srgbClr val="E8EFF9"/>
          </a:solidFill>
          <a:ln/>
        </p:spPr>
        <p:txBody>
          <a:bodyPr/>
          <a:lstStyle/>
          <a:p>
            <a:endParaRPr lang="en-US" sz="2250"/>
          </a:p>
        </p:txBody>
      </p:sp>
      <p:sp>
        <p:nvSpPr>
          <p:cNvPr id="16" name="Text 14"/>
          <p:cNvSpPr txBox="1"/>
          <p:nvPr/>
        </p:nvSpPr>
        <p:spPr>
          <a:xfrm>
            <a:off x="8606790" y="3057525"/>
            <a:ext cx="5772150" cy="571500"/>
          </a:xfrm>
          <a:prstGeom prst="rect">
            <a:avLst/>
          </a:prstGeom>
          <a:noFill/>
          <a:ln/>
        </p:spPr>
        <p:txBody>
          <a:bodyPr wrap="square" lIns="0" tIns="0" rIns="0" bIns="0" rtlCol="0" anchor="ctr"/>
          <a:lstStyle/>
          <a:p>
            <a:r>
              <a:rPr lang="en-US" sz="1500" b="1" dirty="0">
                <a:solidFill>
                  <a:srgbClr val="1C2430"/>
                </a:solidFill>
                <a:latin typeface="Calibri" pitchFamily="34" charset="0"/>
                <a:ea typeface="Calibri" pitchFamily="34" charset="-122"/>
                <a:cs typeface="Calibri" pitchFamily="34" charset="-120"/>
              </a:rPr>
              <a:t>Affected region types  </a:t>
            </a:r>
            <a:r>
              <a:rPr lang="en-US" sz="1313" dirty="0">
                <a:solidFill>
                  <a:srgbClr val="8A93A2"/>
                </a:solidFill>
                <a:latin typeface="Calibri" pitchFamily="34" charset="0"/>
                <a:ea typeface="Calibri" pitchFamily="34" charset="-122"/>
                <a:cs typeface="Calibri" pitchFamily="34" charset="-120"/>
              </a:rPr>
              <a:t>residential · highway</a:t>
            </a:r>
            <a:r>
              <a:rPr lang="en-US" sz="1500" dirty="0">
                <a:solidFill>
                  <a:srgbClr val="8A93A2"/>
                </a:solidFill>
                <a:latin typeface="Calibri" pitchFamily="34" charset="0"/>
                <a:ea typeface="Calibri" pitchFamily="34" charset="-122"/>
                <a:cs typeface="Calibri" pitchFamily="34" charset="-120"/>
              </a:rPr>
              <a:t> · commercial</a:t>
            </a:r>
            <a:endParaRPr lang="en-US" sz="1500" dirty="0"/>
          </a:p>
        </p:txBody>
      </p:sp>
      <p:sp>
        <p:nvSpPr>
          <p:cNvPr id="17" name="Shape 15"/>
          <p:cNvSpPr/>
          <p:nvPr/>
        </p:nvSpPr>
        <p:spPr>
          <a:xfrm>
            <a:off x="7486650" y="2617470"/>
            <a:ext cx="857250" cy="0"/>
          </a:xfrm>
          <a:prstGeom prst="line">
            <a:avLst/>
          </a:prstGeom>
          <a:noFill/>
          <a:ln w="22225">
            <a:solidFill>
              <a:srgbClr val="13294B"/>
            </a:solidFill>
            <a:prstDash val="solid"/>
            <a:tailEnd type="triangle"/>
          </a:ln>
        </p:spPr>
        <p:txBody>
          <a:bodyPr/>
          <a:lstStyle/>
          <a:p>
            <a:endParaRPr lang="en-US" sz="2250"/>
          </a:p>
        </p:txBody>
      </p:sp>
      <p:sp>
        <p:nvSpPr>
          <p:cNvPr id="41" name="TextBox 40">
            <a:extLst>
              <a:ext uri="{FF2B5EF4-FFF2-40B4-BE49-F238E27FC236}">
                <a16:creationId xmlns:a16="http://schemas.microsoft.com/office/drawing/2014/main" id="{A3EBBCA2-EA2D-B89A-2EF8-3024F61E889A}"/>
              </a:ext>
            </a:extLst>
          </p:cNvPr>
          <p:cNvSpPr txBox="1"/>
          <p:nvPr/>
        </p:nvSpPr>
        <p:spPr>
          <a:xfrm>
            <a:off x="685800" y="4162663"/>
            <a:ext cx="10216662" cy="992579"/>
          </a:xfrm>
          <a:prstGeom prst="rect">
            <a:avLst/>
          </a:prstGeom>
          <a:noFill/>
        </p:spPr>
        <p:txBody>
          <a:bodyPr wrap="square">
            <a:spAutoFit/>
          </a:bodyPr>
          <a:lstStyle/>
          <a:p>
            <a:r>
              <a:rPr lang="en-US" sz="2250" b="1" dirty="0">
                <a:solidFill>
                  <a:srgbClr val="1C2430"/>
                </a:solidFill>
                <a:latin typeface="Cambria" pitchFamily="34" charset="0"/>
                <a:ea typeface="Cambria" pitchFamily="34" charset="-122"/>
                <a:cs typeface="Cambria" pitchFamily="34" charset="-120"/>
              </a:rPr>
              <a:t>Outage assessment enables </a:t>
            </a:r>
            <a:r>
              <a:rPr lang="en-US" sz="2250" b="1" dirty="0">
                <a:solidFill>
                  <a:srgbClr val="2E5EAA"/>
                </a:solidFill>
                <a:latin typeface="Cambria" pitchFamily="34" charset="0"/>
              </a:rPr>
              <a:t>planned shutdown </a:t>
            </a:r>
            <a:r>
              <a:rPr lang="en-US" sz="2250" b="1" dirty="0">
                <a:solidFill>
                  <a:srgbClr val="1C2430"/>
                </a:solidFill>
                <a:latin typeface="Cambria" pitchFamily="34" charset="0"/>
                <a:ea typeface="Cambria" pitchFamily="34" charset="-122"/>
                <a:cs typeface="Cambria" pitchFamily="34" charset="-120"/>
              </a:rPr>
              <a:t>and </a:t>
            </a:r>
            <a:r>
              <a:rPr lang="en-US" sz="2250" b="1" dirty="0">
                <a:solidFill>
                  <a:srgbClr val="2E5EAA"/>
                </a:solidFill>
                <a:latin typeface="Cambria" pitchFamily="34" charset="0"/>
              </a:rPr>
              <a:t>resilience analysis</a:t>
            </a:r>
          </a:p>
          <a:p>
            <a:endParaRPr lang="en-US" b="1" dirty="0">
              <a:solidFill>
                <a:srgbClr val="1C2430"/>
              </a:solidFill>
              <a:latin typeface="Cambria" pitchFamily="34" charset="0"/>
            </a:endParaRPr>
          </a:p>
          <a:p>
            <a:endParaRPr lang="en-US" sz="1800" dirty="0"/>
          </a:p>
        </p:txBody>
      </p:sp>
      <p:sp>
        <p:nvSpPr>
          <p:cNvPr id="42" name="TextBox 41">
            <a:extLst>
              <a:ext uri="{FF2B5EF4-FFF2-40B4-BE49-F238E27FC236}">
                <a16:creationId xmlns:a16="http://schemas.microsoft.com/office/drawing/2014/main" id="{168F2715-4881-26EE-E5D2-6C6845742B13}"/>
              </a:ext>
            </a:extLst>
          </p:cNvPr>
          <p:cNvSpPr txBox="1"/>
          <p:nvPr/>
        </p:nvSpPr>
        <p:spPr>
          <a:xfrm>
            <a:off x="685800" y="4909625"/>
            <a:ext cx="13693140" cy="923330"/>
          </a:xfrm>
          <a:prstGeom prst="rect">
            <a:avLst/>
          </a:prstGeom>
          <a:noFill/>
        </p:spPr>
        <p:txBody>
          <a:bodyPr wrap="square" rtlCol="0">
            <a:spAutoFit/>
          </a:bodyPr>
          <a:lstStyle/>
          <a:p>
            <a:r>
              <a:rPr lang="en-US" dirty="0"/>
              <a:t>Planned shutdown -&gt; minimize impact, notify customers ahead</a:t>
            </a:r>
          </a:p>
          <a:p>
            <a:endParaRPr lang="en-US" dirty="0"/>
          </a:p>
          <a:p>
            <a:r>
              <a:rPr lang="en-US" dirty="0"/>
              <a:t>What-if assumption for every site -&gt; locate vulnerable parts of the network</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85800" y="514350"/>
            <a:ext cx="9144000" cy="342900"/>
          </a:xfrm>
          <a:prstGeom prst="rect">
            <a:avLst/>
          </a:prstGeom>
          <a:noFill/>
          <a:ln/>
        </p:spPr>
        <p:txBody>
          <a:bodyPr wrap="square" lIns="0" tIns="0" rIns="0" bIns="0" rtlCol="0" anchor="ctr"/>
          <a:lstStyle/>
          <a:p>
            <a:r>
              <a:rPr lang="en-US" sz="4375" b="1" kern="0" spc="375" dirty="0">
                <a:solidFill>
                  <a:srgbClr val="2E5EAA"/>
                </a:solidFill>
                <a:latin typeface="Calibri" pitchFamily="34" charset="0"/>
                <a:ea typeface="Calibri" pitchFamily="34" charset="-122"/>
                <a:cs typeface="Calibri" pitchFamily="34" charset="-120"/>
              </a:rPr>
              <a:t>Challenges For Outage Analysis </a:t>
            </a:r>
            <a:endParaRPr lang="en-US" sz="4375" dirty="0"/>
          </a:p>
        </p:txBody>
      </p:sp>
      <p:sp>
        <p:nvSpPr>
          <p:cNvPr id="3" name="Text 1"/>
          <p:cNvSpPr txBox="1"/>
          <p:nvPr/>
        </p:nvSpPr>
        <p:spPr>
          <a:xfrm>
            <a:off x="685800" y="1139453"/>
            <a:ext cx="13830300" cy="800100"/>
          </a:xfrm>
          <a:prstGeom prst="rect">
            <a:avLst/>
          </a:prstGeom>
          <a:noFill/>
          <a:ln/>
        </p:spPr>
        <p:txBody>
          <a:bodyPr wrap="square" lIns="0" tIns="0" rIns="0" bIns="0" rtlCol="0" anchor="t"/>
          <a:lstStyle/>
          <a:p>
            <a:r>
              <a:rPr lang="en-US" sz="2250" b="1" dirty="0">
                <a:solidFill>
                  <a:srgbClr val="1C2430"/>
                </a:solidFill>
                <a:latin typeface="Cambria" pitchFamily="34" charset="0"/>
                <a:ea typeface="Cambria" pitchFamily="34" charset="-122"/>
                <a:cs typeface="Cambria" pitchFamily="34" charset="-120"/>
              </a:rPr>
              <a:t>The task itself is </a:t>
            </a:r>
            <a:r>
              <a:rPr lang="en-US" sz="2250" b="1" dirty="0">
                <a:solidFill>
                  <a:srgbClr val="E8A13A"/>
                </a:solidFill>
                <a:latin typeface="Cambria" pitchFamily="34" charset="0"/>
                <a:ea typeface="Cambria" pitchFamily="34" charset="-122"/>
                <a:cs typeface="Cambria" pitchFamily="34" charset="-120"/>
              </a:rPr>
              <a:t>multi-source</a:t>
            </a:r>
            <a:r>
              <a:rPr lang="zh-CN" altLang="en-US" sz="2250" b="1" dirty="0">
                <a:solidFill>
                  <a:srgbClr val="E8A13A"/>
                </a:solidFill>
                <a:latin typeface="Cambria" pitchFamily="34" charset="0"/>
                <a:ea typeface="Cambria" pitchFamily="34" charset="-122"/>
                <a:cs typeface="Cambria" pitchFamily="34" charset="-120"/>
              </a:rPr>
              <a:t> </a:t>
            </a:r>
            <a:r>
              <a:rPr lang="en-US" altLang="zh-CN" sz="2250" b="1" dirty="0">
                <a:latin typeface="Cambria" pitchFamily="34" charset="0"/>
                <a:ea typeface="Cambria" pitchFamily="34" charset="-122"/>
                <a:cs typeface="Cambria" pitchFamily="34" charset="-120"/>
              </a:rPr>
              <a:t>with</a:t>
            </a:r>
            <a:r>
              <a:rPr lang="zh-CN" altLang="en-US" sz="2250" b="1" dirty="0">
                <a:solidFill>
                  <a:srgbClr val="E8A13A"/>
                </a:solidFill>
                <a:latin typeface="Cambria" pitchFamily="34" charset="0"/>
                <a:ea typeface="Cambria" pitchFamily="34" charset="-122"/>
                <a:cs typeface="Cambria" pitchFamily="34" charset="-120"/>
              </a:rPr>
              <a:t> </a:t>
            </a:r>
            <a:r>
              <a:rPr lang="en-US" altLang="zh-CN" sz="2250" b="1" dirty="0">
                <a:solidFill>
                  <a:srgbClr val="E8A13A"/>
                </a:solidFill>
                <a:latin typeface="Cambria" pitchFamily="34" charset="0"/>
                <a:ea typeface="Cambria" pitchFamily="34" charset="-122"/>
                <a:cs typeface="Cambria" pitchFamily="34" charset="-120"/>
              </a:rPr>
              <a:t>an unbounded investigation space.</a:t>
            </a:r>
            <a:endParaRPr lang="en-US" sz="2250" dirty="0"/>
          </a:p>
        </p:txBody>
      </p:sp>
      <p:sp>
        <p:nvSpPr>
          <p:cNvPr id="4" name="Text 2"/>
          <p:cNvSpPr txBox="1"/>
          <p:nvPr/>
        </p:nvSpPr>
        <p:spPr>
          <a:xfrm>
            <a:off x="685800" y="1539503"/>
            <a:ext cx="6858000" cy="400050"/>
          </a:xfrm>
          <a:prstGeom prst="rect">
            <a:avLst/>
          </a:prstGeom>
          <a:noFill/>
          <a:ln/>
        </p:spPr>
        <p:txBody>
          <a:bodyPr wrap="square" lIns="0" tIns="0" rIns="0" bIns="0" rtlCol="0" anchor="ctr"/>
          <a:lstStyle/>
          <a:p>
            <a:r>
              <a:rPr lang="en-US" sz="2000" b="1" dirty="0">
                <a:solidFill>
                  <a:srgbClr val="1C2430"/>
                </a:solidFill>
                <a:latin typeface="Calibri" pitchFamily="34" charset="0"/>
                <a:ea typeface="Calibri" pitchFamily="34" charset="-122"/>
                <a:cs typeface="Calibri" pitchFamily="34" charset="-120"/>
              </a:rPr>
              <a:t>No single source suffices</a:t>
            </a:r>
            <a:endParaRPr lang="en-US" sz="2000" dirty="0"/>
          </a:p>
        </p:txBody>
      </p:sp>
      <p:sp>
        <p:nvSpPr>
          <p:cNvPr id="5" name="Text 3"/>
          <p:cNvSpPr txBox="1"/>
          <p:nvPr/>
        </p:nvSpPr>
        <p:spPr>
          <a:xfrm>
            <a:off x="685800" y="1962413"/>
            <a:ext cx="6743700" cy="400050"/>
          </a:xfrm>
          <a:prstGeom prst="rect">
            <a:avLst/>
          </a:prstGeom>
          <a:noFill/>
          <a:ln/>
        </p:spPr>
        <p:txBody>
          <a:bodyPr wrap="square" lIns="0" tIns="0" rIns="0" bIns="0" rtlCol="0" anchor="ctr"/>
          <a:lstStyle/>
          <a:p>
            <a:r>
              <a:rPr lang="en-US" sz="1563" dirty="0">
                <a:solidFill>
                  <a:srgbClr val="8A93A2"/>
                </a:solidFill>
                <a:latin typeface="Calibri" pitchFamily="34" charset="0"/>
                <a:ea typeface="Calibri" pitchFamily="34" charset="-122"/>
                <a:cs typeface="Calibri" pitchFamily="34" charset="-120"/>
              </a:rPr>
              <a:t>coverage, KPIs, and geography must be examined jointly</a:t>
            </a:r>
            <a:endParaRPr lang="en-US" sz="1563" dirty="0"/>
          </a:p>
        </p:txBody>
      </p:sp>
      <p:sp>
        <p:nvSpPr>
          <p:cNvPr id="6" name="Shape 4"/>
          <p:cNvSpPr/>
          <p:nvPr/>
        </p:nvSpPr>
        <p:spPr>
          <a:xfrm>
            <a:off x="685800" y="2568203"/>
            <a:ext cx="3257550" cy="822960"/>
          </a:xfrm>
          <a:prstGeom prst="roundRect">
            <a:avLst>
              <a:gd name="adj" fmla="val 11111"/>
            </a:avLst>
          </a:prstGeom>
          <a:solidFill>
            <a:srgbClr val="E8EFF9"/>
          </a:solidFill>
          <a:ln w="9525">
            <a:solidFill>
              <a:srgbClr val="5B8FD1"/>
            </a:solidFill>
            <a:prstDash val="solid"/>
          </a:ln>
        </p:spPr>
        <p:txBody>
          <a:bodyPr/>
          <a:lstStyle/>
          <a:p>
            <a:endParaRPr lang="en-US" sz="2250"/>
          </a:p>
        </p:txBody>
      </p:sp>
      <p:sp>
        <p:nvSpPr>
          <p:cNvPr id="7" name="Text 5"/>
          <p:cNvSpPr txBox="1"/>
          <p:nvPr/>
        </p:nvSpPr>
        <p:spPr>
          <a:xfrm>
            <a:off x="685800" y="2568203"/>
            <a:ext cx="3257550" cy="822960"/>
          </a:xfrm>
          <a:prstGeom prst="rect">
            <a:avLst/>
          </a:prstGeom>
          <a:noFill/>
          <a:ln/>
        </p:spPr>
        <p:txBody>
          <a:bodyPr wrap="square" lIns="0" tIns="0" rIns="0" bIns="0" rtlCol="0" anchor="ctr"/>
          <a:lstStyle/>
          <a:p>
            <a:pPr algn="ctr"/>
            <a:r>
              <a:rPr lang="en-US" sz="1750" b="1" dirty="0">
                <a:solidFill>
                  <a:srgbClr val="13294B"/>
                </a:solidFill>
                <a:latin typeface="Calibri" pitchFamily="34" charset="0"/>
                <a:ea typeface="Calibri" pitchFamily="34" charset="-122"/>
                <a:cs typeface="Calibri" pitchFamily="34" charset="-120"/>
              </a:rPr>
              <a:t>Coverage</a:t>
            </a:r>
            <a:endParaRPr lang="en-US" sz="1750" dirty="0"/>
          </a:p>
        </p:txBody>
      </p:sp>
      <p:sp>
        <p:nvSpPr>
          <p:cNvPr id="8" name="Shape 6"/>
          <p:cNvSpPr/>
          <p:nvPr/>
        </p:nvSpPr>
        <p:spPr>
          <a:xfrm>
            <a:off x="4171950" y="2568203"/>
            <a:ext cx="3257550" cy="822960"/>
          </a:xfrm>
          <a:prstGeom prst="roundRect">
            <a:avLst>
              <a:gd name="adj" fmla="val 11111"/>
            </a:avLst>
          </a:prstGeom>
          <a:solidFill>
            <a:srgbClr val="E8EFF9"/>
          </a:solidFill>
          <a:ln w="9525">
            <a:solidFill>
              <a:srgbClr val="5B8FD1"/>
            </a:solidFill>
            <a:prstDash val="solid"/>
          </a:ln>
        </p:spPr>
        <p:txBody>
          <a:bodyPr/>
          <a:lstStyle/>
          <a:p>
            <a:endParaRPr lang="en-US" sz="2250"/>
          </a:p>
        </p:txBody>
      </p:sp>
      <p:sp>
        <p:nvSpPr>
          <p:cNvPr id="9" name="Text 7"/>
          <p:cNvSpPr txBox="1"/>
          <p:nvPr/>
        </p:nvSpPr>
        <p:spPr>
          <a:xfrm>
            <a:off x="4171950" y="2568203"/>
            <a:ext cx="3257550" cy="822960"/>
          </a:xfrm>
          <a:prstGeom prst="rect">
            <a:avLst/>
          </a:prstGeom>
          <a:noFill/>
          <a:ln/>
        </p:spPr>
        <p:txBody>
          <a:bodyPr wrap="square" lIns="0" tIns="0" rIns="0" bIns="0" rtlCol="0" anchor="ctr"/>
          <a:lstStyle/>
          <a:p>
            <a:pPr algn="ctr"/>
            <a:r>
              <a:rPr lang="en-US" sz="1750" b="1" dirty="0">
                <a:solidFill>
                  <a:srgbClr val="13294B"/>
                </a:solidFill>
                <a:latin typeface="Calibri" pitchFamily="34" charset="0"/>
                <a:ea typeface="Calibri" pitchFamily="34" charset="-122"/>
                <a:cs typeface="Calibri" pitchFamily="34" charset="-120"/>
              </a:rPr>
              <a:t>KPIs</a:t>
            </a:r>
            <a:endParaRPr lang="en-US" sz="1750" dirty="0"/>
          </a:p>
        </p:txBody>
      </p:sp>
      <p:sp>
        <p:nvSpPr>
          <p:cNvPr id="10" name="Shape 8"/>
          <p:cNvSpPr/>
          <p:nvPr/>
        </p:nvSpPr>
        <p:spPr>
          <a:xfrm>
            <a:off x="685800" y="3619763"/>
            <a:ext cx="3257550" cy="822960"/>
          </a:xfrm>
          <a:prstGeom prst="roundRect">
            <a:avLst>
              <a:gd name="adj" fmla="val 11111"/>
            </a:avLst>
          </a:prstGeom>
          <a:solidFill>
            <a:srgbClr val="E8EFF9"/>
          </a:solidFill>
          <a:ln w="9525">
            <a:solidFill>
              <a:srgbClr val="5B8FD1"/>
            </a:solidFill>
            <a:prstDash val="solid"/>
          </a:ln>
        </p:spPr>
        <p:txBody>
          <a:bodyPr/>
          <a:lstStyle/>
          <a:p>
            <a:endParaRPr lang="en-US" sz="2250"/>
          </a:p>
        </p:txBody>
      </p:sp>
      <p:sp>
        <p:nvSpPr>
          <p:cNvPr id="11" name="Text 9"/>
          <p:cNvSpPr txBox="1"/>
          <p:nvPr/>
        </p:nvSpPr>
        <p:spPr>
          <a:xfrm>
            <a:off x="685800" y="3619763"/>
            <a:ext cx="3257550" cy="822960"/>
          </a:xfrm>
          <a:prstGeom prst="rect">
            <a:avLst/>
          </a:prstGeom>
          <a:noFill/>
          <a:ln/>
        </p:spPr>
        <p:txBody>
          <a:bodyPr wrap="square" lIns="0" tIns="0" rIns="0" bIns="0" rtlCol="0" anchor="ctr"/>
          <a:lstStyle/>
          <a:p>
            <a:pPr algn="ctr"/>
            <a:r>
              <a:rPr lang="en-US" sz="1750" b="1" dirty="0">
                <a:solidFill>
                  <a:srgbClr val="13294B"/>
                </a:solidFill>
                <a:latin typeface="Calibri" pitchFamily="34" charset="0"/>
                <a:ea typeface="Calibri" pitchFamily="34" charset="-122"/>
                <a:cs typeface="Calibri" pitchFamily="34" charset="-120"/>
              </a:rPr>
              <a:t>OpenStreetMap</a:t>
            </a:r>
            <a:endParaRPr lang="en-US" sz="1750" dirty="0"/>
          </a:p>
        </p:txBody>
      </p:sp>
      <p:sp>
        <p:nvSpPr>
          <p:cNvPr id="12" name="Shape 10"/>
          <p:cNvSpPr/>
          <p:nvPr/>
        </p:nvSpPr>
        <p:spPr>
          <a:xfrm>
            <a:off x="4171950" y="3619763"/>
            <a:ext cx="3257550" cy="822960"/>
          </a:xfrm>
          <a:prstGeom prst="roundRect">
            <a:avLst>
              <a:gd name="adj" fmla="val 11111"/>
            </a:avLst>
          </a:prstGeom>
          <a:solidFill>
            <a:srgbClr val="E8EFF9"/>
          </a:solidFill>
          <a:ln w="9525">
            <a:solidFill>
              <a:srgbClr val="5B8FD1"/>
            </a:solidFill>
            <a:prstDash val="solid"/>
          </a:ln>
        </p:spPr>
        <p:txBody>
          <a:bodyPr/>
          <a:lstStyle/>
          <a:p>
            <a:endParaRPr lang="en-US" sz="2250"/>
          </a:p>
        </p:txBody>
      </p:sp>
      <p:sp>
        <p:nvSpPr>
          <p:cNvPr id="13" name="Text 11"/>
          <p:cNvSpPr txBox="1"/>
          <p:nvPr/>
        </p:nvSpPr>
        <p:spPr>
          <a:xfrm>
            <a:off x="4171950" y="3619763"/>
            <a:ext cx="3257550" cy="822960"/>
          </a:xfrm>
          <a:prstGeom prst="rect">
            <a:avLst/>
          </a:prstGeom>
          <a:noFill/>
          <a:ln/>
        </p:spPr>
        <p:txBody>
          <a:bodyPr wrap="square" lIns="0" tIns="0" rIns="0" bIns="0" rtlCol="0" anchor="ctr"/>
          <a:lstStyle/>
          <a:p>
            <a:pPr algn="ctr"/>
            <a:r>
              <a:rPr lang="en-US" sz="1750" b="1" dirty="0">
                <a:solidFill>
                  <a:srgbClr val="13294B"/>
                </a:solidFill>
                <a:latin typeface="Calibri" pitchFamily="34" charset="0"/>
                <a:ea typeface="Calibri" pitchFamily="34" charset="-122"/>
                <a:cs typeface="Calibri" pitchFamily="34" charset="-120"/>
              </a:rPr>
              <a:t>Population</a:t>
            </a:r>
            <a:endParaRPr lang="en-US" sz="1750" dirty="0"/>
          </a:p>
        </p:txBody>
      </p:sp>
      <p:sp>
        <p:nvSpPr>
          <p:cNvPr id="14" name="Text 12"/>
          <p:cNvSpPr txBox="1"/>
          <p:nvPr/>
        </p:nvSpPr>
        <p:spPr>
          <a:xfrm>
            <a:off x="685800" y="4499873"/>
            <a:ext cx="6743700" cy="400050"/>
          </a:xfrm>
          <a:prstGeom prst="rect">
            <a:avLst/>
          </a:prstGeom>
          <a:noFill/>
          <a:ln/>
        </p:spPr>
        <p:txBody>
          <a:bodyPr wrap="square" lIns="0" tIns="0" rIns="0" bIns="0" rtlCol="0" anchor="ctr"/>
          <a:lstStyle/>
          <a:p>
            <a:pPr algn="ctr"/>
            <a:r>
              <a:rPr lang="en-US" sz="1625" b="1" i="1" dirty="0">
                <a:solidFill>
                  <a:srgbClr val="E8A13A"/>
                </a:solidFill>
                <a:latin typeface="Calibri" pitchFamily="34" charset="0"/>
                <a:ea typeface="Calibri" pitchFamily="34" charset="-122"/>
                <a:cs typeface="Calibri" pitchFamily="34" charset="-120"/>
              </a:rPr>
              <a:t>→ jointly</a:t>
            </a:r>
            <a:endParaRPr lang="en-US" sz="1625" dirty="0"/>
          </a:p>
        </p:txBody>
      </p:sp>
      <p:sp>
        <p:nvSpPr>
          <p:cNvPr id="15" name="Shape 13"/>
          <p:cNvSpPr/>
          <p:nvPr/>
        </p:nvSpPr>
        <p:spPr>
          <a:xfrm>
            <a:off x="7600950" y="2286000"/>
            <a:ext cx="0" cy="2613923"/>
          </a:xfrm>
          <a:prstGeom prst="line">
            <a:avLst/>
          </a:prstGeom>
          <a:noFill/>
          <a:ln w="12700">
            <a:solidFill>
              <a:srgbClr val="D8DEE7"/>
            </a:solidFill>
            <a:prstDash val="solid"/>
          </a:ln>
        </p:spPr>
        <p:txBody>
          <a:bodyPr/>
          <a:lstStyle/>
          <a:p>
            <a:endParaRPr lang="en-US" sz="2250"/>
          </a:p>
        </p:txBody>
      </p:sp>
      <p:sp>
        <p:nvSpPr>
          <p:cNvPr id="16" name="Text 14"/>
          <p:cNvSpPr txBox="1"/>
          <p:nvPr/>
        </p:nvSpPr>
        <p:spPr>
          <a:xfrm>
            <a:off x="7943850" y="1539503"/>
            <a:ext cx="6515100" cy="400050"/>
          </a:xfrm>
          <a:prstGeom prst="rect">
            <a:avLst/>
          </a:prstGeom>
          <a:noFill/>
          <a:ln/>
        </p:spPr>
        <p:txBody>
          <a:bodyPr wrap="square" lIns="0" tIns="0" rIns="0" bIns="0" rtlCol="0" anchor="ctr"/>
          <a:lstStyle/>
          <a:p>
            <a:r>
              <a:rPr lang="en-US" sz="2000" b="1" dirty="0">
                <a:solidFill>
                  <a:srgbClr val="1C2430"/>
                </a:solidFill>
                <a:latin typeface="Calibri" pitchFamily="34" charset="0"/>
                <a:ea typeface="Calibri" pitchFamily="34" charset="-122"/>
                <a:cs typeface="Calibri" pitchFamily="34" charset="-120"/>
              </a:rPr>
              <a:t>The path cannot be pre-defined </a:t>
            </a:r>
            <a:endParaRPr lang="en-US" sz="2000" dirty="0"/>
          </a:p>
        </p:txBody>
      </p:sp>
      <p:sp>
        <p:nvSpPr>
          <p:cNvPr id="17" name="Text 15"/>
          <p:cNvSpPr txBox="1"/>
          <p:nvPr/>
        </p:nvSpPr>
        <p:spPr>
          <a:xfrm>
            <a:off x="7943850" y="1962413"/>
            <a:ext cx="6515100" cy="400050"/>
          </a:xfrm>
          <a:prstGeom prst="rect">
            <a:avLst/>
          </a:prstGeom>
          <a:noFill/>
          <a:ln/>
        </p:spPr>
        <p:txBody>
          <a:bodyPr wrap="square" lIns="0" tIns="0" rIns="0" bIns="0" rtlCol="0" anchor="ctr"/>
          <a:lstStyle/>
          <a:p>
            <a:r>
              <a:rPr lang="en-US" sz="1563" dirty="0">
                <a:solidFill>
                  <a:srgbClr val="8A93A2"/>
                </a:solidFill>
                <a:latin typeface="Calibri" pitchFamily="34" charset="0"/>
                <a:ea typeface="Calibri" pitchFamily="34" charset="-122"/>
                <a:cs typeface="Calibri" pitchFamily="34" charset="-120"/>
              </a:rPr>
              <a:t>each finding changes where to look next</a:t>
            </a:r>
            <a:endParaRPr lang="en-US" sz="1563" dirty="0"/>
          </a:p>
        </p:txBody>
      </p:sp>
      <p:sp>
        <p:nvSpPr>
          <p:cNvPr id="18" name="Text 16"/>
          <p:cNvSpPr txBox="1"/>
          <p:nvPr/>
        </p:nvSpPr>
        <p:spPr>
          <a:xfrm>
            <a:off x="8058150" y="2282453"/>
            <a:ext cx="2514600" cy="342900"/>
          </a:xfrm>
          <a:prstGeom prst="rect">
            <a:avLst/>
          </a:prstGeom>
          <a:noFill/>
          <a:ln/>
        </p:spPr>
        <p:txBody>
          <a:bodyPr wrap="square" lIns="0" tIns="0" rIns="0" bIns="0" rtlCol="0" anchor="ctr"/>
          <a:lstStyle/>
          <a:p>
            <a:pPr algn="ctr"/>
            <a:r>
              <a:rPr lang="en-US" sz="1375" dirty="0">
                <a:solidFill>
                  <a:srgbClr val="8A93A2"/>
                </a:solidFill>
                <a:latin typeface="Calibri" pitchFamily="34" charset="0"/>
                <a:ea typeface="Calibri" pitchFamily="34" charset="-122"/>
                <a:cs typeface="Calibri" pitchFamily="34" charset="-120"/>
              </a:rPr>
              <a:t>fixed pipeline</a:t>
            </a:r>
            <a:endParaRPr lang="en-US" sz="1375" dirty="0"/>
          </a:p>
        </p:txBody>
      </p:sp>
      <p:sp>
        <p:nvSpPr>
          <p:cNvPr id="19" name="Shape 17"/>
          <p:cNvSpPr/>
          <p:nvPr/>
        </p:nvSpPr>
        <p:spPr>
          <a:xfrm>
            <a:off x="8172450" y="2682503"/>
            <a:ext cx="2057400" cy="480060"/>
          </a:xfrm>
          <a:prstGeom prst="roundRect">
            <a:avLst>
              <a:gd name="adj" fmla="val 14286"/>
            </a:avLst>
          </a:prstGeom>
          <a:solidFill>
            <a:srgbClr val="EDEFF3"/>
          </a:solidFill>
          <a:ln/>
        </p:spPr>
        <p:txBody>
          <a:bodyPr/>
          <a:lstStyle/>
          <a:p>
            <a:endParaRPr lang="en-US" sz="2250"/>
          </a:p>
        </p:txBody>
      </p:sp>
      <p:sp>
        <p:nvSpPr>
          <p:cNvPr id="20" name="Text 18"/>
          <p:cNvSpPr txBox="1"/>
          <p:nvPr/>
        </p:nvSpPr>
        <p:spPr>
          <a:xfrm>
            <a:off x="8172450" y="2682503"/>
            <a:ext cx="2057400" cy="480060"/>
          </a:xfrm>
          <a:prstGeom prst="rect">
            <a:avLst/>
          </a:prstGeom>
          <a:noFill/>
          <a:ln/>
        </p:spPr>
        <p:txBody>
          <a:bodyPr wrap="square" lIns="0" tIns="0" rIns="0" bIns="0" rtlCol="0" anchor="ctr"/>
          <a:lstStyle/>
          <a:p>
            <a:pPr algn="ctr"/>
            <a:r>
              <a:rPr lang="en-US" sz="1438" dirty="0">
                <a:solidFill>
                  <a:srgbClr val="8A93A2"/>
                </a:solidFill>
                <a:latin typeface="Calibri" pitchFamily="34" charset="0"/>
                <a:ea typeface="Calibri" pitchFamily="34" charset="-122"/>
                <a:cs typeface="Calibri" pitchFamily="34" charset="-120"/>
              </a:rPr>
              <a:t>Step 1</a:t>
            </a:r>
            <a:endParaRPr lang="en-US" sz="1438" dirty="0"/>
          </a:p>
        </p:txBody>
      </p:sp>
      <p:sp>
        <p:nvSpPr>
          <p:cNvPr id="21" name="Shape 19"/>
          <p:cNvSpPr/>
          <p:nvPr/>
        </p:nvSpPr>
        <p:spPr>
          <a:xfrm>
            <a:off x="9201150" y="3162563"/>
            <a:ext cx="0" cy="228600"/>
          </a:xfrm>
          <a:prstGeom prst="line">
            <a:avLst/>
          </a:prstGeom>
          <a:noFill/>
          <a:ln w="15875">
            <a:solidFill>
              <a:srgbClr val="8A93A2"/>
            </a:solidFill>
            <a:prstDash val="solid"/>
            <a:tailEnd type="triangle"/>
          </a:ln>
        </p:spPr>
        <p:txBody>
          <a:bodyPr/>
          <a:lstStyle/>
          <a:p>
            <a:endParaRPr lang="en-US" sz="2250"/>
          </a:p>
        </p:txBody>
      </p:sp>
      <p:sp>
        <p:nvSpPr>
          <p:cNvPr id="22" name="Shape 20"/>
          <p:cNvSpPr/>
          <p:nvPr/>
        </p:nvSpPr>
        <p:spPr>
          <a:xfrm>
            <a:off x="8172450" y="3391163"/>
            <a:ext cx="2057400" cy="480060"/>
          </a:xfrm>
          <a:prstGeom prst="roundRect">
            <a:avLst>
              <a:gd name="adj" fmla="val 14286"/>
            </a:avLst>
          </a:prstGeom>
          <a:solidFill>
            <a:srgbClr val="EDEFF3"/>
          </a:solidFill>
          <a:ln/>
        </p:spPr>
        <p:txBody>
          <a:bodyPr/>
          <a:lstStyle/>
          <a:p>
            <a:endParaRPr lang="en-US" sz="2250"/>
          </a:p>
        </p:txBody>
      </p:sp>
      <p:sp>
        <p:nvSpPr>
          <p:cNvPr id="23" name="Text 21"/>
          <p:cNvSpPr txBox="1"/>
          <p:nvPr/>
        </p:nvSpPr>
        <p:spPr>
          <a:xfrm>
            <a:off x="8172450" y="3391163"/>
            <a:ext cx="2057400" cy="480060"/>
          </a:xfrm>
          <a:prstGeom prst="rect">
            <a:avLst/>
          </a:prstGeom>
          <a:noFill/>
          <a:ln/>
        </p:spPr>
        <p:txBody>
          <a:bodyPr wrap="square" lIns="0" tIns="0" rIns="0" bIns="0" rtlCol="0" anchor="ctr"/>
          <a:lstStyle/>
          <a:p>
            <a:pPr algn="ctr"/>
            <a:r>
              <a:rPr lang="en-US" sz="1438" dirty="0">
                <a:solidFill>
                  <a:srgbClr val="8A93A2"/>
                </a:solidFill>
                <a:latin typeface="Calibri" pitchFamily="34" charset="0"/>
                <a:ea typeface="Calibri" pitchFamily="34" charset="-122"/>
                <a:cs typeface="Calibri" pitchFamily="34" charset="-120"/>
              </a:rPr>
              <a:t>Step 2</a:t>
            </a:r>
            <a:endParaRPr lang="en-US" sz="1438" dirty="0"/>
          </a:p>
        </p:txBody>
      </p:sp>
      <p:sp>
        <p:nvSpPr>
          <p:cNvPr id="24" name="Shape 22"/>
          <p:cNvSpPr/>
          <p:nvPr/>
        </p:nvSpPr>
        <p:spPr>
          <a:xfrm>
            <a:off x="9201150" y="3871223"/>
            <a:ext cx="0" cy="228600"/>
          </a:xfrm>
          <a:prstGeom prst="line">
            <a:avLst/>
          </a:prstGeom>
          <a:noFill/>
          <a:ln w="15875">
            <a:solidFill>
              <a:srgbClr val="8A93A2"/>
            </a:solidFill>
            <a:prstDash val="solid"/>
            <a:tailEnd type="triangle"/>
          </a:ln>
        </p:spPr>
        <p:txBody>
          <a:bodyPr/>
          <a:lstStyle/>
          <a:p>
            <a:endParaRPr lang="en-US" sz="2250"/>
          </a:p>
        </p:txBody>
      </p:sp>
      <p:sp>
        <p:nvSpPr>
          <p:cNvPr id="25" name="Shape 23"/>
          <p:cNvSpPr/>
          <p:nvPr/>
        </p:nvSpPr>
        <p:spPr>
          <a:xfrm>
            <a:off x="8172450" y="4099823"/>
            <a:ext cx="2057400" cy="480060"/>
          </a:xfrm>
          <a:prstGeom prst="roundRect">
            <a:avLst>
              <a:gd name="adj" fmla="val 14286"/>
            </a:avLst>
          </a:prstGeom>
          <a:solidFill>
            <a:srgbClr val="EDEFF3"/>
          </a:solidFill>
          <a:ln/>
        </p:spPr>
        <p:txBody>
          <a:bodyPr/>
          <a:lstStyle/>
          <a:p>
            <a:endParaRPr lang="en-US" sz="2250"/>
          </a:p>
        </p:txBody>
      </p:sp>
      <p:sp>
        <p:nvSpPr>
          <p:cNvPr id="26" name="Text 24"/>
          <p:cNvSpPr txBox="1"/>
          <p:nvPr/>
        </p:nvSpPr>
        <p:spPr>
          <a:xfrm>
            <a:off x="8172450" y="4099823"/>
            <a:ext cx="2057400" cy="480060"/>
          </a:xfrm>
          <a:prstGeom prst="rect">
            <a:avLst/>
          </a:prstGeom>
          <a:noFill/>
          <a:ln/>
        </p:spPr>
        <p:txBody>
          <a:bodyPr wrap="square" lIns="0" tIns="0" rIns="0" bIns="0" rtlCol="0" anchor="ctr"/>
          <a:lstStyle/>
          <a:p>
            <a:pPr algn="ctr"/>
            <a:r>
              <a:rPr lang="en-US" sz="1438" dirty="0">
                <a:solidFill>
                  <a:srgbClr val="8A93A2"/>
                </a:solidFill>
                <a:latin typeface="Calibri" pitchFamily="34" charset="0"/>
                <a:ea typeface="Calibri" pitchFamily="34" charset="-122"/>
                <a:cs typeface="Calibri" pitchFamily="34" charset="-120"/>
              </a:rPr>
              <a:t>Step 3</a:t>
            </a:r>
            <a:endParaRPr lang="en-US" sz="1438" dirty="0"/>
          </a:p>
        </p:txBody>
      </p:sp>
      <p:sp>
        <p:nvSpPr>
          <p:cNvPr id="27" name="Text 25"/>
          <p:cNvSpPr txBox="1"/>
          <p:nvPr/>
        </p:nvSpPr>
        <p:spPr>
          <a:xfrm>
            <a:off x="11087100" y="2282453"/>
            <a:ext cx="2971800" cy="342900"/>
          </a:xfrm>
          <a:prstGeom prst="rect">
            <a:avLst/>
          </a:prstGeom>
          <a:noFill/>
          <a:ln/>
        </p:spPr>
        <p:txBody>
          <a:bodyPr wrap="square" lIns="0" tIns="0" rIns="0" bIns="0" rtlCol="0" anchor="ctr"/>
          <a:lstStyle/>
          <a:p>
            <a:pPr algn="ctr"/>
            <a:r>
              <a:rPr lang="en-US" sz="1375" b="1" dirty="0">
                <a:solidFill>
                  <a:srgbClr val="E8A13A"/>
                </a:solidFill>
                <a:latin typeface="Calibri" pitchFamily="34" charset="0"/>
                <a:ea typeface="Calibri" pitchFamily="34" charset="-122"/>
                <a:cs typeface="Calibri" pitchFamily="34" charset="-120"/>
              </a:rPr>
              <a:t>evidence-driven</a:t>
            </a:r>
            <a:endParaRPr lang="en-US" sz="1375" dirty="0"/>
          </a:p>
        </p:txBody>
      </p:sp>
      <p:sp>
        <p:nvSpPr>
          <p:cNvPr id="28" name="Shape 26"/>
          <p:cNvSpPr/>
          <p:nvPr/>
        </p:nvSpPr>
        <p:spPr>
          <a:xfrm>
            <a:off x="11315700" y="2682503"/>
            <a:ext cx="2571750" cy="480060"/>
          </a:xfrm>
          <a:prstGeom prst="roundRect">
            <a:avLst>
              <a:gd name="adj" fmla="val 14286"/>
            </a:avLst>
          </a:prstGeom>
          <a:solidFill>
            <a:srgbClr val="2E5EAA"/>
          </a:solidFill>
          <a:ln/>
        </p:spPr>
        <p:txBody>
          <a:bodyPr/>
          <a:lstStyle/>
          <a:p>
            <a:endParaRPr lang="en-US" sz="2250"/>
          </a:p>
        </p:txBody>
      </p:sp>
      <p:sp>
        <p:nvSpPr>
          <p:cNvPr id="29" name="Text 27"/>
          <p:cNvSpPr txBox="1"/>
          <p:nvPr/>
        </p:nvSpPr>
        <p:spPr>
          <a:xfrm>
            <a:off x="11315700" y="2682503"/>
            <a:ext cx="2571750" cy="480060"/>
          </a:xfrm>
          <a:prstGeom prst="rect">
            <a:avLst/>
          </a:prstGeom>
          <a:noFill/>
          <a:ln/>
        </p:spPr>
        <p:txBody>
          <a:bodyPr wrap="square" lIns="0" tIns="0" rIns="0" bIns="0" rtlCol="0" anchor="ctr"/>
          <a:lstStyle/>
          <a:p>
            <a:pPr algn="ctr"/>
            <a:r>
              <a:rPr lang="en-US" sz="1375" dirty="0">
                <a:solidFill>
                  <a:srgbClr val="FFFFFF"/>
                </a:solidFill>
                <a:latin typeface="Calibri" pitchFamily="34" charset="0"/>
                <a:ea typeface="Calibri" pitchFamily="34" charset="-122"/>
                <a:cs typeface="Calibri" pitchFamily="34" charset="-120"/>
              </a:rPr>
              <a:t>Check coverage</a:t>
            </a:r>
            <a:endParaRPr lang="en-US" sz="1375" dirty="0"/>
          </a:p>
        </p:txBody>
      </p:sp>
      <p:sp>
        <p:nvSpPr>
          <p:cNvPr id="30" name="Shape 28"/>
          <p:cNvSpPr/>
          <p:nvPr/>
        </p:nvSpPr>
        <p:spPr>
          <a:xfrm>
            <a:off x="12601575" y="3162563"/>
            <a:ext cx="0" cy="228600"/>
          </a:xfrm>
          <a:prstGeom prst="line">
            <a:avLst/>
          </a:prstGeom>
          <a:noFill/>
          <a:ln w="15875">
            <a:solidFill>
              <a:srgbClr val="E8A13A"/>
            </a:solidFill>
            <a:prstDash val="solid"/>
            <a:tailEnd type="triangle"/>
          </a:ln>
        </p:spPr>
        <p:txBody>
          <a:bodyPr/>
          <a:lstStyle/>
          <a:p>
            <a:endParaRPr lang="en-US" sz="2250"/>
          </a:p>
        </p:txBody>
      </p:sp>
      <p:sp>
        <p:nvSpPr>
          <p:cNvPr id="31" name="Shape 29"/>
          <p:cNvSpPr/>
          <p:nvPr/>
        </p:nvSpPr>
        <p:spPr>
          <a:xfrm>
            <a:off x="13887450" y="2922533"/>
            <a:ext cx="571500" cy="285750"/>
          </a:xfrm>
          <a:prstGeom prst="line">
            <a:avLst/>
          </a:prstGeom>
          <a:noFill/>
          <a:ln w="12700">
            <a:solidFill>
              <a:srgbClr val="8A93A2"/>
            </a:solidFill>
            <a:prstDash val="dash"/>
          </a:ln>
        </p:spPr>
        <p:txBody>
          <a:bodyPr/>
          <a:lstStyle/>
          <a:p>
            <a:endParaRPr lang="en-US" sz="2250"/>
          </a:p>
        </p:txBody>
      </p:sp>
      <p:sp>
        <p:nvSpPr>
          <p:cNvPr id="32" name="Shape 30"/>
          <p:cNvSpPr/>
          <p:nvPr/>
        </p:nvSpPr>
        <p:spPr>
          <a:xfrm>
            <a:off x="11315700" y="3391163"/>
            <a:ext cx="2571750" cy="480060"/>
          </a:xfrm>
          <a:prstGeom prst="roundRect">
            <a:avLst>
              <a:gd name="adj" fmla="val 14286"/>
            </a:avLst>
          </a:prstGeom>
          <a:solidFill>
            <a:srgbClr val="2E5EAA"/>
          </a:solidFill>
          <a:ln/>
        </p:spPr>
        <p:txBody>
          <a:bodyPr/>
          <a:lstStyle/>
          <a:p>
            <a:endParaRPr lang="en-US" sz="2250"/>
          </a:p>
        </p:txBody>
      </p:sp>
      <p:sp>
        <p:nvSpPr>
          <p:cNvPr id="33" name="Text 31"/>
          <p:cNvSpPr txBox="1"/>
          <p:nvPr/>
        </p:nvSpPr>
        <p:spPr>
          <a:xfrm>
            <a:off x="11315700" y="3391163"/>
            <a:ext cx="2571750" cy="480060"/>
          </a:xfrm>
          <a:prstGeom prst="rect">
            <a:avLst/>
          </a:prstGeom>
          <a:noFill/>
          <a:ln/>
        </p:spPr>
        <p:txBody>
          <a:bodyPr wrap="square" lIns="0" tIns="0" rIns="0" bIns="0" rtlCol="0" anchor="ctr"/>
          <a:lstStyle/>
          <a:p>
            <a:pPr algn="ctr"/>
            <a:r>
              <a:rPr lang="en-US" sz="1375" dirty="0">
                <a:solidFill>
                  <a:srgbClr val="FFFFFF"/>
                </a:solidFill>
                <a:latin typeface="Calibri" pitchFamily="34" charset="0"/>
                <a:ea typeface="Calibri" pitchFamily="34" charset="-122"/>
                <a:cs typeface="Calibri" pitchFamily="34" charset="-120"/>
              </a:rPr>
              <a:t>Expand along highway</a:t>
            </a:r>
            <a:endParaRPr lang="en-US" sz="1375" dirty="0"/>
          </a:p>
        </p:txBody>
      </p:sp>
      <p:sp>
        <p:nvSpPr>
          <p:cNvPr id="34" name="Shape 32"/>
          <p:cNvSpPr/>
          <p:nvPr/>
        </p:nvSpPr>
        <p:spPr>
          <a:xfrm>
            <a:off x="12601575" y="3871223"/>
            <a:ext cx="0" cy="228600"/>
          </a:xfrm>
          <a:prstGeom prst="line">
            <a:avLst/>
          </a:prstGeom>
          <a:noFill/>
          <a:ln w="15875">
            <a:solidFill>
              <a:srgbClr val="E8A13A"/>
            </a:solidFill>
            <a:prstDash val="solid"/>
            <a:tailEnd type="triangle"/>
          </a:ln>
        </p:spPr>
        <p:txBody>
          <a:bodyPr/>
          <a:lstStyle/>
          <a:p>
            <a:endParaRPr lang="en-US" sz="2250"/>
          </a:p>
        </p:txBody>
      </p:sp>
      <p:sp>
        <p:nvSpPr>
          <p:cNvPr id="35" name="Shape 33"/>
          <p:cNvSpPr/>
          <p:nvPr/>
        </p:nvSpPr>
        <p:spPr>
          <a:xfrm>
            <a:off x="13887450" y="3631193"/>
            <a:ext cx="571500" cy="285750"/>
          </a:xfrm>
          <a:prstGeom prst="line">
            <a:avLst/>
          </a:prstGeom>
          <a:noFill/>
          <a:ln w="12700">
            <a:solidFill>
              <a:srgbClr val="8A93A2"/>
            </a:solidFill>
            <a:prstDash val="dash"/>
          </a:ln>
        </p:spPr>
        <p:txBody>
          <a:bodyPr/>
          <a:lstStyle/>
          <a:p>
            <a:endParaRPr lang="en-US" sz="2250"/>
          </a:p>
        </p:txBody>
      </p:sp>
      <p:sp>
        <p:nvSpPr>
          <p:cNvPr id="36" name="Shape 34"/>
          <p:cNvSpPr/>
          <p:nvPr/>
        </p:nvSpPr>
        <p:spPr>
          <a:xfrm>
            <a:off x="11315700" y="4099823"/>
            <a:ext cx="2571750" cy="480060"/>
          </a:xfrm>
          <a:prstGeom prst="roundRect">
            <a:avLst>
              <a:gd name="adj" fmla="val 14286"/>
            </a:avLst>
          </a:prstGeom>
          <a:solidFill>
            <a:srgbClr val="2E5EAA"/>
          </a:solidFill>
          <a:ln/>
        </p:spPr>
        <p:txBody>
          <a:bodyPr/>
          <a:lstStyle/>
          <a:p>
            <a:endParaRPr lang="en-US" sz="2250"/>
          </a:p>
        </p:txBody>
      </p:sp>
      <p:sp>
        <p:nvSpPr>
          <p:cNvPr id="37" name="Text 35"/>
          <p:cNvSpPr txBox="1"/>
          <p:nvPr/>
        </p:nvSpPr>
        <p:spPr>
          <a:xfrm>
            <a:off x="11315700" y="4099823"/>
            <a:ext cx="2571750" cy="480060"/>
          </a:xfrm>
          <a:prstGeom prst="rect">
            <a:avLst/>
          </a:prstGeom>
          <a:noFill/>
          <a:ln/>
        </p:spPr>
        <p:txBody>
          <a:bodyPr wrap="square" lIns="0" tIns="0" rIns="0" bIns="0" rtlCol="0" anchor="ctr"/>
          <a:lstStyle/>
          <a:p>
            <a:pPr algn="ctr"/>
            <a:r>
              <a:rPr lang="en-US" sz="1375" dirty="0">
                <a:solidFill>
                  <a:srgbClr val="FFFFFF"/>
                </a:solidFill>
                <a:latin typeface="Calibri" pitchFamily="34" charset="0"/>
                <a:ea typeface="Calibri" pitchFamily="34" charset="-122"/>
                <a:cs typeface="Calibri" pitchFamily="34" charset="-120"/>
              </a:rPr>
              <a:t>Inspect backup KPIs</a:t>
            </a:r>
            <a:endParaRPr lang="en-US" sz="1375" dirty="0"/>
          </a:p>
        </p:txBody>
      </p:sp>
      <p:sp>
        <p:nvSpPr>
          <p:cNvPr id="40" name="Text 16">
            <a:extLst>
              <a:ext uri="{FF2B5EF4-FFF2-40B4-BE49-F238E27FC236}">
                <a16:creationId xmlns:a16="http://schemas.microsoft.com/office/drawing/2014/main" id="{29A1FC54-101E-63A4-1513-AD25F441F801}"/>
              </a:ext>
            </a:extLst>
          </p:cNvPr>
          <p:cNvSpPr txBox="1"/>
          <p:nvPr/>
        </p:nvSpPr>
        <p:spPr>
          <a:xfrm>
            <a:off x="685799" y="5020379"/>
            <a:ext cx="13830300" cy="457200"/>
          </a:xfrm>
          <a:prstGeom prst="rect">
            <a:avLst/>
          </a:prstGeom>
          <a:noFill/>
          <a:ln/>
        </p:spPr>
        <p:txBody>
          <a:bodyPr wrap="square" lIns="0" tIns="0" rIns="0" bIns="0" rtlCol="0" anchor="ctr"/>
          <a:lstStyle/>
          <a:p>
            <a:r>
              <a:rPr lang="en-US" sz="2250" b="1" dirty="0">
                <a:solidFill>
                  <a:srgbClr val="1C2430"/>
                </a:solidFill>
                <a:latin typeface="Cambria" pitchFamily="34" charset="0"/>
                <a:ea typeface="Cambria" pitchFamily="34" charset="-122"/>
                <a:cs typeface="Cambria" pitchFamily="34" charset="-120"/>
              </a:rPr>
              <a:t>Only an agentic system is both scalable and comprehensive</a:t>
            </a:r>
            <a:endParaRPr lang="en-US" sz="2250" dirty="0"/>
          </a:p>
        </p:txBody>
      </p:sp>
      <p:sp>
        <p:nvSpPr>
          <p:cNvPr id="41" name="Shape 17">
            <a:extLst>
              <a:ext uri="{FF2B5EF4-FFF2-40B4-BE49-F238E27FC236}">
                <a16:creationId xmlns:a16="http://schemas.microsoft.com/office/drawing/2014/main" id="{797DF735-A242-A4B3-6764-FF9D59BFFBE4}"/>
              </a:ext>
            </a:extLst>
          </p:cNvPr>
          <p:cNvSpPr/>
          <p:nvPr/>
        </p:nvSpPr>
        <p:spPr>
          <a:xfrm>
            <a:off x="12287249" y="5440681"/>
            <a:ext cx="2743200" cy="2880360"/>
          </a:xfrm>
          <a:prstGeom prst="roundRect">
            <a:avLst>
              <a:gd name="adj" fmla="val 3333"/>
            </a:avLst>
          </a:prstGeom>
          <a:solidFill>
            <a:srgbClr val="E8EFF9"/>
          </a:solidFill>
          <a:ln/>
        </p:spPr>
        <p:txBody>
          <a:bodyPr/>
          <a:lstStyle/>
          <a:p>
            <a:endParaRPr lang="en-US" sz="2250"/>
          </a:p>
        </p:txBody>
      </p:sp>
      <p:sp>
        <p:nvSpPr>
          <p:cNvPr id="42" name="Text 18">
            <a:extLst>
              <a:ext uri="{FF2B5EF4-FFF2-40B4-BE49-F238E27FC236}">
                <a16:creationId xmlns:a16="http://schemas.microsoft.com/office/drawing/2014/main" id="{15CB97E9-CB17-C7F4-16E7-3EB1385247B4}"/>
              </a:ext>
            </a:extLst>
          </p:cNvPr>
          <p:cNvSpPr txBox="1"/>
          <p:nvPr/>
        </p:nvSpPr>
        <p:spPr>
          <a:xfrm>
            <a:off x="7086599" y="5497831"/>
            <a:ext cx="2628900" cy="480060"/>
          </a:xfrm>
          <a:prstGeom prst="rect">
            <a:avLst/>
          </a:prstGeom>
          <a:noFill/>
          <a:ln/>
        </p:spPr>
        <p:txBody>
          <a:bodyPr wrap="square" lIns="0" tIns="0" rIns="0" bIns="0" rtlCol="0" anchor="ctr"/>
          <a:lstStyle/>
          <a:p>
            <a:pPr algn="ctr"/>
            <a:r>
              <a:rPr lang="en-US" sz="1625" b="1" dirty="0">
                <a:solidFill>
                  <a:srgbClr val="1C2430"/>
                </a:solidFill>
                <a:latin typeface="Calibri" pitchFamily="34" charset="0"/>
                <a:ea typeface="Calibri" pitchFamily="34" charset="-122"/>
                <a:cs typeface="Calibri" pitchFamily="34" charset="-120"/>
              </a:rPr>
              <a:t>Manual</a:t>
            </a:r>
            <a:endParaRPr lang="en-US" sz="1625" dirty="0"/>
          </a:p>
        </p:txBody>
      </p:sp>
      <p:sp>
        <p:nvSpPr>
          <p:cNvPr id="43" name="Text 19">
            <a:extLst>
              <a:ext uri="{FF2B5EF4-FFF2-40B4-BE49-F238E27FC236}">
                <a16:creationId xmlns:a16="http://schemas.microsoft.com/office/drawing/2014/main" id="{AFF08DD4-7E33-8E80-999A-ECA0E8C1DB96}"/>
              </a:ext>
            </a:extLst>
          </p:cNvPr>
          <p:cNvSpPr txBox="1"/>
          <p:nvPr/>
        </p:nvSpPr>
        <p:spPr>
          <a:xfrm>
            <a:off x="9715499" y="5497831"/>
            <a:ext cx="2628900" cy="480060"/>
          </a:xfrm>
          <a:prstGeom prst="rect">
            <a:avLst/>
          </a:prstGeom>
          <a:noFill/>
          <a:ln/>
        </p:spPr>
        <p:txBody>
          <a:bodyPr wrap="square" lIns="0" tIns="0" rIns="0" bIns="0" rtlCol="0" anchor="ctr"/>
          <a:lstStyle/>
          <a:p>
            <a:pPr algn="ctr"/>
            <a:r>
              <a:rPr lang="en-US" sz="1625" b="1" dirty="0">
                <a:solidFill>
                  <a:srgbClr val="1C2430"/>
                </a:solidFill>
                <a:latin typeface="Calibri" pitchFamily="34" charset="0"/>
                <a:ea typeface="Calibri" pitchFamily="34" charset="-122"/>
                <a:cs typeface="Calibri" pitchFamily="34" charset="-120"/>
              </a:rPr>
              <a:t>Existing tools</a:t>
            </a:r>
            <a:endParaRPr lang="en-US" sz="1625" dirty="0"/>
          </a:p>
        </p:txBody>
      </p:sp>
      <p:sp>
        <p:nvSpPr>
          <p:cNvPr id="44" name="Text 20">
            <a:extLst>
              <a:ext uri="{FF2B5EF4-FFF2-40B4-BE49-F238E27FC236}">
                <a16:creationId xmlns:a16="http://schemas.microsoft.com/office/drawing/2014/main" id="{4792728F-F5CB-3E8F-07FC-02CEB93B354C}"/>
              </a:ext>
            </a:extLst>
          </p:cNvPr>
          <p:cNvSpPr txBox="1"/>
          <p:nvPr/>
        </p:nvSpPr>
        <p:spPr>
          <a:xfrm>
            <a:off x="12344399" y="5497831"/>
            <a:ext cx="2628900" cy="480060"/>
          </a:xfrm>
          <a:prstGeom prst="rect">
            <a:avLst/>
          </a:prstGeom>
          <a:noFill/>
          <a:ln/>
        </p:spPr>
        <p:txBody>
          <a:bodyPr wrap="square" lIns="0" tIns="0" rIns="0" bIns="0" rtlCol="0" anchor="ctr"/>
          <a:lstStyle/>
          <a:p>
            <a:pPr algn="ctr"/>
            <a:r>
              <a:rPr lang="en-US" sz="1625" b="1" dirty="0">
                <a:solidFill>
                  <a:srgbClr val="2E5EAA"/>
                </a:solidFill>
                <a:latin typeface="Calibri" pitchFamily="34" charset="0"/>
                <a:ea typeface="Calibri" pitchFamily="34" charset="-122"/>
                <a:cs typeface="Calibri" pitchFamily="34" charset="-120"/>
              </a:rPr>
              <a:t>Agentic system</a:t>
            </a:r>
            <a:endParaRPr lang="en-US" sz="1625" dirty="0"/>
          </a:p>
        </p:txBody>
      </p:sp>
      <p:sp>
        <p:nvSpPr>
          <p:cNvPr id="45" name="Shape 21">
            <a:extLst>
              <a:ext uri="{FF2B5EF4-FFF2-40B4-BE49-F238E27FC236}">
                <a16:creationId xmlns:a16="http://schemas.microsoft.com/office/drawing/2014/main" id="{EB34C060-FF79-B285-C79B-FF6D0310748D}"/>
              </a:ext>
            </a:extLst>
          </p:cNvPr>
          <p:cNvSpPr/>
          <p:nvPr/>
        </p:nvSpPr>
        <p:spPr>
          <a:xfrm>
            <a:off x="685799" y="5977891"/>
            <a:ext cx="14287500" cy="0"/>
          </a:xfrm>
          <a:prstGeom prst="line">
            <a:avLst/>
          </a:prstGeom>
          <a:noFill/>
          <a:ln w="12700">
            <a:solidFill>
              <a:srgbClr val="D8DEE7"/>
            </a:solidFill>
            <a:prstDash val="solid"/>
          </a:ln>
        </p:spPr>
        <p:txBody>
          <a:bodyPr/>
          <a:lstStyle/>
          <a:p>
            <a:endParaRPr lang="en-US" sz="2250"/>
          </a:p>
        </p:txBody>
      </p:sp>
      <p:sp>
        <p:nvSpPr>
          <p:cNvPr id="46" name="Text 22">
            <a:extLst>
              <a:ext uri="{FF2B5EF4-FFF2-40B4-BE49-F238E27FC236}">
                <a16:creationId xmlns:a16="http://schemas.microsoft.com/office/drawing/2014/main" id="{5536C0C2-6F87-40E5-9844-C604A283023E}"/>
              </a:ext>
            </a:extLst>
          </p:cNvPr>
          <p:cNvSpPr txBox="1"/>
          <p:nvPr/>
        </p:nvSpPr>
        <p:spPr>
          <a:xfrm>
            <a:off x="685799" y="5977891"/>
            <a:ext cx="6400800" cy="571500"/>
          </a:xfrm>
          <a:prstGeom prst="rect">
            <a:avLst/>
          </a:prstGeom>
          <a:noFill/>
          <a:ln/>
        </p:spPr>
        <p:txBody>
          <a:bodyPr wrap="square" lIns="0" tIns="0" rIns="0" bIns="0" rtlCol="0" anchor="ctr"/>
          <a:lstStyle/>
          <a:p>
            <a:r>
              <a:rPr lang="en-US" sz="1563" dirty="0">
                <a:solidFill>
                  <a:srgbClr val="1C2430"/>
                </a:solidFill>
                <a:latin typeface="Calibri" pitchFamily="34" charset="0"/>
                <a:ea typeface="Calibri" pitchFamily="34" charset="-122"/>
                <a:cs typeface="Calibri" pitchFamily="34" charset="-120"/>
              </a:rPr>
              <a:t>Multi-source evidence</a:t>
            </a:r>
            <a:endParaRPr lang="en-US" sz="1563" dirty="0"/>
          </a:p>
        </p:txBody>
      </p:sp>
      <p:sp>
        <p:nvSpPr>
          <p:cNvPr id="47" name="Text 23">
            <a:extLst>
              <a:ext uri="{FF2B5EF4-FFF2-40B4-BE49-F238E27FC236}">
                <a16:creationId xmlns:a16="http://schemas.microsoft.com/office/drawing/2014/main" id="{719754C0-0748-4F0F-F419-CA85F8F7881B}"/>
              </a:ext>
            </a:extLst>
          </p:cNvPr>
          <p:cNvSpPr txBox="1"/>
          <p:nvPr/>
        </p:nvSpPr>
        <p:spPr>
          <a:xfrm>
            <a:off x="7086599" y="5977891"/>
            <a:ext cx="2628900" cy="571500"/>
          </a:xfrm>
          <a:prstGeom prst="rect">
            <a:avLst/>
          </a:prstGeom>
          <a:noFill/>
          <a:ln/>
        </p:spPr>
        <p:txBody>
          <a:bodyPr wrap="square" lIns="0" tIns="0" rIns="0" bIns="0" rtlCol="0" anchor="ctr"/>
          <a:lstStyle/>
          <a:p>
            <a:pPr algn="ctr"/>
            <a:r>
              <a:rPr lang="en-US" sz="2000" b="1" dirty="0">
                <a:solidFill>
                  <a:srgbClr val="3E8E5A"/>
                </a:solidFill>
                <a:latin typeface="Calibri" pitchFamily="34" charset="0"/>
                <a:ea typeface="Calibri" pitchFamily="34" charset="-122"/>
                <a:cs typeface="Calibri" pitchFamily="34" charset="-120"/>
              </a:rPr>
              <a:t>✓</a:t>
            </a:r>
            <a:endParaRPr lang="en-US" sz="2000" dirty="0"/>
          </a:p>
        </p:txBody>
      </p:sp>
      <p:sp>
        <p:nvSpPr>
          <p:cNvPr id="48" name="Text 24">
            <a:extLst>
              <a:ext uri="{FF2B5EF4-FFF2-40B4-BE49-F238E27FC236}">
                <a16:creationId xmlns:a16="http://schemas.microsoft.com/office/drawing/2014/main" id="{45457797-A85C-23E3-2213-3B40254136A0}"/>
              </a:ext>
            </a:extLst>
          </p:cNvPr>
          <p:cNvSpPr txBox="1"/>
          <p:nvPr/>
        </p:nvSpPr>
        <p:spPr>
          <a:xfrm>
            <a:off x="9715499" y="5977891"/>
            <a:ext cx="2628900" cy="571500"/>
          </a:xfrm>
          <a:prstGeom prst="rect">
            <a:avLst/>
          </a:prstGeom>
          <a:noFill/>
          <a:ln/>
        </p:spPr>
        <p:txBody>
          <a:bodyPr wrap="square" lIns="0" tIns="0" rIns="0" bIns="0" rtlCol="0" anchor="ctr"/>
          <a:lstStyle/>
          <a:p>
            <a:pPr algn="ctr"/>
            <a:r>
              <a:rPr lang="en-US" sz="2000" b="1" dirty="0">
                <a:solidFill>
                  <a:srgbClr val="C8452F"/>
                </a:solidFill>
                <a:latin typeface="Calibri" pitchFamily="34" charset="0"/>
                <a:ea typeface="Calibri" pitchFamily="34" charset="-122"/>
                <a:cs typeface="Calibri" pitchFamily="34" charset="-120"/>
              </a:rPr>
              <a:t>✗</a:t>
            </a:r>
            <a:endParaRPr lang="en-US" sz="2000" dirty="0"/>
          </a:p>
        </p:txBody>
      </p:sp>
      <p:sp>
        <p:nvSpPr>
          <p:cNvPr id="49" name="Text 25">
            <a:extLst>
              <a:ext uri="{FF2B5EF4-FFF2-40B4-BE49-F238E27FC236}">
                <a16:creationId xmlns:a16="http://schemas.microsoft.com/office/drawing/2014/main" id="{61B8D964-B1EE-B8B0-F8B0-8203FDFC282A}"/>
              </a:ext>
            </a:extLst>
          </p:cNvPr>
          <p:cNvSpPr txBox="1"/>
          <p:nvPr/>
        </p:nvSpPr>
        <p:spPr>
          <a:xfrm>
            <a:off x="12344399" y="5977891"/>
            <a:ext cx="2628900" cy="571500"/>
          </a:xfrm>
          <a:prstGeom prst="rect">
            <a:avLst/>
          </a:prstGeom>
          <a:noFill/>
          <a:ln/>
        </p:spPr>
        <p:txBody>
          <a:bodyPr wrap="square" lIns="0" tIns="0" rIns="0" bIns="0" rtlCol="0" anchor="ctr"/>
          <a:lstStyle/>
          <a:p>
            <a:pPr algn="ctr"/>
            <a:r>
              <a:rPr lang="en-US" sz="2000" b="1" dirty="0">
                <a:solidFill>
                  <a:srgbClr val="3E8E5A"/>
                </a:solidFill>
                <a:latin typeface="Calibri" pitchFamily="34" charset="0"/>
                <a:ea typeface="Calibri" pitchFamily="34" charset="-122"/>
                <a:cs typeface="Calibri" pitchFamily="34" charset="-120"/>
              </a:rPr>
              <a:t>✓</a:t>
            </a:r>
            <a:endParaRPr lang="en-US" sz="2000" dirty="0"/>
          </a:p>
        </p:txBody>
      </p:sp>
      <p:sp>
        <p:nvSpPr>
          <p:cNvPr id="50" name="Text 26">
            <a:extLst>
              <a:ext uri="{FF2B5EF4-FFF2-40B4-BE49-F238E27FC236}">
                <a16:creationId xmlns:a16="http://schemas.microsoft.com/office/drawing/2014/main" id="{276131A0-4719-0B87-3719-9E366730780B}"/>
              </a:ext>
            </a:extLst>
          </p:cNvPr>
          <p:cNvSpPr txBox="1"/>
          <p:nvPr/>
        </p:nvSpPr>
        <p:spPr>
          <a:xfrm>
            <a:off x="685799" y="6549391"/>
            <a:ext cx="6400800" cy="571500"/>
          </a:xfrm>
          <a:prstGeom prst="rect">
            <a:avLst/>
          </a:prstGeom>
          <a:noFill/>
          <a:ln/>
        </p:spPr>
        <p:txBody>
          <a:bodyPr wrap="square" lIns="0" tIns="0" rIns="0" bIns="0" rtlCol="0" anchor="ctr"/>
          <a:lstStyle/>
          <a:p>
            <a:r>
              <a:rPr lang="en-US" sz="1563" dirty="0">
                <a:solidFill>
                  <a:srgbClr val="1C2430"/>
                </a:solidFill>
                <a:latin typeface="Calibri" pitchFamily="34" charset="0"/>
                <a:ea typeface="Calibri" pitchFamily="34" charset="-122"/>
                <a:cs typeface="Calibri" pitchFamily="34" charset="-120"/>
              </a:rPr>
              <a:t>Multi-granularity (carrier · site · cluster)</a:t>
            </a:r>
            <a:endParaRPr lang="en-US" sz="1563" dirty="0"/>
          </a:p>
        </p:txBody>
      </p:sp>
      <p:sp>
        <p:nvSpPr>
          <p:cNvPr id="51" name="Text 27">
            <a:extLst>
              <a:ext uri="{FF2B5EF4-FFF2-40B4-BE49-F238E27FC236}">
                <a16:creationId xmlns:a16="http://schemas.microsoft.com/office/drawing/2014/main" id="{457F63DF-B4A6-DBF8-8BB2-C46FBC707882}"/>
              </a:ext>
            </a:extLst>
          </p:cNvPr>
          <p:cNvSpPr txBox="1"/>
          <p:nvPr/>
        </p:nvSpPr>
        <p:spPr>
          <a:xfrm>
            <a:off x="7086599" y="6549391"/>
            <a:ext cx="2628900" cy="571500"/>
          </a:xfrm>
          <a:prstGeom prst="rect">
            <a:avLst/>
          </a:prstGeom>
          <a:noFill/>
          <a:ln/>
        </p:spPr>
        <p:txBody>
          <a:bodyPr wrap="square" lIns="0" tIns="0" rIns="0" bIns="0" rtlCol="0" anchor="ctr"/>
          <a:lstStyle/>
          <a:p>
            <a:pPr algn="ctr"/>
            <a:r>
              <a:rPr lang="en-US" sz="2000" b="1" dirty="0">
                <a:solidFill>
                  <a:srgbClr val="3E8E5A"/>
                </a:solidFill>
                <a:latin typeface="Calibri" pitchFamily="34" charset="0"/>
                <a:ea typeface="Calibri" pitchFamily="34" charset="-122"/>
                <a:cs typeface="Calibri" pitchFamily="34" charset="-120"/>
              </a:rPr>
              <a:t>✓</a:t>
            </a:r>
            <a:endParaRPr lang="en-US" sz="2000" dirty="0"/>
          </a:p>
        </p:txBody>
      </p:sp>
      <p:sp>
        <p:nvSpPr>
          <p:cNvPr id="52" name="Text 28">
            <a:extLst>
              <a:ext uri="{FF2B5EF4-FFF2-40B4-BE49-F238E27FC236}">
                <a16:creationId xmlns:a16="http://schemas.microsoft.com/office/drawing/2014/main" id="{E905027A-EA90-EBE1-AB18-3EE54E6ACAAE}"/>
              </a:ext>
            </a:extLst>
          </p:cNvPr>
          <p:cNvSpPr txBox="1"/>
          <p:nvPr/>
        </p:nvSpPr>
        <p:spPr>
          <a:xfrm>
            <a:off x="9715499" y="6549391"/>
            <a:ext cx="2628900" cy="571500"/>
          </a:xfrm>
          <a:prstGeom prst="rect">
            <a:avLst/>
          </a:prstGeom>
          <a:noFill/>
          <a:ln/>
        </p:spPr>
        <p:txBody>
          <a:bodyPr wrap="square" lIns="0" tIns="0" rIns="0" bIns="0" rtlCol="0" anchor="ctr"/>
          <a:lstStyle/>
          <a:p>
            <a:pPr algn="ctr"/>
            <a:r>
              <a:rPr lang="en-US" sz="2000" b="1" dirty="0">
                <a:solidFill>
                  <a:srgbClr val="C8452F"/>
                </a:solidFill>
                <a:latin typeface="Calibri" pitchFamily="34" charset="0"/>
                <a:ea typeface="Calibri" pitchFamily="34" charset="-122"/>
                <a:cs typeface="Calibri" pitchFamily="34" charset="-120"/>
              </a:rPr>
              <a:t>✗</a:t>
            </a:r>
            <a:endParaRPr lang="en-US" sz="2000" dirty="0"/>
          </a:p>
        </p:txBody>
      </p:sp>
      <p:sp>
        <p:nvSpPr>
          <p:cNvPr id="53" name="Text 29">
            <a:extLst>
              <a:ext uri="{FF2B5EF4-FFF2-40B4-BE49-F238E27FC236}">
                <a16:creationId xmlns:a16="http://schemas.microsoft.com/office/drawing/2014/main" id="{6E1B3925-A6CB-3D58-88FA-233E8743B59A}"/>
              </a:ext>
            </a:extLst>
          </p:cNvPr>
          <p:cNvSpPr txBox="1"/>
          <p:nvPr/>
        </p:nvSpPr>
        <p:spPr>
          <a:xfrm>
            <a:off x="12344399" y="6549391"/>
            <a:ext cx="2628900" cy="571500"/>
          </a:xfrm>
          <a:prstGeom prst="rect">
            <a:avLst/>
          </a:prstGeom>
          <a:noFill/>
          <a:ln/>
        </p:spPr>
        <p:txBody>
          <a:bodyPr wrap="square" lIns="0" tIns="0" rIns="0" bIns="0" rtlCol="0" anchor="ctr"/>
          <a:lstStyle/>
          <a:p>
            <a:pPr algn="ctr"/>
            <a:r>
              <a:rPr lang="en-US" sz="2000" b="1" dirty="0">
                <a:solidFill>
                  <a:srgbClr val="3E8E5A"/>
                </a:solidFill>
                <a:latin typeface="Calibri" pitchFamily="34" charset="0"/>
                <a:ea typeface="Calibri" pitchFamily="34" charset="-122"/>
                <a:cs typeface="Calibri" pitchFamily="34" charset="-120"/>
              </a:rPr>
              <a:t>✓</a:t>
            </a:r>
            <a:endParaRPr lang="en-US" sz="2000" dirty="0"/>
          </a:p>
        </p:txBody>
      </p:sp>
      <p:sp>
        <p:nvSpPr>
          <p:cNvPr id="54" name="Text 30">
            <a:extLst>
              <a:ext uri="{FF2B5EF4-FFF2-40B4-BE49-F238E27FC236}">
                <a16:creationId xmlns:a16="http://schemas.microsoft.com/office/drawing/2014/main" id="{7E359B51-8E62-9E7B-341A-3E6943B037E2}"/>
              </a:ext>
            </a:extLst>
          </p:cNvPr>
          <p:cNvSpPr txBox="1"/>
          <p:nvPr/>
        </p:nvSpPr>
        <p:spPr>
          <a:xfrm>
            <a:off x="685799" y="7120891"/>
            <a:ext cx="6400800" cy="571500"/>
          </a:xfrm>
          <a:prstGeom prst="rect">
            <a:avLst/>
          </a:prstGeom>
          <a:noFill/>
          <a:ln/>
        </p:spPr>
        <p:txBody>
          <a:bodyPr wrap="square" lIns="0" tIns="0" rIns="0" bIns="0" rtlCol="0" anchor="ctr"/>
          <a:lstStyle/>
          <a:p>
            <a:r>
              <a:rPr lang="en-US" sz="1563" dirty="0">
                <a:solidFill>
                  <a:srgbClr val="1C2430"/>
                </a:solidFill>
                <a:latin typeface="Calibri" pitchFamily="34" charset="0"/>
                <a:ea typeface="Calibri" pitchFamily="34" charset="-122"/>
                <a:cs typeface="Calibri" pitchFamily="34" charset="-120"/>
              </a:rPr>
              <a:t>Adaptive investigation</a:t>
            </a:r>
            <a:endParaRPr lang="en-US" sz="1563" dirty="0"/>
          </a:p>
        </p:txBody>
      </p:sp>
      <p:sp>
        <p:nvSpPr>
          <p:cNvPr id="55" name="Text 31">
            <a:extLst>
              <a:ext uri="{FF2B5EF4-FFF2-40B4-BE49-F238E27FC236}">
                <a16:creationId xmlns:a16="http://schemas.microsoft.com/office/drawing/2014/main" id="{C5EEF0DC-2025-80D4-F9DC-17D56F41480F}"/>
              </a:ext>
            </a:extLst>
          </p:cNvPr>
          <p:cNvSpPr txBox="1"/>
          <p:nvPr/>
        </p:nvSpPr>
        <p:spPr>
          <a:xfrm>
            <a:off x="7086599" y="7120891"/>
            <a:ext cx="2628900" cy="571500"/>
          </a:xfrm>
          <a:prstGeom prst="rect">
            <a:avLst/>
          </a:prstGeom>
          <a:noFill/>
          <a:ln/>
        </p:spPr>
        <p:txBody>
          <a:bodyPr wrap="square" lIns="0" tIns="0" rIns="0" bIns="0" rtlCol="0" anchor="ctr"/>
          <a:lstStyle/>
          <a:p>
            <a:pPr algn="ctr"/>
            <a:r>
              <a:rPr lang="en-US" sz="2000" b="1" dirty="0">
                <a:solidFill>
                  <a:srgbClr val="3E8E5A"/>
                </a:solidFill>
                <a:latin typeface="Calibri" pitchFamily="34" charset="0"/>
                <a:ea typeface="Calibri" pitchFamily="34" charset="-122"/>
                <a:cs typeface="Calibri" pitchFamily="34" charset="-120"/>
              </a:rPr>
              <a:t>✓</a:t>
            </a:r>
            <a:endParaRPr lang="en-US" sz="2000" dirty="0"/>
          </a:p>
        </p:txBody>
      </p:sp>
      <p:sp>
        <p:nvSpPr>
          <p:cNvPr id="56" name="Text 32">
            <a:extLst>
              <a:ext uri="{FF2B5EF4-FFF2-40B4-BE49-F238E27FC236}">
                <a16:creationId xmlns:a16="http://schemas.microsoft.com/office/drawing/2014/main" id="{B002B8F0-4B61-B2EF-F241-CC8FA591F926}"/>
              </a:ext>
            </a:extLst>
          </p:cNvPr>
          <p:cNvSpPr txBox="1"/>
          <p:nvPr/>
        </p:nvSpPr>
        <p:spPr>
          <a:xfrm>
            <a:off x="9715499" y="7120891"/>
            <a:ext cx="2628900" cy="571500"/>
          </a:xfrm>
          <a:prstGeom prst="rect">
            <a:avLst/>
          </a:prstGeom>
          <a:noFill/>
          <a:ln/>
        </p:spPr>
        <p:txBody>
          <a:bodyPr wrap="square" lIns="0" tIns="0" rIns="0" bIns="0" rtlCol="0" anchor="ctr"/>
          <a:lstStyle/>
          <a:p>
            <a:pPr algn="ctr"/>
            <a:r>
              <a:rPr lang="en-US" sz="2000" b="1" dirty="0">
                <a:solidFill>
                  <a:srgbClr val="C8452F"/>
                </a:solidFill>
                <a:latin typeface="Calibri" pitchFamily="34" charset="0"/>
                <a:ea typeface="Calibri" pitchFamily="34" charset="-122"/>
                <a:cs typeface="Calibri" pitchFamily="34" charset="-120"/>
              </a:rPr>
              <a:t>✗</a:t>
            </a:r>
            <a:endParaRPr lang="en-US" sz="2000" dirty="0"/>
          </a:p>
        </p:txBody>
      </p:sp>
      <p:sp>
        <p:nvSpPr>
          <p:cNvPr id="57" name="Text 33">
            <a:extLst>
              <a:ext uri="{FF2B5EF4-FFF2-40B4-BE49-F238E27FC236}">
                <a16:creationId xmlns:a16="http://schemas.microsoft.com/office/drawing/2014/main" id="{46DE2D17-604C-A661-B4DD-60C24AA9A0D0}"/>
              </a:ext>
            </a:extLst>
          </p:cNvPr>
          <p:cNvSpPr txBox="1"/>
          <p:nvPr/>
        </p:nvSpPr>
        <p:spPr>
          <a:xfrm>
            <a:off x="12344399" y="7120891"/>
            <a:ext cx="2628900" cy="571500"/>
          </a:xfrm>
          <a:prstGeom prst="rect">
            <a:avLst/>
          </a:prstGeom>
          <a:noFill/>
          <a:ln/>
        </p:spPr>
        <p:txBody>
          <a:bodyPr wrap="square" lIns="0" tIns="0" rIns="0" bIns="0" rtlCol="0" anchor="ctr"/>
          <a:lstStyle/>
          <a:p>
            <a:pPr algn="ctr"/>
            <a:r>
              <a:rPr lang="en-US" sz="2000" b="1" dirty="0">
                <a:solidFill>
                  <a:srgbClr val="3E8E5A"/>
                </a:solidFill>
                <a:latin typeface="Calibri" pitchFamily="34" charset="0"/>
                <a:ea typeface="Calibri" pitchFamily="34" charset="-122"/>
                <a:cs typeface="Calibri" pitchFamily="34" charset="-120"/>
              </a:rPr>
              <a:t>✓</a:t>
            </a:r>
            <a:endParaRPr lang="en-US" sz="2000" dirty="0"/>
          </a:p>
        </p:txBody>
      </p:sp>
      <p:sp>
        <p:nvSpPr>
          <p:cNvPr id="58" name="Text 34">
            <a:extLst>
              <a:ext uri="{FF2B5EF4-FFF2-40B4-BE49-F238E27FC236}">
                <a16:creationId xmlns:a16="http://schemas.microsoft.com/office/drawing/2014/main" id="{EF867E8D-8FFB-B59D-85DC-E5B6EB15A2A6}"/>
              </a:ext>
            </a:extLst>
          </p:cNvPr>
          <p:cNvSpPr txBox="1"/>
          <p:nvPr/>
        </p:nvSpPr>
        <p:spPr>
          <a:xfrm>
            <a:off x="685799" y="7692391"/>
            <a:ext cx="6400800" cy="571500"/>
          </a:xfrm>
          <a:prstGeom prst="rect">
            <a:avLst/>
          </a:prstGeom>
          <a:noFill/>
          <a:ln/>
        </p:spPr>
        <p:txBody>
          <a:bodyPr wrap="square" lIns="0" tIns="0" rIns="0" bIns="0" rtlCol="0" anchor="ctr"/>
          <a:lstStyle/>
          <a:p>
            <a:r>
              <a:rPr lang="en-US" sz="1563" dirty="0">
                <a:solidFill>
                  <a:srgbClr val="1C2430"/>
                </a:solidFill>
                <a:latin typeface="Calibri" pitchFamily="34" charset="0"/>
                <a:ea typeface="Calibri" pitchFamily="34" charset="-122"/>
                <a:cs typeface="Calibri" pitchFamily="34" charset="-120"/>
              </a:rPr>
              <a:t>Automated &amp; scalable</a:t>
            </a:r>
            <a:endParaRPr lang="en-US" sz="1563" dirty="0"/>
          </a:p>
        </p:txBody>
      </p:sp>
      <p:sp>
        <p:nvSpPr>
          <p:cNvPr id="59" name="Text 35">
            <a:extLst>
              <a:ext uri="{FF2B5EF4-FFF2-40B4-BE49-F238E27FC236}">
                <a16:creationId xmlns:a16="http://schemas.microsoft.com/office/drawing/2014/main" id="{FFEBA087-6204-6E11-6801-37C43E07D3CD}"/>
              </a:ext>
            </a:extLst>
          </p:cNvPr>
          <p:cNvSpPr txBox="1"/>
          <p:nvPr/>
        </p:nvSpPr>
        <p:spPr>
          <a:xfrm>
            <a:off x="7086599" y="7692391"/>
            <a:ext cx="2628900" cy="571500"/>
          </a:xfrm>
          <a:prstGeom prst="rect">
            <a:avLst/>
          </a:prstGeom>
          <a:noFill/>
          <a:ln/>
        </p:spPr>
        <p:txBody>
          <a:bodyPr wrap="square" lIns="0" tIns="0" rIns="0" bIns="0" rtlCol="0" anchor="ctr"/>
          <a:lstStyle/>
          <a:p>
            <a:pPr algn="ctr"/>
            <a:r>
              <a:rPr lang="en-US" sz="2000" b="1" dirty="0">
                <a:solidFill>
                  <a:srgbClr val="C8452F"/>
                </a:solidFill>
                <a:latin typeface="Calibri" pitchFamily="34" charset="0"/>
                <a:ea typeface="Calibri" pitchFamily="34" charset="-122"/>
                <a:cs typeface="Calibri" pitchFamily="34" charset="-120"/>
              </a:rPr>
              <a:t>✗</a:t>
            </a:r>
            <a:endParaRPr lang="en-US" sz="2000" dirty="0"/>
          </a:p>
        </p:txBody>
      </p:sp>
      <p:sp>
        <p:nvSpPr>
          <p:cNvPr id="60" name="Text 36">
            <a:extLst>
              <a:ext uri="{FF2B5EF4-FFF2-40B4-BE49-F238E27FC236}">
                <a16:creationId xmlns:a16="http://schemas.microsoft.com/office/drawing/2014/main" id="{AA96B4CD-9089-6349-B072-37072B47B1FB}"/>
              </a:ext>
            </a:extLst>
          </p:cNvPr>
          <p:cNvSpPr txBox="1"/>
          <p:nvPr/>
        </p:nvSpPr>
        <p:spPr>
          <a:xfrm>
            <a:off x="9715499" y="7692391"/>
            <a:ext cx="2628900" cy="571500"/>
          </a:xfrm>
          <a:prstGeom prst="rect">
            <a:avLst/>
          </a:prstGeom>
          <a:noFill/>
          <a:ln/>
        </p:spPr>
        <p:txBody>
          <a:bodyPr wrap="square" lIns="0" tIns="0" rIns="0" bIns="0" rtlCol="0" anchor="ctr"/>
          <a:lstStyle/>
          <a:p>
            <a:pPr algn="ctr"/>
            <a:r>
              <a:rPr lang="en-US" sz="2000" b="1" dirty="0">
                <a:solidFill>
                  <a:srgbClr val="3E8E5A"/>
                </a:solidFill>
                <a:latin typeface="Calibri" pitchFamily="34" charset="0"/>
                <a:ea typeface="Calibri" pitchFamily="34" charset="-122"/>
                <a:cs typeface="Calibri" pitchFamily="34" charset="-120"/>
              </a:rPr>
              <a:t>✓</a:t>
            </a:r>
            <a:endParaRPr lang="en-US" sz="2000" dirty="0"/>
          </a:p>
        </p:txBody>
      </p:sp>
      <p:sp>
        <p:nvSpPr>
          <p:cNvPr id="61" name="Text 37">
            <a:extLst>
              <a:ext uri="{FF2B5EF4-FFF2-40B4-BE49-F238E27FC236}">
                <a16:creationId xmlns:a16="http://schemas.microsoft.com/office/drawing/2014/main" id="{1B81807E-661C-8FAB-7C94-6A72C1D5AF0C}"/>
              </a:ext>
            </a:extLst>
          </p:cNvPr>
          <p:cNvSpPr txBox="1"/>
          <p:nvPr/>
        </p:nvSpPr>
        <p:spPr>
          <a:xfrm>
            <a:off x="12344399" y="7692391"/>
            <a:ext cx="2628900" cy="571500"/>
          </a:xfrm>
          <a:prstGeom prst="rect">
            <a:avLst/>
          </a:prstGeom>
          <a:noFill/>
          <a:ln/>
        </p:spPr>
        <p:txBody>
          <a:bodyPr wrap="square" lIns="0" tIns="0" rIns="0" bIns="0" rtlCol="0" anchor="ctr"/>
          <a:lstStyle/>
          <a:p>
            <a:pPr algn="ctr"/>
            <a:r>
              <a:rPr lang="en-US" sz="2000" b="1" dirty="0">
                <a:solidFill>
                  <a:srgbClr val="3E8E5A"/>
                </a:solidFill>
                <a:latin typeface="Calibri" pitchFamily="34" charset="0"/>
                <a:ea typeface="Calibri" pitchFamily="34" charset="-122"/>
                <a:cs typeface="Calibri" pitchFamily="34" charset="-120"/>
              </a:rPr>
              <a:t>✓</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title">
            <a:extLst>
              <a:ext uri="{FF2B5EF4-FFF2-40B4-BE49-F238E27FC236}">
                <a16:creationId xmlns:a16="http://schemas.microsoft.com/office/drawing/2014/main" id="{C1A5415E-38FF-434E-9A53-3B26FC61592B}"/>
              </a:ext>
            </a:extLst>
          </p:cNvPr>
          <p:cNvSpPr>
            <a:spLocks noGrp="1"/>
          </p:cNvSpPr>
          <p:nvPr/>
        </p:nvSpPr>
        <p:spPr>
          <a:xfrm>
            <a:off x="386953" y="424160"/>
            <a:ext cx="14466094" cy="863203"/>
          </a:xfrm>
          <a:prstGeom prst="rect">
            <a:avLst/>
          </a:prstGeom>
          <a:noFill/>
          <a:ln w="0">
            <a:noFill/>
          </a:ln>
        </p:spPr>
        <p:txBody>
          <a:bodyPr wrap="none" lIns="0" tIns="0" rIns="0" bIns="0" anchor="ctr">
            <a:noAutofit/>
          </a:bodyPr>
          <a:lstStyle/>
          <a:p>
            <a:pPr algn="l">
              <a:defRPr sz="4875" b="1">
                <a:solidFill>
                  <a:srgbClr val="2E5EAA"/>
                </a:solidFill>
                <a:latin typeface="DejaVu Sans"/>
                <a:ea typeface="DejaVu Sans"/>
                <a:cs typeface="DejaVu Sans"/>
              </a:defRPr>
            </a:pPr>
            <a:r>
              <a:rPr sz="3809" b="1">
                <a:solidFill>
                  <a:srgbClr val="2E5EAA"/>
                </a:solidFill>
                <a:latin typeface="DejaVu Sans"/>
                <a:ea typeface="DejaVu Sans"/>
                <a:cs typeface="DejaVu Sans"/>
              </a:rPr>
              <a:t>Challenges for Agentic Outage Analysis</a:t>
            </a:r>
          </a:p>
        </p:txBody>
      </p:sp>
      <p:sp>
        <p:nvSpPr>
          <p:cNvPr id="2" name="challenge-1">
            <a:extLst>
              <a:ext uri="{FF2B5EF4-FFF2-40B4-BE49-F238E27FC236}">
                <a16:creationId xmlns:a16="http://schemas.microsoft.com/office/drawing/2014/main" id="{6B784116-E4EB-434A-9B06-36EA73EC68BA}"/>
              </a:ext>
            </a:extLst>
          </p:cNvPr>
          <p:cNvSpPr>
            <a:spLocks noGrp="1"/>
          </p:cNvSpPr>
          <p:nvPr/>
        </p:nvSpPr>
        <p:spPr>
          <a:xfrm>
            <a:off x="491133" y="2024063"/>
            <a:ext cx="14361914" cy="863203"/>
          </a:xfrm>
          <a:prstGeom prst="rect">
            <a:avLst/>
          </a:prstGeom>
          <a:noFill/>
          <a:ln w="0">
            <a:noFill/>
          </a:ln>
        </p:spPr>
        <p:txBody>
          <a:bodyPr wrap="none" lIns="0" tIns="0" rIns="0" bIns="0" anchor="ctr">
            <a:noAutofit/>
          </a:bodyPr>
          <a:lstStyle/>
          <a:p>
            <a:pPr algn="l">
              <a:defRPr sz="3075" b="0">
                <a:solidFill>
                  <a:srgbClr val="111111"/>
                </a:solidFill>
                <a:latin typeface="Nimbus Sans"/>
                <a:ea typeface="Nimbus Sans"/>
                <a:cs typeface="Nimbus Sans"/>
              </a:defRPr>
            </a:pPr>
            <a:r>
              <a:rPr sz="2402">
                <a:solidFill>
                  <a:srgbClr val="111111"/>
                </a:solidFill>
                <a:latin typeface="Nimbus Sans"/>
                <a:ea typeface="Nimbus Sans"/>
                <a:cs typeface="Nimbus Sans"/>
              </a:rPr>
              <a:t>The agent must decide </a:t>
            </a:r>
            <a:r>
              <a:rPr sz="2402" b="1">
                <a:solidFill>
                  <a:srgbClr val="111111"/>
                </a:solidFill>
                <a:latin typeface="Nimbus Sans"/>
                <a:ea typeface="Nimbus Sans"/>
                <a:cs typeface="Nimbus Sans"/>
              </a:rPr>
              <a:t>what to investigate next</a:t>
            </a:r>
            <a:r>
              <a:rPr sz="2402">
                <a:solidFill>
                  <a:srgbClr val="111111"/>
                </a:solidFill>
                <a:latin typeface="Nimbus Sans"/>
                <a:ea typeface="Nimbus Sans"/>
                <a:cs typeface="Nimbus Sans"/>
              </a:rPr>
              <a:t> and </a:t>
            </a:r>
            <a:r>
              <a:rPr sz="2402" b="1">
                <a:solidFill>
                  <a:srgbClr val="111111"/>
                </a:solidFill>
                <a:latin typeface="Nimbus Sans"/>
                <a:ea typeface="Nimbus Sans"/>
                <a:cs typeface="Nimbus Sans"/>
              </a:rPr>
              <a:t>which actions to take</a:t>
            </a:r>
          </a:p>
          <a:p>
            <a:pPr algn="l">
              <a:defRPr sz="3075" b="0">
                <a:solidFill>
                  <a:srgbClr val="111111"/>
                </a:solidFill>
                <a:latin typeface="Nimbus Sans"/>
                <a:ea typeface="Nimbus Sans"/>
                <a:cs typeface="Nimbus Sans"/>
              </a:defRPr>
            </a:pPr>
            <a:r>
              <a:rPr sz="2402">
                <a:solidFill>
                  <a:srgbClr val="111111"/>
                </a:solidFill>
                <a:latin typeface="Nimbus Sans"/>
                <a:ea typeface="Nimbus Sans"/>
                <a:cs typeface="Nimbus Sans"/>
              </a:rPr>
              <a:t>based on partial evidence.</a:t>
            </a:r>
          </a:p>
        </p:txBody>
      </p:sp>
      <p:sp>
        <p:nvSpPr>
          <p:cNvPr id="3" name="challenge-2">
            <a:extLst>
              <a:ext uri="{FF2B5EF4-FFF2-40B4-BE49-F238E27FC236}">
                <a16:creationId xmlns:a16="http://schemas.microsoft.com/office/drawing/2014/main" id="{C13114F5-8BEC-4EE2-93FA-E4D41E585BCC}"/>
              </a:ext>
            </a:extLst>
          </p:cNvPr>
          <p:cNvSpPr>
            <a:spLocks noGrp="1"/>
          </p:cNvSpPr>
          <p:nvPr/>
        </p:nvSpPr>
        <p:spPr>
          <a:xfrm>
            <a:off x="491133" y="3341191"/>
            <a:ext cx="14361914" cy="863203"/>
          </a:xfrm>
          <a:prstGeom prst="rect">
            <a:avLst/>
          </a:prstGeom>
          <a:noFill/>
          <a:ln w="0">
            <a:noFill/>
          </a:ln>
        </p:spPr>
        <p:txBody>
          <a:bodyPr wrap="none" lIns="0" tIns="0" rIns="0" bIns="0" anchor="ctr">
            <a:noAutofit/>
          </a:bodyPr>
          <a:lstStyle/>
          <a:p>
            <a:pPr algn="l">
              <a:defRPr sz="3075" b="0">
                <a:solidFill>
                  <a:srgbClr val="111111"/>
                </a:solidFill>
                <a:latin typeface="Nimbus Sans"/>
                <a:ea typeface="Nimbus Sans"/>
                <a:cs typeface="Nimbus Sans"/>
              </a:defRPr>
            </a:pPr>
            <a:r>
              <a:rPr sz="2402">
                <a:solidFill>
                  <a:srgbClr val="111111"/>
                </a:solidFill>
                <a:latin typeface="Nimbus Sans"/>
                <a:ea typeface="Nimbus Sans"/>
                <a:cs typeface="Nimbus Sans"/>
              </a:rPr>
              <a:t>The agent must determine </a:t>
            </a:r>
            <a:r>
              <a:rPr sz="2402" b="1">
                <a:solidFill>
                  <a:srgbClr val="111111"/>
                </a:solidFill>
                <a:latin typeface="Nimbus Sans"/>
                <a:ea typeface="Nimbus Sans"/>
                <a:cs typeface="Nimbus Sans"/>
              </a:rPr>
              <a:t>when the available evidence is sufficient</a:t>
            </a:r>
          </a:p>
          <a:p>
            <a:pPr algn="l">
              <a:defRPr sz="3075" b="0">
                <a:solidFill>
                  <a:srgbClr val="111111"/>
                </a:solidFill>
                <a:latin typeface="Nimbus Sans"/>
                <a:ea typeface="Nimbus Sans"/>
                <a:cs typeface="Nimbus Sans"/>
              </a:defRPr>
            </a:pPr>
            <a:r>
              <a:rPr sz="2402">
                <a:solidFill>
                  <a:srgbClr val="111111"/>
                </a:solidFill>
                <a:latin typeface="Nimbus Sans"/>
                <a:ea typeface="Nimbus Sans"/>
                <a:cs typeface="Nimbus Sans"/>
              </a:rPr>
              <a:t>to stop the investigation.</a:t>
            </a:r>
          </a:p>
        </p:txBody>
      </p:sp>
      <p:sp>
        <p:nvSpPr>
          <p:cNvPr id="4" name="challenge-3">
            <a:extLst>
              <a:ext uri="{FF2B5EF4-FFF2-40B4-BE49-F238E27FC236}">
                <a16:creationId xmlns:a16="http://schemas.microsoft.com/office/drawing/2014/main" id="{235CC2C0-4E89-4B59-9E3E-D4AAEC08486D}"/>
              </a:ext>
            </a:extLst>
          </p:cNvPr>
          <p:cNvSpPr>
            <a:spLocks noGrp="1"/>
          </p:cNvSpPr>
          <p:nvPr/>
        </p:nvSpPr>
        <p:spPr>
          <a:xfrm>
            <a:off x="491133" y="4658320"/>
            <a:ext cx="14361914" cy="863203"/>
          </a:xfrm>
          <a:prstGeom prst="rect">
            <a:avLst/>
          </a:prstGeom>
          <a:noFill/>
          <a:ln w="0">
            <a:noFill/>
          </a:ln>
        </p:spPr>
        <p:txBody>
          <a:bodyPr wrap="none" lIns="0" tIns="0" rIns="0" bIns="0" anchor="ctr">
            <a:noAutofit/>
          </a:bodyPr>
          <a:lstStyle/>
          <a:p>
            <a:pPr algn="l">
              <a:defRPr sz="3075" b="0">
                <a:solidFill>
                  <a:srgbClr val="111111"/>
                </a:solidFill>
                <a:latin typeface="Nimbus Sans"/>
                <a:ea typeface="Nimbus Sans"/>
                <a:cs typeface="Nimbus Sans"/>
              </a:defRPr>
            </a:pPr>
            <a:r>
              <a:rPr sz="2402">
                <a:solidFill>
                  <a:srgbClr val="111111"/>
                </a:solidFill>
                <a:latin typeface="Nimbus Sans"/>
                <a:ea typeface="Nimbus Sans"/>
                <a:cs typeface="Nimbus Sans"/>
              </a:rPr>
              <a:t>During offline learning, the system must </a:t>
            </a:r>
            <a:r>
              <a:rPr sz="2402" b="1">
                <a:solidFill>
                  <a:srgbClr val="111111"/>
                </a:solidFill>
                <a:latin typeface="Nimbus Sans"/>
                <a:ea typeface="Nimbus Sans"/>
                <a:cs typeface="Nimbus Sans"/>
              </a:rPr>
              <a:t>identify which steps caused</a:t>
            </a:r>
          </a:p>
          <a:p>
            <a:pPr algn="l">
              <a:defRPr sz="3075" b="0">
                <a:solidFill>
                  <a:srgbClr val="111111"/>
                </a:solidFill>
                <a:latin typeface="Nimbus Sans"/>
                <a:ea typeface="Nimbus Sans"/>
                <a:cs typeface="Nimbus Sans"/>
              </a:defRPr>
            </a:pPr>
            <a:r>
              <a:rPr sz="2402" b="1">
                <a:solidFill>
                  <a:srgbClr val="111111"/>
                </a:solidFill>
                <a:latin typeface="Nimbus Sans"/>
                <a:ea typeface="Nimbus Sans"/>
                <a:cs typeface="Nimbus Sans"/>
              </a:rPr>
              <a:t>a trace to fail and why</a:t>
            </a:r>
            <a:r>
              <a:rPr sz="2402">
                <a:solidFill>
                  <a:srgbClr val="111111"/>
                </a:solidFill>
                <a:latin typeface="Nimbus Sans"/>
                <a:ea typeface="Nimbus Sans"/>
                <a:cs typeface="Nimbus Sans"/>
              </a:rPr>
              <a:t>.</a:t>
            </a:r>
          </a:p>
        </p:txBody>
      </p:sp>
      <p:sp>
        <p:nvSpPr>
          <p:cNvPr id="5" name="challenge-4">
            <a:extLst>
              <a:ext uri="{FF2B5EF4-FFF2-40B4-BE49-F238E27FC236}">
                <a16:creationId xmlns:a16="http://schemas.microsoft.com/office/drawing/2014/main" id="{E7A25B7E-335E-458E-9F4E-1F0787CF0D40}"/>
              </a:ext>
            </a:extLst>
          </p:cNvPr>
          <p:cNvSpPr>
            <a:spLocks noGrp="1"/>
          </p:cNvSpPr>
          <p:nvPr/>
        </p:nvSpPr>
        <p:spPr>
          <a:xfrm>
            <a:off x="491133" y="5975449"/>
            <a:ext cx="14361914" cy="863203"/>
          </a:xfrm>
          <a:prstGeom prst="rect">
            <a:avLst/>
          </a:prstGeom>
          <a:noFill/>
          <a:ln w="0">
            <a:noFill/>
          </a:ln>
        </p:spPr>
        <p:txBody>
          <a:bodyPr wrap="none" lIns="0" tIns="0" rIns="0" bIns="0" anchor="ctr">
            <a:noAutofit/>
          </a:bodyPr>
          <a:lstStyle/>
          <a:p>
            <a:pPr algn="l">
              <a:defRPr sz="3075" b="0">
                <a:solidFill>
                  <a:srgbClr val="111111"/>
                </a:solidFill>
                <a:latin typeface="Nimbus Sans"/>
                <a:ea typeface="Nimbus Sans"/>
                <a:cs typeface="Nimbus Sans"/>
              </a:defRPr>
            </a:pPr>
            <a:r>
              <a:rPr sz="2402">
                <a:solidFill>
                  <a:srgbClr val="111111"/>
                </a:solidFill>
                <a:latin typeface="Nimbus Sans"/>
                <a:ea typeface="Nimbus Sans"/>
                <a:cs typeface="Nimbus Sans"/>
              </a:rPr>
              <a:t>A </a:t>
            </a:r>
            <a:r>
              <a:rPr sz="2402" b="1">
                <a:solidFill>
                  <a:srgbClr val="111111"/>
                </a:solidFill>
                <a:latin typeface="Nimbus Sans"/>
                <a:ea typeface="Nimbus Sans"/>
                <a:cs typeface="Nimbus Sans"/>
              </a:rPr>
              <a:t>verification agent</a:t>
            </a:r>
            <a:r>
              <a:rPr sz="2402">
                <a:solidFill>
                  <a:srgbClr val="111111"/>
                </a:solidFill>
                <a:latin typeface="Nimbus Sans"/>
                <a:ea typeface="Nimbus Sans"/>
                <a:cs typeface="Nimbus Sans"/>
              </a:rPr>
              <a:t> must check </a:t>
            </a:r>
            <a:r>
              <a:rPr sz="2402" b="1">
                <a:solidFill>
                  <a:srgbClr val="111111"/>
                </a:solidFill>
                <a:latin typeface="Nimbus Sans"/>
                <a:ea typeface="Nimbus Sans"/>
                <a:cs typeface="Nimbus Sans"/>
              </a:rPr>
              <a:t>the validity of each step</a:t>
            </a:r>
            <a:r>
              <a:rPr sz="2402">
                <a:solidFill>
                  <a:srgbClr val="111111"/>
                </a:solidFill>
                <a:latin typeface="Nimbus Sans"/>
                <a:ea typeface="Nimbus Sans"/>
                <a:cs typeface="Nimbus Sans"/>
              </a:rPr>
              <a:t> and whether</a:t>
            </a:r>
          </a:p>
          <a:p>
            <a:pPr algn="l">
              <a:defRPr sz="3075" b="0">
                <a:solidFill>
                  <a:srgbClr val="111111"/>
                </a:solidFill>
                <a:latin typeface="Nimbus Sans"/>
                <a:ea typeface="Nimbus Sans"/>
                <a:cs typeface="Nimbus Sans"/>
              </a:defRPr>
            </a:pPr>
            <a:r>
              <a:rPr sz="2402" b="1">
                <a:solidFill>
                  <a:srgbClr val="111111"/>
                </a:solidFill>
                <a:latin typeface="Nimbus Sans"/>
                <a:ea typeface="Nimbus Sans"/>
                <a:cs typeface="Nimbus Sans"/>
              </a:rPr>
              <a:t>the evidence supports its conclusions</a:t>
            </a:r>
            <a:r>
              <a:rPr sz="2402">
                <a:solidFill>
                  <a:srgbClr val="111111"/>
                </a:solidFill>
                <a:latin typeface="Nimbus Sans"/>
                <a:ea typeface="Nimbus Sans"/>
                <a:cs typeface="Nimbus Sans"/>
              </a:rPr>
              <a:t>.</a:t>
            </a:r>
          </a:p>
        </p:txBody>
      </p:sp>
    </p:spTree>
    <p:extLst>
      <p:ext uri="{BB962C8B-B14F-4D97-AF65-F5344CB8AC3E}">
        <p14:creationId xmlns:p14="http://schemas.microsoft.com/office/powerpoint/2010/main" val="18390160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4" name="text-1">
            <a:extLst>
              <a:ext uri="{FF2B5EF4-FFF2-40B4-BE49-F238E27FC236}">
                <a16:creationId xmlns:a16="http://schemas.microsoft.com/office/drawing/2014/main" id="{220F8772-82AA-40AB-8C51-F27B5DD27C77}"/>
              </a:ext>
            </a:extLst>
          </p:cNvPr>
          <p:cNvSpPr>
            <a:spLocks noGrp="1"/>
          </p:cNvSpPr>
          <p:nvPr/>
        </p:nvSpPr>
        <p:spPr>
          <a:xfrm>
            <a:off x="552450" y="285750"/>
            <a:ext cx="13335000" cy="619125"/>
          </a:xfrm>
          <a:prstGeom prst="rect">
            <a:avLst/>
          </a:prstGeom>
          <a:noFill/>
          <a:ln w="0">
            <a:noFill/>
          </a:ln>
        </p:spPr>
        <p:txBody>
          <a:bodyPr wrap="none" lIns="0" tIns="0" rIns="0" bIns="0" anchor="ctr">
            <a:noAutofit/>
          </a:bodyPr>
          <a:lstStyle/>
          <a:p>
            <a:pPr algn="l">
              <a:defRPr sz="3225" b="1">
                <a:solidFill>
                  <a:srgbClr val="202124"/>
                </a:solidFill>
                <a:latin typeface="Nimbus Sans"/>
                <a:ea typeface="Nimbus Sans"/>
                <a:cs typeface="Nimbus Sans"/>
              </a:defRPr>
            </a:pPr>
            <a:r>
              <a:rPr sz="3225" b="1">
                <a:solidFill>
                  <a:srgbClr val="202124"/>
                </a:solidFill>
                <a:latin typeface="Nimbus Sans"/>
                <a:ea typeface="Nimbus Sans"/>
                <a:cs typeface="Nimbus Sans"/>
              </a:rPr>
              <a:t>Offline investigation loop</a:t>
            </a:r>
          </a:p>
        </p:txBody>
      </p:sp>
      <p:sp>
        <p:nvSpPr>
          <p:cNvPr id="2" name="text-2">
            <a:extLst>
              <a:ext uri="{FF2B5EF4-FFF2-40B4-BE49-F238E27FC236}">
                <a16:creationId xmlns:a16="http://schemas.microsoft.com/office/drawing/2014/main" id="{D3A371B2-C7CF-4E83-855E-F284758E6820}"/>
              </a:ext>
            </a:extLst>
          </p:cNvPr>
          <p:cNvSpPr>
            <a:spLocks noGrp="1"/>
          </p:cNvSpPr>
          <p:nvPr/>
        </p:nvSpPr>
        <p:spPr>
          <a:xfrm>
            <a:off x="14097000" y="352425"/>
            <a:ext cx="590550" cy="438150"/>
          </a:xfrm>
          <a:prstGeom prst="rect">
            <a:avLst/>
          </a:prstGeom>
          <a:noFill/>
          <a:ln w="0">
            <a:noFill/>
          </a:ln>
        </p:spPr>
        <p:txBody>
          <a:bodyPr wrap="none" lIns="0" tIns="0" rIns="0" bIns="0" anchor="ctr">
            <a:noAutofit/>
          </a:bodyPr>
          <a:lstStyle/>
          <a:p>
            <a:pPr algn="r">
              <a:defRPr sz="1800" b="0">
                <a:solidFill>
                  <a:srgbClr val="555B63"/>
                </a:solidFill>
                <a:latin typeface="Nimbus Sans"/>
                <a:ea typeface="Nimbus Sans"/>
                <a:cs typeface="Nimbus Sans"/>
              </a:defRPr>
            </a:pPr>
            <a:r>
              <a:rPr sz="1800" b="0">
                <a:solidFill>
                  <a:srgbClr val="555B63"/>
                </a:solidFill>
                <a:latin typeface="Nimbus Sans"/>
                <a:ea typeface="Nimbus Sans"/>
                <a:cs typeface="Nimbus Sans"/>
              </a:rPr>
              <a:t>01</a:t>
            </a:r>
          </a:p>
        </p:txBody>
      </p:sp>
      <p:sp>
        <p:nvSpPr>
          <p:cNvPr id="3" name="executor-boundary-3">
            <a:extLst>
              <a:ext uri="{FF2B5EF4-FFF2-40B4-BE49-F238E27FC236}">
                <a16:creationId xmlns:a16="http://schemas.microsoft.com/office/drawing/2014/main" id="{B9EB19ED-A6DE-426E-A1BE-0DAA48C8FCCC}"/>
              </a:ext>
            </a:extLst>
          </p:cNvPr>
          <p:cNvSpPr>
            <a:spLocks noGrp="1"/>
          </p:cNvSpPr>
          <p:nvPr/>
        </p:nvSpPr>
        <p:spPr>
          <a:xfrm>
            <a:off x="3667125" y="3095625"/>
            <a:ext cx="7191375" cy="2733675"/>
          </a:xfrm>
          <a:prstGeom prst="roundRect">
            <a:avLst>
              <a:gd name="adj" fmla="val 11847"/>
            </a:avLst>
          </a:prstGeom>
          <a:noFill/>
          <a:ln w="17145">
            <a:solidFill>
              <a:srgbClr val="35383D"/>
            </a:solidFill>
            <a:prstDash val="dash"/>
          </a:ln>
        </p:spPr>
        <p:txBody>
          <a:bodyPr/>
          <a:lstStyle/>
          <a:p>
            <a:endParaRPr lang="en-US"/>
          </a:p>
        </p:txBody>
      </p:sp>
      <p:sp>
        <p:nvSpPr>
          <p:cNvPr id="4" name="text-4">
            <a:extLst>
              <a:ext uri="{FF2B5EF4-FFF2-40B4-BE49-F238E27FC236}">
                <a16:creationId xmlns:a16="http://schemas.microsoft.com/office/drawing/2014/main" id="{950B11F8-AC71-4A4A-96B2-C57821F74C4C}"/>
              </a:ext>
            </a:extLst>
          </p:cNvPr>
          <p:cNvSpPr>
            <a:spLocks noGrp="1"/>
          </p:cNvSpPr>
          <p:nvPr/>
        </p:nvSpPr>
        <p:spPr>
          <a:xfrm>
            <a:off x="6048375" y="2886075"/>
            <a:ext cx="2476500" cy="390525"/>
          </a:xfrm>
          <a:prstGeom prst="rect">
            <a:avLst/>
          </a:prstGeom>
          <a:solidFill>
            <a:srgbClr val="FFFFFF"/>
          </a:solidFill>
          <a:ln w="0">
            <a:noFill/>
          </a:ln>
        </p:spPr>
        <p:txBody>
          <a:bodyPr wrap="none" lIns="0" tIns="0" rIns="0" bIns="0" anchor="ctr">
            <a:noAutofit/>
          </a:bodyPr>
          <a:lstStyle/>
          <a:p>
            <a:pPr algn="ctr">
              <a:defRPr sz="2175" b="1">
                <a:solidFill>
                  <a:srgbClr val="202124"/>
                </a:solidFill>
                <a:latin typeface="Nimbus Sans"/>
                <a:ea typeface="Nimbus Sans"/>
                <a:cs typeface="Nimbus Sans"/>
              </a:defRPr>
            </a:pPr>
            <a:r>
              <a:rPr sz="2175" b="1">
                <a:solidFill>
                  <a:srgbClr val="202124"/>
                </a:solidFill>
                <a:latin typeface="Nimbus Sans"/>
                <a:ea typeface="Nimbus Sans"/>
                <a:cs typeface="Nimbus Sans"/>
              </a:rPr>
              <a:t>Executor agent</a:t>
            </a:r>
          </a:p>
        </p:txBody>
      </p:sp>
      <p:sp>
        <p:nvSpPr>
          <p:cNvPr id="5" name="skill-library-5">
            <a:extLst>
              <a:ext uri="{FF2B5EF4-FFF2-40B4-BE49-F238E27FC236}">
                <a16:creationId xmlns:a16="http://schemas.microsoft.com/office/drawing/2014/main" id="{F5AE6097-4D3A-4AD6-9B7A-CA789F4F25F5}"/>
              </a:ext>
            </a:extLst>
          </p:cNvPr>
          <p:cNvSpPr>
            <a:spLocks noGrp="1"/>
          </p:cNvSpPr>
          <p:nvPr/>
        </p:nvSpPr>
        <p:spPr>
          <a:xfrm>
            <a:off x="3952875" y="1257300"/>
            <a:ext cx="6619875" cy="1028700"/>
          </a:xfrm>
          <a:prstGeom prst="roundRect">
            <a:avLst>
              <a:gd name="adj" fmla="val 20370"/>
            </a:avLst>
          </a:prstGeom>
          <a:solidFill>
            <a:srgbClr val="DFEDD5"/>
          </a:solidFill>
          <a:ln w="0">
            <a:noFill/>
          </a:ln>
        </p:spPr>
        <p:txBody>
          <a:bodyPr/>
          <a:lstStyle/>
          <a:p>
            <a:endParaRPr lang="en-US"/>
          </a:p>
        </p:txBody>
      </p:sp>
      <p:sp>
        <p:nvSpPr>
          <p:cNvPr id="6" name="text-6">
            <a:extLst>
              <a:ext uri="{FF2B5EF4-FFF2-40B4-BE49-F238E27FC236}">
                <a16:creationId xmlns:a16="http://schemas.microsoft.com/office/drawing/2014/main" id="{91B6D31A-0799-40C6-9EDC-B032E8DAAF2E}"/>
              </a:ext>
            </a:extLst>
          </p:cNvPr>
          <p:cNvSpPr>
            <a:spLocks noGrp="1"/>
          </p:cNvSpPr>
          <p:nvPr/>
        </p:nvSpPr>
        <p:spPr>
          <a:xfrm>
            <a:off x="4143375" y="1381125"/>
            <a:ext cx="6238875" cy="381000"/>
          </a:xfrm>
          <a:prstGeom prst="rect">
            <a:avLst/>
          </a:prstGeom>
          <a:noFill/>
          <a:ln w="0">
            <a:noFill/>
          </a:ln>
        </p:spPr>
        <p:txBody>
          <a:bodyPr wrap="none" lIns="0" tIns="0" rIns="0" bIns="0" anchor="ctr">
            <a:noAutofit/>
          </a:bodyPr>
          <a:lstStyle/>
          <a:p>
            <a:pPr algn="ctr">
              <a:defRPr sz="2400" b="1">
                <a:solidFill>
                  <a:srgbClr val="202124"/>
                </a:solidFill>
                <a:latin typeface="Nimbus Sans"/>
                <a:ea typeface="Nimbus Sans"/>
                <a:cs typeface="Nimbus Sans"/>
              </a:defRPr>
            </a:pPr>
            <a:r>
              <a:rPr sz="2400" b="1">
                <a:solidFill>
                  <a:srgbClr val="202124"/>
                </a:solidFill>
                <a:latin typeface="Nimbus Sans"/>
                <a:ea typeface="Nimbus Sans"/>
                <a:cs typeface="Nimbus Sans"/>
              </a:rPr>
              <a:t>Skill library</a:t>
            </a:r>
          </a:p>
        </p:txBody>
      </p:sp>
      <p:sp>
        <p:nvSpPr>
          <p:cNvPr id="7" name="text-7">
            <a:extLst>
              <a:ext uri="{FF2B5EF4-FFF2-40B4-BE49-F238E27FC236}">
                <a16:creationId xmlns:a16="http://schemas.microsoft.com/office/drawing/2014/main" id="{594D8CB7-22B7-4E3A-BEE8-313927470673}"/>
              </a:ext>
            </a:extLst>
          </p:cNvPr>
          <p:cNvSpPr>
            <a:spLocks noGrp="1"/>
          </p:cNvSpPr>
          <p:nvPr/>
        </p:nvSpPr>
        <p:spPr>
          <a:xfrm>
            <a:off x="4238625" y="1828800"/>
            <a:ext cx="1762125" cy="304800"/>
          </a:xfrm>
          <a:prstGeom prst="rect">
            <a:avLst/>
          </a:prstGeom>
          <a:noFill/>
          <a:ln w="0">
            <a:noFill/>
          </a:ln>
        </p:spPr>
        <p:txBody>
          <a:bodyPr wrap="none" lIns="0" tIns="0" rIns="0" bIns="0" anchor="ctr">
            <a:noAutofit/>
          </a:bodyPr>
          <a:lstStyle/>
          <a:p>
            <a:pPr algn="ctr">
              <a:defRPr sz="1725" b="0">
                <a:solidFill>
                  <a:srgbClr val="202124"/>
                </a:solidFill>
                <a:latin typeface="Nimbus Sans"/>
                <a:ea typeface="Nimbus Sans"/>
                <a:cs typeface="Nimbus Sans"/>
              </a:defRPr>
            </a:pPr>
            <a:r>
              <a:rPr sz="1725" b="0">
                <a:solidFill>
                  <a:srgbClr val="202124"/>
                </a:solidFill>
                <a:latin typeface="Nimbus Sans"/>
                <a:ea typeface="Nimbus Sans"/>
                <a:cs typeface="Nimbus Sans"/>
              </a:rPr>
              <a:t>Planning</a:t>
            </a:r>
          </a:p>
        </p:txBody>
      </p:sp>
      <p:sp>
        <p:nvSpPr>
          <p:cNvPr id="8" name="text-8">
            <a:extLst>
              <a:ext uri="{FF2B5EF4-FFF2-40B4-BE49-F238E27FC236}">
                <a16:creationId xmlns:a16="http://schemas.microsoft.com/office/drawing/2014/main" id="{2DAC841C-1E50-425E-AF75-4D6A34E409A3}"/>
              </a:ext>
            </a:extLst>
          </p:cNvPr>
          <p:cNvSpPr>
            <a:spLocks noGrp="1"/>
          </p:cNvSpPr>
          <p:nvPr/>
        </p:nvSpPr>
        <p:spPr>
          <a:xfrm>
            <a:off x="6334125" y="1828800"/>
            <a:ext cx="1762125" cy="304800"/>
          </a:xfrm>
          <a:prstGeom prst="rect">
            <a:avLst/>
          </a:prstGeom>
          <a:noFill/>
          <a:ln w="0">
            <a:noFill/>
          </a:ln>
        </p:spPr>
        <p:txBody>
          <a:bodyPr wrap="none" lIns="0" tIns="0" rIns="0" bIns="0" anchor="ctr">
            <a:noAutofit/>
          </a:bodyPr>
          <a:lstStyle/>
          <a:p>
            <a:pPr algn="ctr">
              <a:defRPr sz="1725" b="0">
                <a:solidFill>
                  <a:srgbClr val="202124"/>
                </a:solidFill>
                <a:latin typeface="Nimbus Sans"/>
                <a:ea typeface="Nimbus Sans"/>
                <a:cs typeface="Nimbus Sans"/>
              </a:defRPr>
            </a:pPr>
            <a:r>
              <a:rPr sz="1725" b="0">
                <a:solidFill>
                  <a:srgbClr val="202124"/>
                </a:solidFill>
                <a:latin typeface="Nimbus Sans"/>
                <a:ea typeface="Nimbus Sans"/>
                <a:cs typeface="Nimbus Sans"/>
              </a:rPr>
              <a:t>Functional</a:t>
            </a:r>
          </a:p>
        </p:txBody>
      </p:sp>
      <p:sp>
        <p:nvSpPr>
          <p:cNvPr id="9" name="text-9">
            <a:extLst>
              <a:ext uri="{FF2B5EF4-FFF2-40B4-BE49-F238E27FC236}">
                <a16:creationId xmlns:a16="http://schemas.microsoft.com/office/drawing/2014/main" id="{1345C59A-9640-4374-960D-F9D5490B33A1}"/>
              </a:ext>
            </a:extLst>
          </p:cNvPr>
          <p:cNvSpPr>
            <a:spLocks noGrp="1"/>
          </p:cNvSpPr>
          <p:nvPr/>
        </p:nvSpPr>
        <p:spPr>
          <a:xfrm>
            <a:off x="8429625" y="1828800"/>
            <a:ext cx="1762125" cy="304800"/>
          </a:xfrm>
          <a:prstGeom prst="rect">
            <a:avLst/>
          </a:prstGeom>
          <a:noFill/>
          <a:ln w="0">
            <a:noFill/>
          </a:ln>
        </p:spPr>
        <p:txBody>
          <a:bodyPr wrap="none" lIns="0" tIns="0" rIns="0" bIns="0" anchor="ctr">
            <a:noAutofit/>
          </a:bodyPr>
          <a:lstStyle/>
          <a:p>
            <a:pPr algn="ctr">
              <a:defRPr sz="1725" b="0">
                <a:solidFill>
                  <a:srgbClr val="202124"/>
                </a:solidFill>
                <a:latin typeface="Nimbus Sans"/>
                <a:ea typeface="Nimbus Sans"/>
                <a:cs typeface="Nimbus Sans"/>
              </a:defRPr>
            </a:pPr>
            <a:r>
              <a:rPr sz="1725" b="0">
                <a:solidFill>
                  <a:srgbClr val="202124"/>
                </a:solidFill>
                <a:latin typeface="Nimbus Sans"/>
                <a:ea typeface="Nimbus Sans"/>
                <a:cs typeface="Nimbus Sans"/>
              </a:rPr>
              <a:t>Atomic</a:t>
            </a:r>
          </a:p>
        </p:txBody>
      </p:sp>
      <p:sp>
        <p:nvSpPr>
          <p:cNvPr id="10" name="what-if-query-10">
            <a:extLst>
              <a:ext uri="{FF2B5EF4-FFF2-40B4-BE49-F238E27FC236}">
                <a16:creationId xmlns:a16="http://schemas.microsoft.com/office/drawing/2014/main" id="{541CEB3F-B63C-47F5-92F0-746C255A45AD}"/>
              </a:ext>
            </a:extLst>
          </p:cNvPr>
          <p:cNvSpPr>
            <a:spLocks noGrp="1"/>
          </p:cNvSpPr>
          <p:nvPr/>
        </p:nvSpPr>
        <p:spPr>
          <a:xfrm>
            <a:off x="571500" y="1428750"/>
            <a:ext cx="2667000" cy="1381125"/>
          </a:xfrm>
          <a:prstGeom prst="roundRect">
            <a:avLst>
              <a:gd name="adj" fmla="val 15172"/>
            </a:avLst>
          </a:prstGeom>
          <a:solidFill>
            <a:srgbClr val="F7CDAF"/>
          </a:solidFill>
          <a:ln w="0">
            <a:noFill/>
          </a:ln>
        </p:spPr>
        <p:txBody>
          <a:bodyPr/>
          <a:lstStyle/>
          <a:p>
            <a:endParaRPr lang="en-US"/>
          </a:p>
        </p:txBody>
      </p:sp>
      <p:sp>
        <p:nvSpPr>
          <p:cNvPr id="11" name="text-11">
            <a:extLst>
              <a:ext uri="{FF2B5EF4-FFF2-40B4-BE49-F238E27FC236}">
                <a16:creationId xmlns:a16="http://schemas.microsoft.com/office/drawing/2014/main" id="{9203FCA7-996B-4769-A27F-CAF9904E4224}"/>
              </a:ext>
            </a:extLst>
          </p:cNvPr>
          <p:cNvSpPr>
            <a:spLocks noGrp="1"/>
          </p:cNvSpPr>
          <p:nvPr/>
        </p:nvSpPr>
        <p:spPr>
          <a:xfrm>
            <a:off x="752475" y="1590675"/>
            <a:ext cx="2305050" cy="400050"/>
          </a:xfrm>
          <a:prstGeom prst="rect">
            <a:avLst/>
          </a:prstGeom>
          <a:noFill/>
          <a:ln w="0">
            <a:noFill/>
          </a:ln>
        </p:spPr>
        <p:txBody>
          <a:bodyPr wrap="none" lIns="0" tIns="0" rIns="0" bIns="0" anchor="ctr">
            <a:noAutofit/>
          </a:bodyPr>
          <a:lstStyle/>
          <a:p>
            <a:pPr algn="ctr">
              <a:defRPr sz="2400" b="1">
                <a:solidFill>
                  <a:srgbClr val="202124"/>
                </a:solidFill>
                <a:latin typeface="Nimbus Sans"/>
                <a:ea typeface="Nimbus Sans"/>
                <a:cs typeface="Nimbus Sans"/>
              </a:defRPr>
            </a:pPr>
            <a:r>
              <a:rPr sz="2400" b="1">
                <a:solidFill>
                  <a:srgbClr val="202124"/>
                </a:solidFill>
                <a:latin typeface="Nimbus Sans"/>
                <a:ea typeface="Nimbus Sans"/>
                <a:cs typeface="Nimbus Sans"/>
              </a:rPr>
              <a:t>What-if query</a:t>
            </a:r>
          </a:p>
        </p:txBody>
      </p:sp>
      <p:sp>
        <p:nvSpPr>
          <p:cNvPr id="12" name="text-12">
            <a:extLst>
              <a:ext uri="{FF2B5EF4-FFF2-40B4-BE49-F238E27FC236}">
                <a16:creationId xmlns:a16="http://schemas.microsoft.com/office/drawing/2014/main" id="{B0F8236D-87B4-4F04-8D27-AF79B17BDF7D}"/>
              </a:ext>
            </a:extLst>
          </p:cNvPr>
          <p:cNvSpPr>
            <a:spLocks noGrp="1"/>
          </p:cNvSpPr>
          <p:nvPr/>
        </p:nvSpPr>
        <p:spPr>
          <a:xfrm>
            <a:off x="762000" y="2095500"/>
            <a:ext cx="2286000" cy="285750"/>
          </a:xfrm>
          <a:prstGeom prst="rect">
            <a:avLst/>
          </a:prstGeom>
          <a:noFill/>
          <a:ln w="0">
            <a:noFill/>
          </a:ln>
        </p:spPr>
        <p:txBody>
          <a:bodyPr wrap="none" lIns="0" tIns="0" rIns="0" bIns="0" anchor="ctr">
            <a:noAutofit/>
          </a:bodyPr>
          <a:lstStyle/>
          <a:p>
            <a:pPr algn="ctr">
              <a:defRPr sz="1725" b="0">
                <a:solidFill>
                  <a:srgbClr val="202124"/>
                </a:solidFill>
                <a:latin typeface="Nimbus Sans"/>
                <a:ea typeface="Nimbus Sans"/>
                <a:cs typeface="Nimbus Sans"/>
              </a:defRPr>
            </a:pPr>
            <a:r>
              <a:rPr sz="1725" b="0" dirty="0">
                <a:solidFill>
                  <a:srgbClr val="202124"/>
                </a:solidFill>
                <a:latin typeface="Nimbus Sans"/>
                <a:ea typeface="Nimbus Sans"/>
                <a:cs typeface="Nimbus Sans"/>
              </a:rPr>
              <a:t>Cell ID</a:t>
            </a:r>
          </a:p>
        </p:txBody>
      </p:sp>
      <p:sp>
        <p:nvSpPr>
          <p:cNvPr id="13" name="text-13">
            <a:extLst>
              <a:ext uri="{FF2B5EF4-FFF2-40B4-BE49-F238E27FC236}">
                <a16:creationId xmlns:a16="http://schemas.microsoft.com/office/drawing/2014/main" id="{707A9F2E-21D3-4003-A6FD-344F5CC2E08F}"/>
              </a:ext>
            </a:extLst>
          </p:cNvPr>
          <p:cNvSpPr>
            <a:spLocks noGrp="1"/>
          </p:cNvSpPr>
          <p:nvPr/>
        </p:nvSpPr>
        <p:spPr>
          <a:xfrm>
            <a:off x="762000" y="2381250"/>
            <a:ext cx="2286000" cy="285750"/>
          </a:xfrm>
          <a:prstGeom prst="rect">
            <a:avLst/>
          </a:prstGeom>
          <a:noFill/>
          <a:ln w="0">
            <a:noFill/>
          </a:ln>
        </p:spPr>
        <p:txBody>
          <a:bodyPr wrap="none" lIns="0" tIns="0" rIns="0" bIns="0" anchor="ctr">
            <a:noAutofit/>
          </a:bodyPr>
          <a:lstStyle/>
          <a:p>
            <a:pPr algn="ctr">
              <a:defRPr sz="1725" b="0">
                <a:solidFill>
                  <a:srgbClr val="202124"/>
                </a:solidFill>
                <a:latin typeface="Nimbus Sans"/>
                <a:ea typeface="Nimbus Sans"/>
                <a:cs typeface="Nimbus Sans"/>
              </a:defRPr>
            </a:pPr>
            <a:r>
              <a:rPr sz="1725" b="0">
                <a:solidFill>
                  <a:srgbClr val="202124"/>
                </a:solidFill>
                <a:latin typeface="Nimbus Sans"/>
                <a:ea typeface="Nimbus Sans"/>
                <a:cs typeface="Nimbus Sans"/>
              </a:rPr>
              <a:t>Outage time window</a:t>
            </a:r>
          </a:p>
        </p:txBody>
      </p:sp>
      <p:sp>
        <p:nvSpPr>
          <p:cNvPr id="14" name="investigation-state-14">
            <a:extLst>
              <a:ext uri="{FF2B5EF4-FFF2-40B4-BE49-F238E27FC236}">
                <a16:creationId xmlns:a16="http://schemas.microsoft.com/office/drawing/2014/main" id="{CF7E5297-92D0-4E1A-973E-A183982E8959}"/>
              </a:ext>
            </a:extLst>
          </p:cNvPr>
          <p:cNvSpPr>
            <a:spLocks noGrp="1"/>
          </p:cNvSpPr>
          <p:nvPr/>
        </p:nvSpPr>
        <p:spPr>
          <a:xfrm>
            <a:off x="571500" y="3448050"/>
            <a:ext cx="2667000" cy="2362200"/>
          </a:xfrm>
          <a:prstGeom prst="roundRect">
            <a:avLst>
              <a:gd name="adj" fmla="val 8871"/>
            </a:avLst>
          </a:prstGeom>
          <a:solidFill>
            <a:srgbClr val="DEDFE1"/>
          </a:solidFill>
          <a:ln w="0">
            <a:noFill/>
          </a:ln>
        </p:spPr>
        <p:txBody>
          <a:bodyPr/>
          <a:lstStyle/>
          <a:p>
            <a:endParaRPr lang="en-US"/>
          </a:p>
        </p:txBody>
      </p:sp>
      <p:sp>
        <p:nvSpPr>
          <p:cNvPr id="15" name="text-15">
            <a:extLst>
              <a:ext uri="{FF2B5EF4-FFF2-40B4-BE49-F238E27FC236}">
                <a16:creationId xmlns:a16="http://schemas.microsoft.com/office/drawing/2014/main" id="{27293B96-3DF9-448C-B07D-C2B21F18CF8A}"/>
              </a:ext>
            </a:extLst>
          </p:cNvPr>
          <p:cNvSpPr>
            <a:spLocks noGrp="1"/>
          </p:cNvSpPr>
          <p:nvPr/>
        </p:nvSpPr>
        <p:spPr>
          <a:xfrm>
            <a:off x="723900" y="3609975"/>
            <a:ext cx="2362200" cy="381000"/>
          </a:xfrm>
          <a:prstGeom prst="rect">
            <a:avLst/>
          </a:prstGeom>
          <a:noFill/>
          <a:ln w="0">
            <a:noFill/>
          </a:ln>
        </p:spPr>
        <p:txBody>
          <a:bodyPr wrap="none" lIns="0" tIns="0" rIns="0" bIns="0" anchor="ctr">
            <a:noAutofit/>
          </a:bodyPr>
          <a:lstStyle/>
          <a:p>
            <a:pPr algn="ctr">
              <a:defRPr sz="2025" b="1">
                <a:solidFill>
                  <a:srgbClr val="202124"/>
                </a:solidFill>
                <a:latin typeface="Nimbus Sans"/>
                <a:ea typeface="Nimbus Sans"/>
                <a:cs typeface="Nimbus Sans"/>
              </a:defRPr>
            </a:pPr>
            <a:r>
              <a:rPr lang="en-US" b="1" dirty="0">
                <a:solidFill>
                  <a:srgbClr val="202124"/>
                </a:solidFill>
                <a:latin typeface="Nimbus Sans"/>
                <a:ea typeface="Nimbus Sans"/>
                <a:cs typeface="Nimbus Sans"/>
              </a:rPr>
              <a:t>Investigation Context</a:t>
            </a:r>
            <a:endParaRPr b="1" dirty="0">
              <a:solidFill>
                <a:srgbClr val="202124"/>
              </a:solidFill>
              <a:latin typeface="Nimbus Sans"/>
              <a:ea typeface="Nimbus Sans"/>
              <a:cs typeface="Nimbus Sans"/>
            </a:endParaRPr>
          </a:p>
        </p:txBody>
      </p:sp>
      <p:sp>
        <p:nvSpPr>
          <p:cNvPr id="17" name="text-17">
            <a:extLst>
              <a:ext uri="{FF2B5EF4-FFF2-40B4-BE49-F238E27FC236}">
                <a16:creationId xmlns:a16="http://schemas.microsoft.com/office/drawing/2014/main" id="{CF5855DE-BB11-4E64-835E-955C316C56B7}"/>
              </a:ext>
            </a:extLst>
          </p:cNvPr>
          <p:cNvSpPr>
            <a:spLocks noGrp="1"/>
          </p:cNvSpPr>
          <p:nvPr/>
        </p:nvSpPr>
        <p:spPr>
          <a:xfrm>
            <a:off x="862013" y="4031420"/>
            <a:ext cx="2286000" cy="333375"/>
          </a:xfrm>
          <a:prstGeom prst="rect">
            <a:avLst/>
          </a:prstGeom>
          <a:noFill/>
          <a:ln w="0">
            <a:noFill/>
          </a:ln>
        </p:spPr>
        <p:txBody>
          <a:bodyPr wrap="none" lIns="0" tIns="0" rIns="0" bIns="0" anchor="ctr">
            <a:noAutofit/>
          </a:bodyPr>
          <a:lstStyle/>
          <a:p>
            <a:pPr algn="ctr">
              <a:defRPr sz="1613" b="0">
                <a:solidFill>
                  <a:srgbClr val="202124"/>
                </a:solidFill>
                <a:latin typeface="Nimbus Sans"/>
                <a:ea typeface="Nimbus Sans"/>
                <a:cs typeface="Nimbus Sans"/>
              </a:defRPr>
            </a:pPr>
            <a:r>
              <a:rPr sz="1700" b="0" dirty="0">
                <a:solidFill>
                  <a:srgbClr val="202124"/>
                </a:solidFill>
                <a:latin typeface="Nimbus Sans"/>
                <a:ea typeface="Nimbus Sans"/>
                <a:cs typeface="Nimbus Sans"/>
              </a:rPr>
              <a:t>Evidence with sources</a:t>
            </a:r>
          </a:p>
        </p:txBody>
      </p:sp>
      <p:sp>
        <p:nvSpPr>
          <p:cNvPr id="18" name="text-18">
            <a:extLst>
              <a:ext uri="{FF2B5EF4-FFF2-40B4-BE49-F238E27FC236}">
                <a16:creationId xmlns:a16="http://schemas.microsoft.com/office/drawing/2014/main" id="{6AF4FE26-4D02-436A-9475-B73CE0EF8186}"/>
              </a:ext>
            </a:extLst>
          </p:cNvPr>
          <p:cNvSpPr>
            <a:spLocks noGrp="1"/>
          </p:cNvSpPr>
          <p:nvPr/>
        </p:nvSpPr>
        <p:spPr>
          <a:xfrm>
            <a:off x="862013" y="4364795"/>
            <a:ext cx="2286000" cy="333375"/>
          </a:xfrm>
          <a:prstGeom prst="rect">
            <a:avLst/>
          </a:prstGeom>
          <a:noFill/>
          <a:ln w="0">
            <a:noFill/>
          </a:ln>
        </p:spPr>
        <p:txBody>
          <a:bodyPr wrap="none" lIns="0" tIns="0" rIns="0" bIns="0" anchor="ctr">
            <a:noAutofit/>
          </a:bodyPr>
          <a:lstStyle/>
          <a:p>
            <a:pPr algn="ctr">
              <a:defRPr sz="1613" b="0">
                <a:solidFill>
                  <a:srgbClr val="202124"/>
                </a:solidFill>
                <a:latin typeface="Nimbus Sans"/>
                <a:ea typeface="Nimbus Sans"/>
                <a:cs typeface="Nimbus Sans"/>
              </a:defRPr>
            </a:pPr>
            <a:r>
              <a:rPr lang="en-US" sz="1600" dirty="0">
                <a:solidFill>
                  <a:srgbClr val="202124"/>
                </a:solidFill>
                <a:latin typeface="Nimbus Sans"/>
                <a:ea typeface="Nimbus Sans"/>
                <a:cs typeface="Nimbus Sans"/>
              </a:rPr>
              <a:t>Query Coverage</a:t>
            </a:r>
            <a:endParaRPr sz="1600" b="0" dirty="0">
              <a:solidFill>
                <a:srgbClr val="202124"/>
              </a:solidFill>
              <a:latin typeface="Nimbus Sans"/>
              <a:ea typeface="Nimbus Sans"/>
              <a:cs typeface="Nimbus Sans"/>
            </a:endParaRPr>
          </a:p>
        </p:txBody>
      </p:sp>
      <p:sp>
        <p:nvSpPr>
          <p:cNvPr id="20" name="next-goal-20">
            <a:extLst>
              <a:ext uri="{FF2B5EF4-FFF2-40B4-BE49-F238E27FC236}">
                <a16:creationId xmlns:a16="http://schemas.microsoft.com/office/drawing/2014/main" id="{E0C1EC19-7B9F-433C-8CAD-82547152A4BA}"/>
              </a:ext>
            </a:extLst>
          </p:cNvPr>
          <p:cNvSpPr>
            <a:spLocks noGrp="1"/>
          </p:cNvSpPr>
          <p:nvPr/>
        </p:nvSpPr>
        <p:spPr>
          <a:xfrm>
            <a:off x="3952875" y="3476625"/>
            <a:ext cx="2857500" cy="1724025"/>
          </a:xfrm>
          <a:prstGeom prst="roundRect">
            <a:avLst>
              <a:gd name="adj" fmla="val 12155"/>
            </a:avLst>
          </a:prstGeom>
          <a:solidFill>
            <a:srgbClr val="B8CAE7"/>
          </a:solidFill>
          <a:ln w="0">
            <a:noFill/>
          </a:ln>
        </p:spPr>
        <p:txBody>
          <a:bodyPr/>
          <a:lstStyle/>
          <a:p>
            <a:endParaRPr lang="en-US"/>
          </a:p>
        </p:txBody>
      </p:sp>
      <p:sp>
        <p:nvSpPr>
          <p:cNvPr id="21" name="text-21">
            <a:extLst>
              <a:ext uri="{FF2B5EF4-FFF2-40B4-BE49-F238E27FC236}">
                <a16:creationId xmlns:a16="http://schemas.microsoft.com/office/drawing/2014/main" id="{922F162B-E979-4174-ACC7-25D009104E0E}"/>
              </a:ext>
            </a:extLst>
          </p:cNvPr>
          <p:cNvSpPr>
            <a:spLocks noGrp="1"/>
          </p:cNvSpPr>
          <p:nvPr/>
        </p:nvSpPr>
        <p:spPr>
          <a:xfrm>
            <a:off x="4124325" y="3619500"/>
            <a:ext cx="2514600" cy="333375"/>
          </a:xfrm>
          <a:prstGeom prst="rect">
            <a:avLst/>
          </a:prstGeom>
          <a:noFill/>
          <a:ln w="0">
            <a:noFill/>
          </a:ln>
        </p:spPr>
        <p:txBody>
          <a:bodyPr wrap="none" lIns="0" tIns="0" rIns="0" bIns="0" anchor="ctr">
            <a:noAutofit/>
          </a:bodyPr>
          <a:lstStyle/>
          <a:p>
            <a:pPr algn="ctr">
              <a:defRPr sz="2175" b="0">
                <a:solidFill>
                  <a:srgbClr val="202124"/>
                </a:solidFill>
                <a:latin typeface="Nimbus Sans"/>
                <a:ea typeface="Nimbus Sans"/>
                <a:cs typeface="Nimbus Sans"/>
              </a:defRPr>
            </a:pPr>
            <a:r>
              <a:rPr sz="2175" b="0">
                <a:solidFill>
                  <a:srgbClr val="202124"/>
                </a:solidFill>
                <a:latin typeface="Nimbus Sans"/>
                <a:ea typeface="Nimbus Sans"/>
                <a:cs typeface="Nimbus Sans"/>
              </a:rPr>
              <a:t>Choose the next</a:t>
            </a:r>
          </a:p>
        </p:txBody>
      </p:sp>
      <p:sp>
        <p:nvSpPr>
          <p:cNvPr id="22" name="text-22">
            <a:extLst>
              <a:ext uri="{FF2B5EF4-FFF2-40B4-BE49-F238E27FC236}">
                <a16:creationId xmlns:a16="http://schemas.microsoft.com/office/drawing/2014/main" id="{327E4C46-4CD0-4F56-B877-C4F30B5BF4B1}"/>
              </a:ext>
            </a:extLst>
          </p:cNvPr>
          <p:cNvSpPr>
            <a:spLocks noGrp="1"/>
          </p:cNvSpPr>
          <p:nvPr/>
        </p:nvSpPr>
        <p:spPr>
          <a:xfrm>
            <a:off x="4124325" y="3952875"/>
            <a:ext cx="2514600" cy="333375"/>
          </a:xfrm>
          <a:prstGeom prst="rect">
            <a:avLst/>
          </a:prstGeom>
          <a:noFill/>
          <a:ln w="0">
            <a:noFill/>
          </a:ln>
        </p:spPr>
        <p:txBody>
          <a:bodyPr wrap="none" lIns="0" tIns="0" rIns="0" bIns="0" anchor="ctr">
            <a:noAutofit/>
          </a:bodyPr>
          <a:lstStyle/>
          <a:p>
            <a:pPr algn="ctr">
              <a:defRPr sz="2175" b="0">
                <a:solidFill>
                  <a:srgbClr val="202124"/>
                </a:solidFill>
                <a:latin typeface="Nimbus Sans"/>
                <a:ea typeface="Nimbus Sans"/>
                <a:cs typeface="Nimbus Sans"/>
              </a:defRPr>
            </a:pPr>
            <a:r>
              <a:rPr sz="2175" b="0">
                <a:solidFill>
                  <a:srgbClr val="202124"/>
                </a:solidFill>
                <a:latin typeface="Nimbus Sans"/>
                <a:ea typeface="Nimbus Sans"/>
                <a:cs typeface="Nimbus Sans"/>
              </a:rPr>
              <a:t>investigation goal</a:t>
            </a:r>
          </a:p>
        </p:txBody>
      </p:sp>
      <p:sp>
        <p:nvSpPr>
          <p:cNvPr id="23" name="text-23">
            <a:extLst>
              <a:ext uri="{FF2B5EF4-FFF2-40B4-BE49-F238E27FC236}">
                <a16:creationId xmlns:a16="http://schemas.microsoft.com/office/drawing/2014/main" id="{97679D34-58E1-470A-9186-7C68615FE66E}"/>
              </a:ext>
            </a:extLst>
          </p:cNvPr>
          <p:cNvSpPr>
            <a:spLocks noGrp="1"/>
          </p:cNvSpPr>
          <p:nvPr/>
        </p:nvSpPr>
        <p:spPr>
          <a:xfrm>
            <a:off x="4133777" y="4343400"/>
            <a:ext cx="2476500" cy="276225"/>
          </a:xfrm>
          <a:prstGeom prst="rect">
            <a:avLst/>
          </a:prstGeom>
          <a:noFill/>
          <a:ln w="0">
            <a:noFill/>
          </a:ln>
        </p:spPr>
        <p:txBody>
          <a:bodyPr wrap="none" lIns="0" tIns="0" rIns="0" bIns="0" anchor="ctr">
            <a:noAutofit/>
          </a:bodyPr>
          <a:lstStyle/>
          <a:p>
            <a:pPr algn="ctr">
              <a:defRPr sz="1725" b="0">
                <a:solidFill>
                  <a:srgbClr val="202124"/>
                </a:solidFill>
                <a:latin typeface="Nimbus Sans"/>
                <a:ea typeface="Nimbus Sans"/>
                <a:cs typeface="Nimbus Sans"/>
              </a:defRPr>
            </a:pPr>
            <a:r>
              <a:rPr sz="1725" b="0" dirty="0">
                <a:solidFill>
                  <a:srgbClr val="202124"/>
                </a:solidFill>
                <a:latin typeface="Nimbus Sans"/>
                <a:ea typeface="Nimbus Sans"/>
                <a:cs typeface="Nimbus Sans"/>
              </a:rPr>
              <a:t>LLM identifies what</a:t>
            </a:r>
          </a:p>
        </p:txBody>
      </p:sp>
      <p:sp>
        <p:nvSpPr>
          <p:cNvPr id="24" name="text-24">
            <a:extLst>
              <a:ext uri="{FF2B5EF4-FFF2-40B4-BE49-F238E27FC236}">
                <a16:creationId xmlns:a16="http://schemas.microsoft.com/office/drawing/2014/main" id="{17BD228A-B84A-48B6-898F-545FBD805FAB}"/>
              </a:ext>
            </a:extLst>
          </p:cNvPr>
          <p:cNvSpPr>
            <a:spLocks noGrp="1"/>
          </p:cNvSpPr>
          <p:nvPr/>
        </p:nvSpPr>
        <p:spPr>
          <a:xfrm>
            <a:off x="4133777" y="4619625"/>
            <a:ext cx="2476500" cy="276225"/>
          </a:xfrm>
          <a:prstGeom prst="rect">
            <a:avLst/>
          </a:prstGeom>
          <a:noFill/>
          <a:ln w="0">
            <a:noFill/>
          </a:ln>
        </p:spPr>
        <p:txBody>
          <a:bodyPr wrap="none" lIns="0" tIns="0" rIns="0" bIns="0" anchor="ctr">
            <a:noAutofit/>
          </a:bodyPr>
          <a:lstStyle/>
          <a:p>
            <a:pPr algn="ctr">
              <a:defRPr sz="1725" b="0">
                <a:solidFill>
                  <a:srgbClr val="202124"/>
                </a:solidFill>
                <a:latin typeface="Nimbus Sans"/>
                <a:ea typeface="Nimbus Sans"/>
                <a:cs typeface="Nimbus Sans"/>
              </a:defRPr>
            </a:pPr>
            <a:r>
              <a:rPr sz="1725" b="0" dirty="0">
                <a:solidFill>
                  <a:srgbClr val="202124"/>
                </a:solidFill>
                <a:latin typeface="Nimbus Sans"/>
                <a:ea typeface="Nimbus Sans"/>
                <a:cs typeface="Nimbus Sans"/>
              </a:rPr>
              <a:t>to learn next</a:t>
            </a:r>
          </a:p>
        </p:txBody>
      </p:sp>
      <p:sp>
        <p:nvSpPr>
          <p:cNvPr id="25" name="next-action-25">
            <a:extLst>
              <a:ext uri="{FF2B5EF4-FFF2-40B4-BE49-F238E27FC236}">
                <a16:creationId xmlns:a16="http://schemas.microsoft.com/office/drawing/2014/main" id="{85633981-92D0-4A7D-8AAB-EADC43D20958}"/>
              </a:ext>
            </a:extLst>
          </p:cNvPr>
          <p:cNvSpPr>
            <a:spLocks noGrp="1"/>
          </p:cNvSpPr>
          <p:nvPr/>
        </p:nvSpPr>
        <p:spPr>
          <a:xfrm>
            <a:off x="7667625" y="3476625"/>
            <a:ext cx="2905125" cy="1724025"/>
          </a:xfrm>
          <a:prstGeom prst="roundRect">
            <a:avLst>
              <a:gd name="adj" fmla="val 12155"/>
            </a:avLst>
          </a:prstGeom>
          <a:solidFill>
            <a:srgbClr val="B8CAE7"/>
          </a:solidFill>
          <a:ln w="0">
            <a:noFill/>
          </a:ln>
        </p:spPr>
        <p:txBody>
          <a:bodyPr/>
          <a:lstStyle/>
          <a:p>
            <a:endParaRPr lang="en-US"/>
          </a:p>
        </p:txBody>
      </p:sp>
      <p:sp>
        <p:nvSpPr>
          <p:cNvPr id="26" name="text-26">
            <a:extLst>
              <a:ext uri="{FF2B5EF4-FFF2-40B4-BE49-F238E27FC236}">
                <a16:creationId xmlns:a16="http://schemas.microsoft.com/office/drawing/2014/main" id="{9B93AF1B-7C97-4561-BE2F-2F5E9B7CE100}"/>
              </a:ext>
            </a:extLst>
          </p:cNvPr>
          <p:cNvSpPr>
            <a:spLocks noGrp="1"/>
          </p:cNvSpPr>
          <p:nvPr/>
        </p:nvSpPr>
        <p:spPr>
          <a:xfrm>
            <a:off x="7829550" y="3619500"/>
            <a:ext cx="2581275" cy="333375"/>
          </a:xfrm>
          <a:prstGeom prst="rect">
            <a:avLst/>
          </a:prstGeom>
          <a:noFill/>
          <a:ln w="0">
            <a:noFill/>
          </a:ln>
        </p:spPr>
        <p:txBody>
          <a:bodyPr wrap="none" lIns="0" tIns="0" rIns="0" bIns="0" anchor="ctr">
            <a:noAutofit/>
          </a:bodyPr>
          <a:lstStyle/>
          <a:p>
            <a:pPr algn="ctr">
              <a:defRPr sz="2025" b="0">
                <a:solidFill>
                  <a:srgbClr val="202124"/>
                </a:solidFill>
                <a:latin typeface="Nimbus Sans"/>
                <a:ea typeface="Nimbus Sans"/>
                <a:cs typeface="Nimbus Sans"/>
              </a:defRPr>
            </a:pPr>
            <a:r>
              <a:rPr sz="2025" b="0">
                <a:solidFill>
                  <a:srgbClr val="202124"/>
                </a:solidFill>
                <a:latin typeface="Nimbus Sans"/>
                <a:ea typeface="Nimbus Sans"/>
                <a:cs typeface="Nimbus Sans"/>
              </a:rPr>
              <a:t>Choose the next action</a:t>
            </a:r>
          </a:p>
        </p:txBody>
      </p:sp>
      <p:sp>
        <p:nvSpPr>
          <p:cNvPr id="27" name="text-27">
            <a:extLst>
              <a:ext uri="{FF2B5EF4-FFF2-40B4-BE49-F238E27FC236}">
                <a16:creationId xmlns:a16="http://schemas.microsoft.com/office/drawing/2014/main" id="{E0BE1C03-DE8A-4F0C-B884-AE3A9A18A389}"/>
              </a:ext>
            </a:extLst>
          </p:cNvPr>
          <p:cNvSpPr>
            <a:spLocks noGrp="1"/>
          </p:cNvSpPr>
          <p:nvPr/>
        </p:nvSpPr>
        <p:spPr>
          <a:xfrm>
            <a:off x="7829550" y="3952875"/>
            <a:ext cx="2581275" cy="333375"/>
          </a:xfrm>
          <a:prstGeom prst="rect">
            <a:avLst/>
          </a:prstGeom>
          <a:noFill/>
          <a:ln w="0">
            <a:noFill/>
          </a:ln>
        </p:spPr>
        <p:txBody>
          <a:bodyPr wrap="none" lIns="0" tIns="0" rIns="0" bIns="0" anchor="ctr">
            <a:noAutofit/>
          </a:bodyPr>
          <a:lstStyle/>
          <a:p>
            <a:pPr algn="ctr">
              <a:defRPr sz="2025" b="0">
                <a:solidFill>
                  <a:srgbClr val="202124"/>
                </a:solidFill>
                <a:latin typeface="Nimbus Sans"/>
                <a:ea typeface="Nimbus Sans"/>
                <a:cs typeface="Nimbus Sans"/>
              </a:defRPr>
            </a:pPr>
            <a:r>
              <a:rPr sz="2025" b="0">
                <a:solidFill>
                  <a:srgbClr val="202124"/>
                </a:solidFill>
                <a:latin typeface="Nimbus Sans"/>
                <a:ea typeface="Nimbus Sans"/>
                <a:cs typeface="Nimbus Sans"/>
              </a:rPr>
              <a:t>using retrieved skills</a:t>
            </a:r>
          </a:p>
        </p:txBody>
      </p:sp>
      <p:sp>
        <p:nvSpPr>
          <p:cNvPr id="28" name="text-28">
            <a:extLst>
              <a:ext uri="{FF2B5EF4-FFF2-40B4-BE49-F238E27FC236}">
                <a16:creationId xmlns:a16="http://schemas.microsoft.com/office/drawing/2014/main" id="{55F0DDA3-AE83-4CE7-9610-4BAC67E60741}"/>
              </a:ext>
            </a:extLst>
          </p:cNvPr>
          <p:cNvSpPr>
            <a:spLocks noGrp="1"/>
          </p:cNvSpPr>
          <p:nvPr/>
        </p:nvSpPr>
        <p:spPr>
          <a:xfrm>
            <a:off x="7810499" y="4538662"/>
            <a:ext cx="2619375" cy="276225"/>
          </a:xfrm>
          <a:prstGeom prst="rect">
            <a:avLst/>
          </a:prstGeom>
          <a:noFill/>
          <a:ln w="0">
            <a:noFill/>
          </a:ln>
        </p:spPr>
        <p:txBody>
          <a:bodyPr wrap="none" lIns="0" tIns="0" rIns="0" bIns="0" anchor="ctr">
            <a:noAutofit/>
          </a:bodyPr>
          <a:lstStyle/>
          <a:p>
            <a:pPr algn="ctr">
              <a:defRPr sz="1650" b="0">
                <a:solidFill>
                  <a:srgbClr val="202124"/>
                </a:solidFill>
                <a:latin typeface="Nimbus Sans"/>
                <a:ea typeface="Nimbus Sans"/>
                <a:cs typeface="Nimbus Sans"/>
              </a:defRPr>
            </a:pPr>
            <a:r>
              <a:rPr sz="1650" b="0" dirty="0">
                <a:solidFill>
                  <a:srgbClr val="202124"/>
                </a:solidFill>
                <a:latin typeface="Nimbus Sans"/>
                <a:ea typeface="Nimbus Sans"/>
                <a:cs typeface="Nimbus Sans"/>
              </a:rPr>
              <a:t>LLM selects tools</a:t>
            </a:r>
            <a:r>
              <a:rPr lang="en-US" sz="1650" b="0" dirty="0">
                <a:solidFill>
                  <a:srgbClr val="202124"/>
                </a:solidFill>
                <a:latin typeface="Nimbus Sans"/>
                <a:ea typeface="Nimbus Sans"/>
                <a:cs typeface="Nimbus Sans"/>
              </a:rPr>
              <a:t> from skill steps</a:t>
            </a:r>
            <a:endParaRPr sz="1650" b="0" dirty="0">
              <a:solidFill>
                <a:srgbClr val="202124"/>
              </a:solidFill>
              <a:latin typeface="Nimbus Sans"/>
              <a:ea typeface="Nimbus Sans"/>
              <a:cs typeface="Nimbus Sans"/>
            </a:endParaRPr>
          </a:p>
        </p:txBody>
      </p:sp>
      <p:sp>
        <p:nvSpPr>
          <p:cNvPr id="31" name="tool-library-31">
            <a:extLst>
              <a:ext uri="{FF2B5EF4-FFF2-40B4-BE49-F238E27FC236}">
                <a16:creationId xmlns:a16="http://schemas.microsoft.com/office/drawing/2014/main" id="{3753BD94-9EA5-48AB-987B-3AFD88D12A6B}"/>
              </a:ext>
            </a:extLst>
          </p:cNvPr>
          <p:cNvSpPr>
            <a:spLocks noGrp="1"/>
          </p:cNvSpPr>
          <p:nvPr/>
        </p:nvSpPr>
        <p:spPr>
          <a:xfrm>
            <a:off x="11334750" y="2524125"/>
            <a:ext cx="3333750" cy="3781425"/>
          </a:xfrm>
          <a:prstGeom prst="roundRect">
            <a:avLst>
              <a:gd name="adj" fmla="val 6286"/>
            </a:avLst>
          </a:prstGeom>
          <a:solidFill>
            <a:srgbClr val="FFE69B"/>
          </a:solidFill>
          <a:ln w="0">
            <a:noFill/>
          </a:ln>
        </p:spPr>
        <p:txBody>
          <a:bodyPr/>
          <a:lstStyle/>
          <a:p>
            <a:endParaRPr lang="en-US"/>
          </a:p>
        </p:txBody>
      </p:sp>
      <p:sp>
        <p:nvSpPr>
          <p:cNvPr id="32" name="text-32">
            <a:extLst>
              <a:ext uri="{FF2B5EF4-FFF2-40B4-BE49-F238E27FC236}">
                <a16:creationId xmlns:a16="http://schemas.microsoft.com/office/drawing/2014/main" id="{0EF40354-9F25-4C5A-B344-3548548D7C8C}"/>
              </a:ext>
            </a:extLst>
          </p:cNvPr>
          <p:cNvSpPr>
            <a:spLocks noGrp="1"/>
          </p:cNvSpPr>
          <p:nvPr/>
        </p:nvSpPr>
        <p:spPr>
          <a:xfrm>
            <a:off x="11544300" y="2657475"/>
            <a:ext cx="2914650" cy="409575"/>
          </a:xfrm>
          <a:prstGeom prst="rect">
            <a:avLst/>
          </a:prstGeom>
          <a:noFill/>
          <a:ln w="0">
            <a:noFill/>
          </a:ln>
        </p:spPr>
        <p:txBody>
          <a:bodyPr wrap="none" lIns="0" tIns="0" rIns="0" bIns="0" anchor="ctr">
            <a:noAutofit/>
          </a:bodyPr>
          <a:lstStyle/>
          <a:p>
            <a:pPr algn="ctr">
              <a:defRPr sz="2325" b="1">
                <a:solidFill>
                  <a:srgbClr val="202124"/>
                </a:solidFill>
                <a:latin typeface="Nimbus Sans"/>
                <a:ea typeface="Nimbus Sans"/>
                <a:cs typeface="Nimbus Sans"/>
              </a:defRPr>
            </a:pPr>
            <a:r>
              <a:rPr sz="2325" b="1">
                <a:solidFill>
                  <a:srgbClr val="202124"/>
                </a:solidFill>
                <a:latin typeface="Nimbus Sans"/>
                <a:ea typeface="Nimbus Sans"/>
                <a:cs typeface="Nimbus Sans"/>
              </a:rPr>
              <a:t>Tool library</a:t>
            </a:r>
          </a:p>
        </p:txBody>
      </p:sp>
      <p:sp>
        <p:nvSpPr>
          <p:cNvPr id="33" name="text-33">
            <a:extLst>
              <a:ext uri="{FF2B5EF4-FFF2-40B4-BE49-F238E27FC236}">
                <a16:creationId xmlns:a16="http://schemas.microsoft.com/office/drawing/2014/main" id="{2189F2EB-4CC5-4255-B4BA-51E23A787156}"/>
              </a:ext>
            </a:extLst>
          </p:cNvPr>
          <p:cNvSpPr>
            <a:spLocks noGrp="1"/>
          </p:cNvSpPr>
          <p:nvPr/>
        </p:nvSpPr>
        <p:spPr>
          <a:xfrm>
            <a:off x="11515725" y="3171825"/>
            <a:ext cx="2971800" cy="323850"/>
          </a:xfrm>
          <a:prstGeom prst="rect">
            <a:avLst/>
          </a:prstGeom>
          <a:noFill/>
          <a:ln w="0">
            <a:noFill/>
          </a:ln>
        </p:spPr>
        <p:txBody>
          <a:bodyPr wrap="none" lIns="0" tIns="0" rIns="0" bIns="0" anchor="ctr">
            <a:noAutofit/>
          </a:bodyPr>
          <a:lstStyle/>
          <a:p>
            <a:pPr algn="ctr">
              <a:defRPr sz="2100" b="1">
                <a:solidFill>
                  <a:srgbClr val="202124"/>
                </a:solidFill>
                <a:latin typeface="Nimbus Sans"/>
                <a:ea typeface="Nimbus Sans"/>
                <a:cs typeface="Nimbus Sans"/>
              </a:defRPr>
            </a:pPr>
            <a:r>
              <a:rPr sz="2100" b="1">
                <a:solidFill>
                  <a:srgbClr val="202124"/>
                </a:solidFill>
                <a:latin typeface="Nimbus Sans"/>
                <a:ea typeface="Nimbus Sans"/>
                <a:cs typeface="Nimbus Sans"/>
              </a:rPr>
              <a:t>Query OSM</a:t>
            </a:r>
          </a:p>
        </p:txBody>
      </p:sp>
      <p:sp>
        <p:nvSpPr>
          <p:cNvPr id="34" name="text-34">
            <a:extLst>
              <a:ext uri="{FF2B5EF4-FFF2-40B4-BE49-F238E27FC236}">
                <a16:creationId xmlns:a16="http://schemas.microsoft.com/office/drawing/2014/main" id="{6367FD39-A150-40DF-8CFB-1486B524E4F3}"/>
              </a:ext>
            </a:extLst>
          </p:cNvPr>
          <p:cNvSpPr>
            <a:spLocks noGrp="1"/>
          </p:cNvSpPr>
          <p:nvPr/>
        </p:nvSpPr>
        <p:spPr>
          <a:xfrm>
            <a:off x="11515725" y="3514725"/>
            <a:ext cx="2971800" cy="276225"/>
          </a:xfrm>
          <a:prstGeom prst="rect">
            <a:avLst/>
          </a:prstGeom>
          <a:noFill/>
          <a:ln w="0">
            <a:noFill/>
          </a:ln>
        </p:spPr>
        <p:txBody>
          <a:bodyPr wrap="none" lIns="0" tIns="0" rIns="0" bIns="0" anchor="ctr">
            <a:noAutofit/>
          </a:bodyPr>
          <a:lstStyle/>
          <a:p>
            <a:pPr algn="ctr">
              <a:defRPr sz="1575" b="0">
                <a:solidFill>
                  <a:srgbClr val="555B63"/>
                </a:solidFill>
                <a:latin typeface="Nimbus Sans"/>
                <a:ea typeface="Nimbus Sans"/>
                <a:cs typeface="Nimbus Sans"/>
              </a:defRPr>
            </a:pPr>
            <a:r>
              <a:rPr sz="1575" b="0">
                <a:solidFill>
                  <a:srgbClr val="555B63"/>
                </a:solidFill>
                <a:latin typeface="Nimbus Sans"/>
                <a:ea typeface="Nimbus Sans"/>
                <a:cs typeface="Nimbus Sans"/>
              </a:rPr>
              <a:t>Geographic features</a:t>
            </a:r>
          </a:p>
        </p:txBody>
      </p:sp>
      <p:sp>
        <p:nvSpPr>
          <p:cNvPr id="35" name="flow-35">
            <a:extLst>
              <a:ext uri="{FF2B5EF4-FFF2-40B4-BE49-F238E27FC236}">
                <a16:creationId xmlns:a16="http://schemas.microsoft.com/office/drawing/2014/main" id="{5CC81754-3949-4D9C-B1A4-6E20516D622E}"/>
              </a:ext>
            </a:extLst>
          </p:cNvPr>
          <p:cNvSpPr>
            <a:spLocks noGrp="1"/>
          </p:cNvSpPr>
          <p:nvPr/>
        </p:nvSpPr>
        <p:spPr>
          <a:xfrm>
            <a:off x="11563350" y="3838575"/>
            <a:ext cx="2876550" cy="9525"/>
          </a:xfrm>
          <a:custGeom>
            <a:avLst/>
            <a:gdLst/>
            <a:ahLst/>
            <a:cxnLst/>
            <a:rect l="0" t="0" r="0" b="0"/>
            <a:pathLst>
              <a:path w="2876550" h="9525">
                <a:moveTo>
                  <a:pt x="0" y="0"/>
                </a:moveTo>
                <a:lnTo>
                  <a:pt x="2876550" y="0"/>
                </a:lnTo>
              </a:path>
            </a:pathLst>
          </a:custGeom>
          <a:noFill/>
          <a:ln w="10478">
            <a:solidFill>
              <a:srgbClr val="E6CD84"/>
            </a:solidFill>
            <a:prstDash val="solid"/>
          </a:ln>
        </p:spPr>
        <p:txBody>
          <a:bodyPr/>
          <a:lstStyle/>
          <a:p>
            <a:endParaRPr lang="en-US"/>
          </a:p>
        </p:txBody>
      </p:sp>
      <p:sp>
        <p:nvSpPr>
          <p:cNvPr id="36" name="text-36">
            <a:extLst>
              <a:ext uri="{FF2B5EF4-FFF2-40B4-BE49-F238E27FC236}">
                <a16:creationId xmlns:a16="http://schemas.microsoft.com/office/drawing/2014/main" id="{A7A38208-B648-4D32-9377-FBF1E042B498}"/>
              </a:ext>
            </a:extLst>
          </p:cNvPr>
          <p:cNvSpPr>
            <a:spLocks noGrp="1"/>
          </p:cNvSpPr>
          <p:nvPr/>
        </p:nvSpPr>
        <p:spPr>
          <a:xfrm>
            <a:off x="11515725" y="3905250"/>
            <a:ext cx="2971800" cy="323850"/>
          </a:xfrm>
          <a:prstGeom prst="rect">
            <a:avLst/>
          </a:prstGeom>
          <a:noFill/>
          <a:ln w="0">
            <a:noFill/>
          </a:ln>
        </p:spPr>
        <p:txBody>
          <a:bodyPr wrap="none" lIns="0" tIns="0" rIns="0" bIns="0" anchor="ctr">
            <a:noAutofit/>
          </a:bodyPr>
          <a:lstStyle/>
          <a:p>
            <a:pPr algn="ctr">
              <a:defRPr sz="2100" b="1">
                <a:solidFill>
                  <a:srgbClr val="202124"/>
                </a:solidFill>
                <a:latin typeface="Nimbus Sans"/>
                <a:ea typeface="Nimbus Sans"/>
                <a:cs typeface="Nimbus Sans"/>
              </a:defRPr>
            </a:pPr>
            <a:r>
              <a:rPr sz="2100" b="1">
                <a:solidFill>
                  <a:srgbClr val="202124"/>
                </a:solidFill>
                <a:latin typeface="Nimbus Sans"/>
                <a:ea typeface="Nimbus Sans"/>
                <a:cs typeface="Nimbus Sans"/>
              </a:rPr>
              <a:t>Query coverage</a:t>
            </a:r>
          </a:p>
        </p:txBody>
      </p:sp>
      <p:sp>
        <p:nvSpPr>
          <p:cNvPr id="37" name="text-37">
            <a:extLst>
              <a:ext uri="{FF2B5EF4-FFF2-40B4-BE49-F238E27FC236}">
                <a16:creationId xmlns:a16="http://schemas.microsoft.com/office/drawing/2014/main" id="{9B217D9A-A0E2-4C54-9E03-38914F4C782D}"/>
              </a:ext>
            </a:extLst>
          </p:cNvPr>
          <p:cNvSpPr>
            <a:spLocks noGrp="1"/>
          </p:cNvSpPr>
          <p:nvPr/>
        </p:nvSpPr>
        <p:spPr>
          <a:xfrm>
            <a:off x="11515725" y="4248150"/>
            <a:ext cx="2971800" cy="276225"/>
          </a:xfrm>
          <a:prstGeom prst="rect">
            <a:avLst/>
          </a:prstGeom>
          <a:noFill/>
          <a:ln w="0">
            <a:noFill/>
          </a:ln>
        </p:spPr>
        <p:txBody>
          <a:bodyPr wrap="none" lIns="0" tIns="0" rIns="0" bIns="0" anchor="ctr">
            <a:noAutofit/>
          </a:bodyPr>
          <a:lstStyle/>
          <a:p>
            <a:pPr algn="ctr">
              <a:defRPr sz="1575" b="0">
                <a:solidFill>
                  <a:srgbClr val="555B63"/>
                </a:solidFill>
                <a:latin typeface="Nimbus Sans"/>
                <a:ea typeface="Nimbus Sans"/>
                <a:cs typeface="Nimbus Sans"/>
              </a:defRPr>
            </a:pPr>
            <a:r>
              <a:rPr sz="1575" b="0">
                <a:solidFill>
                  <a:srgbClr val="555B63"/>
                </a:solidFill>
                <a:latin typeface="Nimbus Sans"/>
                <a:ea typeface="Nimbus Sans"/>
                <a:cs typeface="Nimbus Sans"/>
              </a:rPr>
              <a:t>Per-location cell coverage</a:t>
            </a:r>
          </a:p>
        </p:txBody>
      </p:sp>
      <p:sp>
        <p:nvSpPr>
          <p:cNvPr id="38" name="flow-38">
            <a:extLst>
              <a:ext uri="{FF2B5EF4-FFF2-40B4-BE49-F238E27FC236}">
                <a16:creationId xmlns:a16="http://schemas.microsoft.com/office/drawing/2014/main" id="{0C9AE24B-3376-43DD-AA3E-59B9961D6419}"/>
              </a:ext>
            </a:extLst>
          </p:cNvPr>
          <p:cNvSpPr>
            <a:spLocks noGrp="1"/>
          </p:cNvSpPr>
          <p:nvPr/>
        </p:nvSpPr>
        <p:spPr>
          <a:xfrm>
            <a:off x="11563350" y="4572000"/>
            <a:ext cx="2876550" cy="9525"/>
          </a:xfrm>
          <a:custGeom>
            <a:avLst/>
            <a:gdLst/>
            <a:ahLst/>
            <a:cxnLst/>
            <a:rect l="0" t="0" r="0" b="0"/>
            <a:pathLst>
              <a:path w="2876550" h="9525">
                <a:moveTo>
                  <a:pt x="0" y="0"/>
                </a:moveTo>
                <a:lnTo>
                  <a:pt x="2876550" y="0"/>
                </a:lnTo>
              </a:path>
            </a:pathLst>
          </a:custGeom>
          <a:noFill/>
          <a:ln w="10478">
            <a:solidFill>
              <a:srgbClr val="E6CD84"/>
            </a:solidFill>
            <a:prstDash val="solid"/>
          </a:ln>
        </p:spPr>
        <p:txBody>
          <a:bodyPr/>
          <a:lstStyle/>
          <a:p>
            <a:endParaRPr lang="en-US"/>
          </a:p>
        </p:txBody>
      </p:sp>
      <p:sp>
        <p:nvSpPr>
          <p:cNvPr id="39" name="text-39">
            <a:extLst>
              <a:ext uri="{FF2B5EF4-FFF2-40B4-BE49-F238E27FC236}">
                <a16:creationId xmlns:a16="http://schemas.microsoft.com/office/drawing/2014/main" id="{D491C7F5-0943-4457-BFC6-C0CC522BEBFE}"/>
              </a:ext>
            </a:extLst>
          </p:cNvPr>
          <p:cNvSpPr>
            <a:spLocks noGrp="1"/>
          </p:cNvSpPr>
          <p:nvPr/>
        </p:nvSpPr>
        <p:spPr>
          <a:xfrm>
            <a:off x="11515725" y="4638675"/>
            <a:ext cx="2971800" cy="323850"/>
          </a:xfrm>
          <a:prstGeom prst="rect">
            <a:avLst/>
          </a:prstGeom>
          <a:noFill/>
          <a:ln w="0">
            <a:noFill/>
          </a:ln>
        </p:spPr>
        <p:txBody>
          <a:bodyPr wrap="none" lIns="0" tIns="0" rIns="0" bIns="0" anchor="ctr">
            <a:noAutofit/>
          </a:bodyPr>
          <a:lstStyle/>
          <a:p>
            <a:pPr algn="ctr">
              <a:defRPr sz="2100" b="1">
                <a:solidFill>
                  <a:srgbClr val="202124"/>
                </a:solidFill>
                <a:latin typeface="Nimbus Sans"/>
                <a:ea typeface="Nimbus Sans"/>
                <a:cs typeface="Nimbus Sans"/>
              </a:defRPr>
            </a:pPr>
            <a:r>
              <a:rPr sz="2100" b="1">
                <a:solidFill>
                  <a:srgbClr val="202124"/>
                </a:solidFill>
                <a:latin typeface="Nimbus Sans"/>
                <a:ea typeface="Nimbus Sans"/>
                <a:cs typeface="Nimbus Sans"/>
              </a:rPr>
              <a:t>Query KPIs</a:t>
            </a:r>
          </a:p>
        </p:txBody>
      </p:sp>
      <p:sp>
        <p:nvSpPr>
          <p:cNvPr id="40" name="text-40">
            <a:extLst>
              <a:ext uri="{FF2B5EF4-FFF2-40B4-BE49-F238E27FC236}">
                <a16:creationId xmlns:a16="http://schemas.microsoft.com/office/drawing/2014/main" id="{836BBCE2-40A0-4D48-942D-41BD2BF2FC24}"/>
              </a:ext>
            </a:extLst>
          </p:cNvPr>
          <p:cNvSpPr>
            <a:spLocks noGrp="1"/>
          </p:cNvSpPr>
          <p:nvPr/>
        </p:nvSpPr>
        <p:spPr>
          <a:xfrm>
            <a:off x="11515725" y="4981575"/>
            <a:ext cx="2971800" cy="276225"/>
          </a:xfrm>
          <a:prstGeom prst="rect">
            <a:avLst/>
          </a:prstGeom>
          <a:noFill/>
          <a:ln w="0">
            <a:noFill/>
          </a:ln>
        </p:spPr>
        <p:txBody>
          <a:bodyPr wrap="none" lIns="0" tIns="0" rIns="0" bIns="0" anchor="ctr">
            <a:noAutofit/>
          </a:bodyPr>
          <a:lstStyle/>
          <a:p>
            <a:pPr algn="ctr">
              <a:defRPr sz="1575" b="0">
                <a:solidFill>
                  <a:srgbClr val="555B63"/>
                </a:solidFill>
                <a:latin typeface="Nimbus Sans"/>
                <a:ea typeface="Nimbus Sans"/>
                <a:cs typeface="Nimbus Sans"/>
              </a:defRPr>
            </a:pPr>
            <a:r>
              <a:rPr sz="1575" b="0" dirty="0">
                <a:solidFill>
                  <a:srgbClr val="555B63"/>
                </a:solidFill>
                <a:latin typeface="Nimbus Sans"/>
                <a:ea typeface="Nimbus Sans"/>
                <a:cs typeface="Nimbus Sans"/>
              </a:rPr>
              <a:t>Historical RRC</a:t>
            </a:r>
            <a:r>
              <a:rPr lang="en-US" altLang="zh-CN" sz="1575" dirty="0">
                <a:solidFill>
                  <a:srgbClr val="555B63"/>
                </a:solidFill>
                <a:latin typeface="Nimbus Sans"/>
                <a:ea typeface="Nimbus Sans"/>
                <a:cs typeface="Nimbus Sans"/>
              </a:rPr>
              <a:t>, </a:t>
            </a:r>
            <a:r>
              <a:rPr sz="1575" b="0" dirty="0">
                <a:solidFill>
                  <a:srgbClr val="555B63"/>
                </a:solidFill>
                <a:latin typeface="Nimbus Sans"/>
                <a:ea typeface="Nimbus Sans"/>
                <a:cs typeface="Nimbus Sans"/>
              </a:rPr>
              <a:t>PRB</a:t>
            </a:r>
            <a:r>
              <a:rPr lang="en-US" sz="1575" b="0" dirty="0">
                <a:solidFill>
                  <a:srgbClr val="555B63"/>
                </a:solidFill>
                <a:latin typeface="Nimbus Sans"/>
                <a:ea typeface="Nimbus Sans"/>
                <a:cs typeface="Nimbus Sans"/>
              </a:rPr>
              <a:t>, Volume,…</a:t>
            </a:r>
            <a:endParaRPr sz="1575" b="0" dirty="0">
              <a:solidFill>
                <a:srgbClr val="555B63"/>
              </a:solidFill>
              <a:latin typeface="Nimbus Sans"/>
              <a:ea typeface="Nimbus Sans"/>
              <a:cs typeface="Nimbus Sans"/>
            </a:endParaRPr>
          </a:p>
        </p:txBody>
      </p:sp>
      <p:sp>
        <p:nvSpPr>
          <p:cNvPr id="41" name="flow-41">
            <a:extLst>
              <a:ext uri="{FF2B5EF4-FFF2-40B4-BE49-F238E27FC236}">
                <a16:creationId xmlns:a16="http://schemas.microsoft.com/office/drawing/2014/main" id="{08A1ED8B-BCBE-4B27-9536-59A52F7C68C1}"/>
              </a:ext>
            </a:extLst>
          </p:cNvPr>
          <p:cNvSpPr>
            <a:spLocks noGrp="1"/>
          </p:cNvSpPr>
          <p:nvPr/>
        </p:nvSpPr>
        <p:spPr>
          <a:xfrm>
            <a:off x="11563350" y="5305425"/>
            <a:ext cx="2876550" cy="9525"/>
          </a:xfrm>
          <a:custGeom>
            <a:avLst/>
            <a:gdLst/>
            <a:ahLst/>
            <a:cxnLst/>
            <a:rect l="0" t="0" r="0" b="0"/>
            <a:pathLst>
              <a:path w="2876550" h="9525">
                <a:moveTo>
                  <a:pt x="0" y="0"/>
                </a:moveTo>
                <a:lnTo>
                  <a:pt x="2876550" y="0"/>
                </a:lnTo>
              </a:path>
            </a:pathLst>
          </a:custGeom>
          <a:noFill/>
          <a:ln w="10478">
            <a:solidFill>
              <a:srgbClr val="E6CD84"/>
            </a:solidFill>
            <a:prstDash val="solid"/>
          </a:ln>
        </p:spPr>
        <p:txBody>
          <a:bodyPr/>
          <a:lstStyle/>
          <a:p>
            <a:endParaRPr lang="en-US"/>
          </a:p>
        </p:txBody>
      </p:sp>
      <p:sp>
        <p:nvSpPr>
          <p:cNvPr id="42" name="text-42">
            <a:extLst>
              <a:ext uri="{FF2B5EF4-FFF2-40B4-BE49-F238E27FC236}">
                <a16:creationId xmlns:a16="http://schemas.microsoft.com/office/drawing/2014/main" id="{645EA56A-9489-44AC-8DC7-CB62028119C4}"/>
              </a:ext>
            </a:extLst>
          </p:cNvPr>
          <p:cNvSpPr>
            <a:spLocks noGrp="1"/>
          </p:cNvSpPr>
          <p:nvPr/>
        </p:nvSpPr>
        <p:spPr>
          <a:xfrm>
            <a:off x="11515725" y="5372100"/>
            <a:ext cx="2971800" cy="323850"/>
          </a:xfrm>
          <a:prstGeom prst="rect">
            <a:avLst/>
          </a:prstGeom>
          <a:noFill/>
          <a:ln w="0">
            <a:noFill/>
          </a:ln>
        </p:spPr>
        <p:txBody>
          <a:bodyPr wrap="none" lIns="0" tIns="0" rIns="0" bIns="0" anchor="ctr">
            <a:noAutofit/>
          </a:bodyPr>
          <a:lstStyle/>
          <a:p>
            <a:pPr algn="ctr">
              <a:defRPr sz="1800" b="1">
                <a:solidFill>
                  <a:srgbClr val="202124"/>
                </a:solidFill>
                <a:latin typeface="Nimbus Sans"/>
                <a:ea typeface="Nimbus Sans"/>
                <a:cs typeface="Nimbus Sans"/>
              </a:defRPr>
            </a:pPr>
            <a:r>
              <a:rPr sz="1800" b="1">
                <a:solidFill>
                  <a:srgbClr val="202124"/>
                </a:solidFill>
                <a:latin typeface="Nimbus Sans"/>
                <a:ea typeface="Nimbus Sans"/>
                <a:cs typeface="Nimbus Sans"/>
              </a:rPr>
              <a:t>Estimate redistributed load</a:t>
            </a:r>
          </a:p>
        </p:txBody>
      </p:sp>
      <p:sp>
        <p:nvSpPr>
          <p:cNvPr id="43" name="text-43">
            <a:extLst>
              <a:ext uri="{FF2B5EF4-FFF2-40B4-BE49-F238E27FC236}">
                <a16:creationId xmlns:a16="http://schemas.microsoft.com/office/drawing/2014/main" id="{9BDB179F-2EC1-4460-87E7-ECEC8D4FFA73}"/>
              </a:ext>
            </a:extLst>
          </p:cNvPr>
          <p:cNvSpPr>
            <a:spLocks noGrp="1"/>
          </p:cNvSpPr>
          <p:nvPr/>
        </p:nvSpPr>
        <p:spPr>
          <a:xfrm>
            <a:off x="11515725" y="5715000"/>
            <a:ext cx="2971800" cy="276225"/>
          </a:xfrm>
          <a:prstGeom prst="rect">
            <a:avLst/>
          </a:prstGeom>
          <a:noFill/>
          <a:ln w="0">
            <a:noFill/>
          </a:ln>
        </p:spPr>
        <p:txBody>
          <a:bodyPr wrap="none" lIns="0" tIns="0" rIns="0" bIns="0" anchor="ctr">
            <a:noAutofit/>
          </a:bodyPr>
          <a:lstStyle/>
          <a:p>
            <a:pPr algn="ctr">
              <a:defRPr sz="1575" b="0">
                <a:solidFill>
                  <a:srgbClr val="555B63"/>
                </a:solidFill>
                <a:latin typeface="Nimbus Sans"/>
                <a:ea typeface="Nimbus Sans"/>
                <a:cs typeface="Nimbus Sans"/>
              </a:defRPr>
            </a:pPr>
            <a:r>
              <a:rPr sz="1575" b="0">
                <a:solidFill>
                  <a:srgbClr val="555B63"/>
                </a:solidFill>
                <a:latin typeface="Nimbus Sans"/>
                <a:ea typeface="Nimbus Sans"/>
                <a:cs typeface="Nimbus Sans"/>
              </a:rPr>
              <a:t>Demand and allocation model</a:t>
            </a:r>
          </a:p>
        </p:txBody>
      </p:sp>
      <p:sp>
        <p:nvSpPr>
          <p:cNvPr id="44" name="query-to-executor-44">
            <a:extLst>
              <a:ext uri="{FF2B5EF4-FFF2-40B4-BE49-F238E27FC236}">
                <a16:creationId xmlns:a16="http://schemas.microsoft.com/office/drawing/2014/main" id="{5FC1080E-EA65-47AD-BD3B-F8CA1E59BFE5}"/>
              </a:ext>
            </a:extLst>
          </p:cNvPr>
          <p:cNvSpPr>
            <a:spLocks noGrp="1"/>
          </p:cNvSpPr>
          <p:nvPr/>
        </p:nvSpPr>
        <p:spPr>
          <a:xfrm>
            <a:off x="3238500" y="2114550"/>
            <a:ext cx="714375" cy="1714500"/>
          </a:xfrm>
          <a:custGeom>
            <a:avLst/>
            <a:gdLst/>
            <a:ahLst/>
            <a:cxnLst/>
            <a:rect l="0" t="0" r="0" b="0"/>
            <a:pathLst>
              <a:path w="714375" h="1714500">
                <a:moveTo>
                  <a:pt x="0" y="0"/>
                </a:moveTo>
                <a:lnTo>
                  <a:pt x="238125" y="0"/>
                </a:lnTo>
                <a:lnTo>
                  <a:pt x="238125" y="1714500"/>
                </a:lnTo>
                <a:lnTo>
                  <a:pt x="714375" y="1714500"/>
                </a:lnTo>
              </a:path>
            </a:pathLst>
          </a:custGeom>
          <a:noFill/>
          <a:ln w="20955">
            <a:solidFill>
              <a:srgbClr val="35383D"/>
            </a:solidFill>
            <a:prstDash val="solid"/>
          </a:ln>
        </p:spPr>
        <p:txBody>
          <a:bodyPr/>
          <a:lstStyle/>
          <a:p>
            <a:endParaRPr lang="en-US"/>
          </a:p>
        </p:txBody>
      </p:sp>
      <p:sp>
        <p:nvSpPr>
          <p:cNvPr id="45" name="arrowhead-45">
            <a:extLst>
              <a:ext uri="{FF2B5EF4-FFF2-40B4-BE49-F238E27FC236}">
                <a16:creationId xmlns:a16="http://schemas.microsoft.com/office/drawing/2014/main" id="{E5D59B5B-94AD-4AEB-BC5C-09CE16224304}"/>
              </a:ext>
            </a:extLst>
          </p:cNvPr>
          <p:cNvSpPr>
            <a:spLocks noGrp="1"/>
          </p:cNvSpPr>
          <p:nvPr/>
        </p:nvSpPr>
        <p:spPr>
          <a:xfrm>
            <a:off x="3848100" y="3781425"/>
            <a:ext cx="104775" cy="95250"/>
          </a:xfrm>
          <a:custGeom>
            <a:avLst/>
            <a:gdLst/>
            <a:ahLst/>
            <a:cxnLst/>
            <a:rect l="0" t="0" r="0" b="0"/>
            <a:pathLst>
              <a:path w="104775" h="95250">
                <a:moveTo>
                  <a:pt x="104775" y="47625"/>
                </a:moveTo>
                <a:lnTo>
                  <a:pt x="0" y="95250"/>
                </a:lnTo>
                <a:lnTo>
                  <a:pt x="0" y="0"/>
                </a:lnTo>
                <a:close/>
              </a:path>
            </a:pathLst>
          </a:custGeom>
          <a:solidFill>
            <a:srgbClr val="35383D"/>
          </a:solidFill>
          <a:ln w="0">
            <a:noFill/>
          </a:ln>
        </p:spPr>
        <p:txBody>
          <a:bodyPr/>
          <a:lstStyle/>
          <a:p>
            <a:endParaRPr lang="en-US"/>
          </a:p>
        </p:txBody>
      </p:sp>
      <p:sp>
        <p:nvSpPr>
          <p:cNvPr id="46" name="state-to-executor-46">
            <a:extLst>
              <a:ext uri="{FF2B5EF4-FFF2-40B4-BE49-F238E27FC236}">
                <a16:creationId xmlns:a16="http://schemas.microsoft.com/office/drawing/2014/main" id="{97F294C3-68BF-478F-847C-56DD2D70ACEA}"/>
              </a:ext>
            </a:extLst>
          </p:cNvPr>
          <p:cNvSpPr>
            <a:spLocks noGrp="1"/>
          </p:cNvSpPr>
          <p:nvPr/>
        </p:nvSpPr>
        <p:spPr>
          <a:xfrm>
            <a:off x="3238500" y="4629150"/>
            <a:ext cx="714375" cy="9525"/>
          </a:xfrm>
          <a:custGeom>
            <a:avLst/>
            <a:gdLst/>
            <a:ahLst/>
            <a:cxnLst/>
            <a:rect l="0" t="0" r="0" b="0"/>
            <a:pathLst>
              <a:path w="714375" h="9525">
                <a:moveTo>
                  <a:pt x="0" y="0"/>
                </a:moveTo>
                <a:lnTo>
                  <a:pt x="714375" y="0"/>
                </a:lnTo>
              </a:path>
            </a:pathLst>
          </a:custGeom>
          <a:noFill/>
          <a:ln w="20955">
            <a:solidFill>
              <a:srgbClr val="35383D"/>
            </a:solidFill>
            <a:prstDash val="solid"/>
          </a:ln>
        </p:spPr>
        <p:txBody>
          <a:bodyPr/>
          <a:lstStyle/>
          <a:p>
            <a:endParaRPr lang="en-US"/>
          </a:p>
        </p:txBody>
      </p:sp>
      <p:sp>
        <p:nvSpPr>
          <p:cNvPr id="47" name="arrowhead-47">
            <a:extLst>
              <a:ext uri="{FF2B5EF4-FFF2-40B4-BE49-F238E27FC236}">
                <a16:creationId xmlns:a16="http://schemas.microsoft.com/office/drawing/2014/main" id="{D5E355F5-74CD-4262-8A4A-DE066E6E13F6}"/>
              </a:ext>
            </a:extLst>
          </p:cNvPr>
          <p:cNvSpPr>
            <a:spLocks noGrp="1"/>
          </p:cNvSpPr>
          <p:nvPr/>
        </p:nvSpPr>
        <p:spPr>
          <a:xfrm>
            <a:off x="3848100" y="4581525"/>
            <a:ext cx="104775" cy="95250"/>
          </a:xfrm>
          <a:custGeom>
            <a:avLst/>
            <a:gdLst/>
            <a:ahLst/>
            <a:cxnLst/>
            <a:rect l="0" t="0" r="0" b="0"/>
            <a:pathLst>
              <a:path w="104775" h="95250">
                <a:moveTo>
                  <a:pt x="104775" y="47625"/>
                </a:moveTo>
                <a:lnTo>
                  <a:pt x="0" y="95250"/>
                </a:lnTo>
                <a:lnTo>
                  <a:pt x="0" y="0"/>
                </a:lnTo>
                <a:close/>
              </a:path>
            </a:pathLst>
          </a:custGeom>
          <a:solidFill>
            <a:srgbClr val="35383D"/>
          </a:solidFill>
          <a:ln w="0">
            <a:noFill/>
          </a:ln>
        </p:spPr>
        <p:txBody>
          <a:bodyPr/>
          <a:lstStyle/>
          <a:p>
            <a:endParaRPr lang="en-US"/>
          </a:p>
        </p:txBody>
      </p:sp>
      <p:sp>
        <p:nvSpPr>
          <p:cNvPr id="48" name="planning-skill-guidance-48">
            <a:extLst>
              <a:ext uri="{FF2B5EF4-FFF2-40B4-BE49-F238E27FC236}">
                <a16:creationId xmlns:a16="http://schemas.microsoft.com/office/drawing/2014/main" id="{22B24512-4F09-4F92-B831-C1DE787141F2}"/>
              </a:ext>
            </a:extLst>
          </p:cNvPr>
          <p:cNvSpPr>
            <a:spLocks noGrp="1"/>
          </p:cNvSpPr>
          <p:nvPr/>
        </p:nvSpPr>
        <p:spPr>
          <a:xfrm>
            <a:off x="5381625" y="2286000"/>
            <a:ext cx="9525" cy="1190625"/>
          </a:xfrm>
          <a:custGeom>
            <a:avLst/>
            <a:gdLst/>
            <a:ahLst/>
            <a:cxnLst/>
            <a:rect l="0" t="0" r="0" b="0"/>
            <a:pathLst>
              <a:path w="9525" h="1190625">
                <a:moveTo>
                  <a:pt x="0" y="0"/>
                </a:moveTo>
                <a:lnTo>
                  <a:pt x="0" y="1190625"/>
                </a:lnTo>
              </a:path>
            </a:pathLst>
          </a:custGeom>
          <a:noFill/>
          <a:ln w="20955">
            <a:solidFill>
              <a:srgbClr val="35383D"/>
            </a:solidFill>
            <a:prstDash val="solid"/>
          </a:ln>
        </p:spPr>
        <p:txBody>
          <a:bodyPr/>
          <a:lstStyle/>
          <a:p>
            <a:endParaRPr lang="en-US"/>
          </a:p>
        </p:txBody>
      </p:sp>
      <p:sp>
        <p:nvSpPr>
          <p:cNvPr id="49" name="arrowhead-49">
            <a:extLst>
              <a:ext uri="{FF2B5EF4-FFF2-40B4-BE49-F238E27FC236}">
                <a16:creationId xmlns:a16="http://schemas.microsoft.com/office/drawing/2014/main" id="{8E2AE849-1118-4914-8C5C-9E2BDA3CD243}"/>
              </a:ext>
            </a:extLst>
          </p:cNvPr>
          <p:cNvSpPr>
            <a:spLocks noGrp="1"/>
          </p:cNvSpPr>
          <p:nvPr/>
        </p:nvSpPr>
        <p:spPr>
          <a:xfrm>
            <a:off x="5334000" y="3371850"/>
            <a:ext cx="95250" cy="104775"/>
          </a:xfrm>
          <a:custGeom>
            <a:avLst/>
            <a:gdLst/>
            <a:ahLst/>
            <a:cxnLst/>
            <a:rect l="0" t="0" r="0" b="0"/>
            <a:pathLst>
              <a:path w="95250" h="104775">
                <a:moveTo>
                  <a:pt x="47625" y="104775"/>
                </a:moveTo>
                <a:lnTo>
                  <a:pt x="0" y="0"/>
                </a:lnTo>
                <a:lnTo>
                  <a:pt x="95250" y="0"/>
                </a:lnTo>
                <a:close/>
              </a:path>
            </a:pathLst>
          </a:custGeom>
          <a:solidFill>
            <a:srgbClr val="35383D"/>
          </a:solidFill>
          <a:ln w="0">
            <a:noFill/>
          </a:ln>
        </p:spPr>
        <p:txBody>
          <a:bodyPr/>
          <a:lstStyle/>
          <a:p>
            <a:endParaRPr lang="en-US"/>
          </a:p>
        </p:txBody>
      </p:sp>
      <p:sp>
        <p:nvSpPr>
          <p:cNvPr id="50" name="text-50">
            <a:extLst>
              <a:ext uri="{FF2B5EF4-FFF2-40B4-BE49-F238E27FC236}">
                <a16:creationId xmlns:a16="http://schemas.microsoft.com/office/drawing/2014/main" id="{A6175D33-D8E3-4962-94E7-D64DBF2451EB}"/>
              </a:ext>
            </a:extLst>
          </p:cNvPr>
          <p:cNvSpPr>
            <a:spLocks noGrp="1"/>
          </p:cNvSpPr>
          <p:nvPr/>
        </p:nvSpPr>
        <p:spPr>
          <a:xfrm>
            <a:off x="4219575" y="2600325"/>
            <a:ext cx="2324100" cy="276225"/>
          </a:xfrm>
          <a:prstGeom prst="rect">
            <a:avLst/>
          </a:prstGeom>
          <a:solidFill>
            <a:srgbClr val="FFFFFF"/>
          </a:solidFill>
          <a:ln w="0">
            <a:noFill/>
          </a:ln>
        </p:spPr>
        <p:txBody>
          <a:bodyPr wrap="none" lIns="0" tIns="0" rIns="0" bIns="0" anchor="ctr">
            <a:noAutofit/>
          </a:bodyPr>
          <a:lstStyle/>
          <a:p>
            <a:pPr algn="ctr">
              <a:defRPr sz="1575" b="0">
                <a:solidFill>
                  <a:srgbClr val="555B63"/>
                </a:solidFill>
                <a:latin typeface="Nimbus Sans"/>
                <a:ea typeface="Nimbus Sans"/>
                <a:cs typeface="Nimbus Sans"/>
              </a:defRPr>
            </a:pPr>
            <a:r>
              <a:rPr sz="1575" b="0">
                <a:solidFill>
                  <a:srgbClr val="555B63"/>
                </a:solidFill>
                <a:latin typeface="Nimbus Sans"/>
                <a:ea typeface="Nimbus Sans"/>
                <a:cs typeface="Nimbus Sans"/>
              </a:rPr>
              <a:t>Planning guidance</a:t>
            </a:r>
          </a:p>
        </p:txBody>
      </p:sp>
      <p:sp>
        <p:nvSpPr>
          <p:cNvPr id="51" name="execution-skill-guidance-51">
            <a:extLst>
              <a:ext uri="{FF2B5EF4-FFF2-40B4-BE49-F238E27FC236}">
                <a16:creationId xmlns:a16="http://schemas.microsoft.com/office/drawing/2014/main" id="{64B09CF8-667C-4F8B-89E0-4C2A1DF6A683}"/>
              </a:ext>
            </a:extLst>
          </p:cNvPr>
          <p:cNvSpPr>
            <a:spLocks noGrp="1"/>
          </p:cNvSpPr>
          <p:nvPr/>
        </p:nvSpPr>
        <p:spPr>
          <a:xfrm>
            <a:off x="9124950" y="2286000"/>
            <a:ext cx="9525" cy="1190625"/>
          </a:xfrm>
          <a:custGeom>
            <a:avLst/>
            <a:gdLst/>
            <a:ahLst/>
            <a:cxnLst/>
            <a:rect l="0" t="0" r="0" b="0"/>
            <a:pathLst>
              <a:path w="9525" h="1190625">
                <a:moveTo>
                  <a:pt x="0" y="0"/>
                </a:moveTo>
                <a:lnTo>
                  <a:pt x="0" y="1190625"/>
                </a:lnTo>
              </a:path>
            </a:pathLst>
          </a:custGeom>
          <a:noFill/>
          <a:ln w="20955">
            <a:solidFill>
              <a:srgbClr val="35383D"/>
            </a:solidFill>
            <a:prstDash val="solid"/>
          </a:ln>
        </p:spPr>
        <p:txBody>
          <a:bodyPr/>
          <a:lstStyle/>
          <a:p>
            <a:endParaRPr lang="en-US"/>
          </a:p>
        </p:txBody>
      </p:sp>
      <p:sp>
        <p:nvSpPr>
          <p:cNvPr id="52" name="arrowhead-52">
            <a:extLst>
              <a:ext uri="{FF2B5EF4-FFF2-40B4-BE49-F238E27FC236}">
                <a16:creationId xmlns:a16="http://schemas.microsoft.com/office/drawing/2014/main" id="{9EBA8C36-3D5D-478A-AE50-9A22E7A2290B}"/>
              </a:ext>
            </a:extLst>
          </p:cNvPr>
          <p:cNvSpPr>
            <a:spLocks noGrp="1"/>
          </p:cNvSpPr>
          <p:nvPr/>
        </p:nvSpPr>
        <p:spPr>
          <a:xfrm>
            <a:off x="9077325" y="3371850"/>
            <a:ext cx="95250" cy="104775"/>
          </a:xfrm>
          <a:custGeom>
            <a:avLst/>
            <a:gdLst/>
            <a:ahLst/>
            <a:cxnLst/>
            <a:rect l="0" t="0" r="0" b="0"/>
            <a:pathLst>
              <a:path w="95250" h="104775">
                <a:moveTo>
                  <a:pt x="47625" y="104775"/>
                </a:moveTo>
                <a:lnTo>
                  <a:pt x="0" y="0"/>
                </a:lnTo>
                <a:lnTo>
                  <a:pt x="95250" y="0"/>
                </a:lnTo>
                <a:close/>
              </a:path>
            </a:pathLst>
          </a:custGeom>
          <a:solidFill>
            <a:srgbClr val="35383D"/>
          </a:solidFill>
          <a:ln w="0">
            <a:noFill/>
          </a:ln>
        </p:spPr>
        <p:txBody>
          <a:bodyPr/>
          <a:lstStyle/>
          <a:p>
            <a:endParaRPr lang="en-US"/>
          </a:p>
        </p:txBody>
      </p:sp>
      <p:sp>
        <p:nvSpPr>
          <p:cNvPr id="53" name="text-53">
            <a:extLst>
              <a:ext uri="{FF2B5EF4-FFF2-40B4-BE49-F238E27FC236}">
                <a16:creationId xmlns:a16="http://schemas.microsoft.com/office/drawing/2014/main" id="{85F17DF4-5BBA-494E-A023-451B5081D8F5}"/>
              </a:ext>
            </a:extLst>
          </p:cNvPr>
          <p:cNvSpPr>
            <a:spLocks noGrp="1"/>
          </p:cNvSpPr>
          <p:nvPr/>
        </p:nvSpPr>
        <p:spPr>
          <a:xfrm>
            <a:off x="7848600" y="2600325"/>
            <a:ext cx="2543175" cy="276225"/>
          </a:xfrm>
          <a:prstGeom prst="rect">
            <a:avLst/>
          </a:prstGeom>
          <a:solidFill>
            <a:srgbClr val="FFFFFF"/>
          </a:solidFill>
          <a:ln w="0">
            <a:noFill/>
          </a:ln>
        </p:spPr>
        <p:txBody>
          <a:bodyPr wrap="none" lIns="0" tIns="0" rIns="0" bIns="0" anchor="ctr">
            <a:noAutofit/>
          </a:bodyPr>
          <a:lstStyle/>
          <a:p>
            <a:pPr algn="ctr">
              <a:defRPr sz="1575" b="0">
                <a:solidFill>
                  <a:srgbClr val="555B63"/>
                </a:solidFill>
                <a:latin typeface="Nimbus Sans"/>
                <a:ea typeface="Nimbus Sans"/>
                <a:cs typeface="Nimbus Sans"/>
              </a:defRPr>
            </a:pPr>
            <a:r>
              <a:rPr sz="1575" b="0">
                <a:solidFill>
                  <a:srgbClr val="555B63"/>
                </a:solidFill>
                <a:latin typeface="Nimbus Sans"/>
                <a:ea typeface="Nimbus Sans"/>
                <a:cs typeface="Nimbus Sans"/>
              </a:rPr>
              <a:t>Procedures and tool usage</a:t>
            </a:r>
          </a:p>
        </p:txBody>
      </p:sp>
      <p:sp>
        <p:nvSpPr>
          <p:cNvPr id="54" name="goal-to-action-54">
            <a:extLst>
              <a:ext uri="{FF2B5EF4-FFF2-40B4-BE49-F238E27FC236}">
                <a16:creationId xmlns:a16="http://schemas.microsoft.com/office/drawing/2014/main" id="{88B7B17A-7FAC-40ED-BD06-A9E8F8E86E60}"/>
              </a:ext>
            </a:extLst>
          </p:cNvPr>
          <p:cNvSpPr>
            <a:spLocks noGrp="1"/>
          </p:cNvSpPr>
          <p:nvPr/>
        </p:nvSpPr>
        <p:spPr>
          <a:xfrm>
            <a:off x="6810375" y="4305300"/>
            <a:ext cx="857250" cy="9525"/>
          </a:xfrm>
          <a:custGeom>
            <a:avLst/>
            <a:gdLst/>
            <a:ahLst/>
            <a:cxnLst/>
            <a:rect l="0" t="0" r="0" b="0"/>
            <a:pathLst>
              <a:path w="857250" h="9525">
                <a:moveTo>
                  <a:pt x="0" y="0"/>
                </a:moveTo>
                <a:lnTo>
                  <a:pt x="857250" y="0"/>
                </a:lnTo>
              </a:path>
            </a:pathLst>
          </a:custGeom>
          <a:noFill/>
          <a:ln w="20955">
            <a:solidFill>
              <a:srgbClr val="35383D"/>
            </a:solidFill>
            <a:prstDash val="solid"/>
          </a:ln>
        </p:spPr>
        <p:txBody>
          <a:bodyPr/>
          <a:lstStyle/>
          <a:p>
            <a:endParaRPr lang="en-US"/>
          </a:p>
        </p:txBody>
      </p:sp>
      <p:sp>
        <p:nvSpPr>
          <p:cNvPr id="55" name="arrowhead-55">
            <a:extLst>
              <a:ext uri="{FF2B5EF4-FFF2-40B4-BE49-F238E27FC236}">
                <a16:creationId xmlns:a16="http://schemas.microsoft.com/office/drawing/2014/main" id="{F408F720-C61E-4450-A33D-1EB0897FA5D1}"/>
              </a:ext>
            </a:extLst>
          </p:cNvPr>
          <p:cNvSpPr>
            <a:spLocks noGrp="1"/>
          </p:cNvSpPr>
          <p:nvPr/>
        </p:nvSpPr>
        <p:spPr>
          <a:xfrm>
            <a:off x="7562850" y="4257675"/>
            <a:ext cx="104775" cy="95250"/>
          </a:xfrm>
          <a:custGeom>
            <a:avLst/>
            <a:gdLst/>
            <a:ahLst/>
            <a:cxnLst/>
            <a:rect l="0" t="0" r="0" b="0"/>
            <a:pathLst>
              <a:path w="104775" h="95250">
                <a:moveTo>
                  <a:pt x="104775" y="47625"/>
                </a:moveTo>
                <a:lnTo>
                  <a:pt x="0" y="95250"/>
                </a:lnTo>
                <a:lnTo>
                  <a:pt x="0" y="0"/>
                </a:lnTo>
                <a:close/>
              </a:path>
            </a:pathLst>
          </a:custGeom>
          <a:solidFill>
            <a:srgbClr val="35383D"/>
          </a:solidFill>
          <a:ln w="0">
            <a:noFill/>
          </a:ln>
        </p:spPr>
        <p:txBody>
          <a:bodyPr/>
          <a:lstStyle/>
          <a:p>
            <a:endParaRPr lang="en-US"/>
          </a:p>
        </p:txBody>
      </p:sp>
      <p:sp>
        <p:nvSpPr>
          <p:cNvPr id="56" name="text-56">
            <a:extLst>
              <a:ext uri="{FF2B5EF4-FFF2-40B4-BE49-F238E27FC236}">
                <a16:creationId xmlns:a16="http://schemas.microsoft.com/office/drawing/2014/main" id="{50918539-0960-492D-9D26-65760D587F40}"/>
              </a:ext>
            </a:extLst>
          </p:cNvPr>
          <p:cNvSpPr>
            <a:spLocks noGrp="1"/>
          </p:cNvSpPr>
          <p:nvPr/>
        </p:nvSpPr>
        <p:spPr>
          <a:xfrm>
            <a:off x="6934200" y="3962400"/>
            <a:ext cx="600075" cy="257175"/>
          </a:xfrm>
          <a:prstGeom prst="rect">
            <a:avLst/>
          </a:prstGeom>
          <a:solidFill>
            <a:srgbClr val="FFFFFF"/>
          </a:solidFill>
          <a:ln w="0">
            <a:noFill/>
          </a:ln>
        </p:spPr>
        <p:txBody>
          <a:bodyPr wrap="none" lIns="0" tIns="0" rIns="0" bIns="0" anchor="ctr">
            <a:noAutofit/>
          </a:bodyPr>
          <a:lstStyle/>
          <a:p>
            <a:pPr algn="ctr">
              <a:defRPr sz="1575" b="0">
                <a:solidFill>
                  <a:srgbClr val="555B63"/>
                </a:solidFill>
                <a:latin typeface="Nimbus Sans"/>
                <a:ea typeface="Nimbus Sans"/>
                <a:cs typeface="Nimbus Sans"/>
              </a:defRPr>
            </a:pPr>
            <a:r>
              <a:rPr sz="1575" b="0">
                <a:solidFill>
                  <a:srgbClr val="555B63"/>
                </a:solidFill>
                <a:latin typeface="Nimbus Sans"/>
                <a:ea typeface="Nimbus Sans"/>
                <a:cs typeface="Nimbus Sans"/>
              </a:rPr>
              <a:t>Goal</a:t>
            </a:r>
          </a:p>
        </p:txBody>
      </p:sp>
      <p:sp>
        <p:nvSpPr>
          <p:cNvPr id="57" name="action-to-tools-57">
            <a:extLst>
              <a:ext uri="{FF2B5EF4-FFF2-40B4-BE49-F238E27FC236}">
                <a16:creationId xmlns:a16="http://schemas.microsoft.com/office/drawing/2014/main" id="{2A2584F9-3435-4411-9E34-2C00E69E7D0D}"/>
              </a:ext>
            </a:extLst>
          </p:cNvPr>
          <p:cNvSpPr>
            <a:spLocks noGrp="1"/>
          </p:cNvSpPr>
          <p:nvPr/>
        </p:nvSpPr>
        <p:spPr>
          <a:xfrm>
            <a:off x="10572750" y="4305300"/>
            <a:ext cx="762000" cy="9525"/>
          </a:xfrm>
          <a:custGeom>
            <a:avLst/>
            <a:gdLst/>
            <a:ahLst/>
            <a:cxnLst/>
            <a:rect l="0" t="0" r="0" b="0"/>
            <a:pathLst>
              <a:path w="762000" h="9525">
                <a:moveTo>
                  <a:pt x="0" y="0"/>
                </a:moveTo>
                <a:lnTo>
                  <a:pt x="762000" y="0"/>
                </a:lnTo>
              </a:path>
            </a:pathLst>
          </a:custGeom>
          <a:noFill/>
          <a:ln w="20955">
            <a:solidFill>
              <a:srgbClr val="35383D"/>
            </a:solidFill>
            <a:prstDash val="solid"/>
          </a:ln>
        </p:spPr>
        <p:txBody>
          <a:bodyPr/>
          <a:lstStyle/>
          <a:p>
            <a:endParaRPr lang="en-US"/>
          </a:p>
        </p:txBody>
      </p:sp>
      <p:sp>
        <p:nvSpPr>
          <p:cNvPr id="58" name="arrowhead-58">
            <a:extLst>
              <a:ext uri="{FF2B5EF4-FFF2-40B4-BE49-F238E27FC236}">
                <a16:creationId xmlns:a16="http://schemas.microsoft.com/office/drawing/2014/main" id="{0A1201EC-EEFF-4927-8A55-2B1F0FC18733}"/>
              </a:ext>
            </a:extLst>
          </p:cNvPr>
          <p:cNvSpPr>
            <a:spLocks noGrp="1"/>
          </p:cNvSpPr>
          <p:nvPr/>
        </p:nvSpPr>
        <p:spPr>
          <a:xfrm>
            <a:off x="11229975" y="4257675"/>
            <a:ext cx="104775" cy="95250"/>
          </a:xfrm>
          <a:custGeom>
            <a:avLst/>
            <a:gdLst/>
            <a:ahLst/>
            <a:cxnLst/>
            <a:rect l="0" t="0" r="0" b="0"/>
            <a:pathLst>
              <a:path w="104775" h="95250">
                <a:moveTo>
                  <a:pt x="104775" y="47625"/>
                </a:moveTo>
                <a:lnTo>
                  <a:pt x="0" y="95250"/>
                </a:lnTo>
                <a:lnTo>
                  <a:pt x="0" y="0"/>
                </a:lnTo>
                <a:close/>
              </a:path>
            </a:pathLst>
          </a:custGeom>
          <a:solidFill>
            <a:srgbClr val="35383D"/>
          </a:solidFill>
          <a:ln w="0">
            <a:noFill/>
          </a:ln>
        </p:spPr>
        <p:txBody>
          <a:bodyPr/>
          <a:lstStyle/>
          <a:p>
            <a:endParaRPr lang="en-US"/>
          </a:p>
        </p:txBody>
      </p:sp>
      <p:sp>
        <p:nvSpPr>
          <p:cNvPr id="59" name="text-59">
            <a:extLst>
              <a:ext uri="{FF2B5EF4-FFF2-40B4-BE49-F238E27FC236}">
                <a16:creationId xmlns:a16="http://schemas.microsoft.com/office/drawing/2014/main" id="{EDD8F000-CCC6-4E72-B532-CE0E41E34799}"/>
              </a:ext>
            </a:extLst>
          </p:cNvPr>
          <p:cNvSpPr>
            <a:spLocks noGrp="1"/>
          </p:cNvSpPr>
          <p:nvPr/>
        </p:nvSpPr>
        <p:spPr>
          <a:xfrm>
            <a:off x="10610850" y="3962400"/>
            <a:ext cx="695325" cy="257175"/>
          </a:xfrm>
          <a:prstGeom prst="rect">
            <a:avLst/>
          </a:prstGeom>
          <a:solidFill>
            <a:srgbClr val="FFFFFF"/>
          </a:solidFill>
          <a:ln w="0">
            <a:noFill/>
          </a:ln>
        </p:spPr>
        <p:txBody>
          <a:bodyPr wrap="none" lIns="0" tIns="0" rIns="0" bIns="0" anchor="ctr">
            <a:noAutofit/>
          </a:bodyPr>
          <a:lstStyle/>
          <a:p>
            <a:pPr algn="ctr">
              <a:defRPr sz="1500" b="0">
                <a:solidFill>
                  <a:srgbClr val="555B63"/>
                </a:solidFill>
                <a:latin typeface="Nimbus Sans"/>
                <a:ea typeface="Nimbus Sans"/>
                <a:cs typeface="Nimbus Sans"/>
              </a:defRPr>
            </a:pPr>
            <a:r>
              <a:rPr sz="1500" b="0">
                <a:solidFill>
                  <a:srgbClr val="555B63"/>
                </a:solidFill>
                <a:latin typeface="Nimbus Sans"/>
                <a:ea typeface="Nimbus Sans"/>
                <a:cs typeface="Nimbus Sans"/>
              </a:rPr>
              <a:t>Action</a:t>
            </a:r>
          </a:p>
        </p:txBody>
      </p:sp>
      <p:sp>
        <p:nvSpPr>
          <p:cNvPr id="60" name="observation-loop-60">
            <a:extLst>
              <a:ext uri="{FF2B5EF4-FFF2-40B4-BE49-F238E27FC236}">
                <a16:creationId xmlns:a16="http://schemas.microsoft.com/office/drawing/2014/main" id="{1C9B2C2B-5554-4ED8-A258-4A69789D05C9}"/>
              </a:ext>
            </a:extLst>
          </p:cNvPr>
          <p:cNvSpPr>
            <a:spLocks noGrp="1"/>
          </p:cNvSpPr>
          <p:nvPr/>
        </p:nvSpPr>
        <p:spPr>
          <a:xfrm>
            <a:off x="1905000" y="5810250"/>
            <a:ext cx="11096625" cy="933450"/>
          </a:xfrm>
          <a:custGeom>
            <a:avLst/>
            <a:gdLst/>
            <a:ahLst/>
            <a:cxnLst/>
            <a:rect l="0" t="0" r="0" b="0"/>
            <a:pathLst>
              <a:path w="11096625" h="933450">
                <a:moveTo>
                  <a:pt x="11096625" y="495300"/>
                </a:moveTo>
                <a:lnTo>
                  <a:pt x="11096625" y="933450"/>
                </a:lnTo>
                <a:lnTo>
                  <a:pt x="0" y="933450"/>
                </a:lnTo>
                <a:lnTo>
                  <a:pt x="0" y="0"/>
                </a:lnTo>
              </a:path>
            </a:pathLst>
          </a:custGeom>
          <a:noFill/>
          <a:ln w="20955">
            <a:solidFill>
              <a:srgbClr val="35383D"/>
            </a:solidFill>
            <a:prstDash val="solid"/>
          </a:ln>
        </p:spPr>
        <p:txBody>
          <a:bodyPr/>
          <a:lstStyle/>
          <a:p>
            <a:endParaRPr lang="en-US"/>
          </a:p>
        </p:txBody>
      </p:sp>
      <p:sp>
        <p:nvSpPr>
          <p:cNvPr id="61" name="arrowhead-61">
            <a:extLst>
              <a:ext uri="{FF2B5EF4-FFF2-40B4-BE49-F238E27FC236}">
                <a16:creationId xmlns:a16="http://schemas.microsoft.com/office/drawing/2014/main" id="{2FA8F617-0581-40AA-A964-552587422530}"/>
              </a:ext>
            </a:extLst>
          </p:cNvPr>
          <p:cNvSpPr>
            <a:spLocks noGrp="1"/>
          </p:cNvSpPr>
          <p:nvPr/>
        </p:nvSpPr>
        <p:spPr>
          <a:xfrm>
            <a:off x="1857375" y="5810250"/>
            <a:ext cx="95250" cy="104775"/>
          </a:xfrm>
          <a:custGeom>
            <a:avLst/>
            <a:gdLst/>
            <a:ahLst/>
            <a:cxnLst/>
            <a:rect l="0" t="0" r="0" b="0"/>
            <a:pathLst>
              <a:path w="95250" h="104775">
                <a:moveTo>
                  <a:pt x="47625" y="0"/>
                </a:moveTo>
                <a:lnTo>
                  <a:pt x="95250" y="104775"/>
                </a:lnTo>
                <a:lnTo>
                  <a:pt x="0" y="104775"/>
                </a:lnTo>
                <a:close/>
              </a:path>
            </a:pathLst>
          </a:custGeom>
          <a:solidFill>
            <a:srgbClr val="35383D"/>
          </a:solidFill>
          <a:ln w="0">
            <a:noFill/>
          </a:ln>
        </p:spPr>
        <p:txBody>
          <a:bodyPr/>
          <a:lstStyle/>
          <a:p>
            <a:endParaRPr lang="en-US"/>
          </a:p>
        </p:txBody>
      </p:sp>
      <p:sp>
        <p:nvSpPr>
          <p:cNvPr id="62" name="text-62">
            <a:extLst>
              <a:ext uri="{FF2B5EF4-FFF2-40B4-BE49-F238E27FC236}">
                <a16:creationId xmlns:a16="http://schemas.microsoft.com/office/drawing/2014/main" id="{C0F39AAA-2963-47A8-A28F-7769CEABFDB2}"/>
              </a:ext>
            </a:extLst>
          </p:cNvPr>
          <p:cNvSpPr>
            <a:spLocks noGrp="1"/>
          </p:cNvSpPr>
          <p:nvPr/>
        </p:nvSpPr>
        <p:spPr>
          <a:xfrm>
            <a:off x="5334000" y="6391275"/>
            <a:ext cx="4476750" cy="276225"/>
          </a:xfrm>
          <a:prstGeom prst="rect">
            <a:avLst/>
          </a:prstGeom>
          <a:solidFill>
            <a:srgbClr val="FFFFFF"/>
          </a:solidFill>
          <a:ln w="0">
            <a:noFill/>
          </a:ln>
        </p:spPr>
        <p:txBody>
          <a:bodyPr wrap="none" lIns="0" tIns="0" rIns="0" bIns="0" anchor="ctr">
            <a:noAutofit/>
          </a:bodyPr>
          <a:lstStyle/>
          <a:p>
            <a:pPr algn="ctr">
              <a:defRPr sz="1725" b="0">
                <a:solidFill>
                  <a:srgbClr val="555B63"/>
                </a:solidFill>
                <a:latin typeface="Nimbus Sans"/>
                <a:ea typeface="Nimbus Sans"/>
                <a:cs typeface="Nimbus Sans"/>
              </a:defRPr>
            </a:pPr>
            <a:r>
              <a:rPr lang="en-US" sz="1725" b="0" dirty="0">
                <a:solidFill>
                  <a:srgbClr val="555B63"/>
                </a:solidFill>
                <a:latin typeface="Nimbus Sans"/>
                <a:ea typeface="Nimbus Sans"/>
                <a:cs typeface="Nimbus Sans"/>
              </a:rPr>
              <a:t>Geographic features/coverage/historical KPIs/</a:t>
            </a:r>
            <a:r>
              <a:rPr sz="1725" b="0" dirty="0">
                <a:solidFill>
                  <a:srgbClr val="555B63"/>
                </a:solidFill>
                <a:latin typeface="Nimbus Sans"/>
                <a:ea typeface="Nimbus Sans"/>
                <a:cs typeface="Nimbus Sans"/>
              </a:rPr>
              <a:t>load estimates</a:t>
            </a:r>
          </a:p>
        </p:txBody>
      </p:sp>
      <p:sp>
        <p:nvSpPr>
          <p:cNvPr id="63" name="execution-trace-63">
            <a:extLst>
              <a:ext uri="{FF2B5EF4-FFF2-40B4-BE49-F238E27FC236}">
                <a16:creationId xmlns:a16="http://schemas.microsoft.com/office/drawing/2014/main" id="{F3FE984E-0CFE-42DA-BB40-0AECF751D396}"/>
              </a:ext>
            </a:extLst>
          </p:cNvPr>
          <p:cNvSpPr>
            <a:spLocks noGrp="1"/>
          </p:cNvSpPr>
          <p:nvPr/>
        </p:nvSpPr>
        <p:spPr>
          <a:xfrm>
            <a:off x="11334750" y="7315200"/>
            <a:ext cx="3333750" cy="904875"/>
          </a:xfrm>
          <a:prstGeom prst="roundRect">
            <a:avLst>
              <a:gd name="adj" fmla="val 23158"/>
            </a:avLst>
          </a:prstGeom>
          <a:solidFill>
            <a:srgbClr val="F7CDAF"/>
          </a:solidFill>
          <a:ln w="0">
            <a:noFill/>
          </a:ln>
        </p:spPr>
        <p:txBody>
          <a:bodyPr/>
          <a:lstStyle/>
          <a:p>
            <a:endParaRPr lang="en-US"/>
          </a:p>
        </p:txBody>
      </p:sp>
      <p:sp>
        <p:nvSpPr>
          <p:cNvPr id="64" name="text-64">
            <a:extLst>
              <a:ext uri="{FF2B5EF4-FFF2-40B4-BE49-F238E27FC236}">
                <a16:creationId xmlns:a16="http://schemas.microsoft.com/office/drawing/2014/main" id="{2E4C78BB-5B30-4B09-BB1B-C5B684AD80F4}"/>
              </a:ext>
            </a:extLst>
          </p:cNvPr>
          <p:cNvSpPr>
            <a:spLocks noGrp="1"/>
          </p:cNvSpPr>
          <p:nvPr/>
        </p:nvSpPr>
        <p:spPr>
          <a:xfrm>
            <a:off x="11515725" y="7439025"/>
            <a:ext cx="2971800" cy="333375"/>
          </a:xfrm>
          <a:prstGeom prst="rect">
            <a:avLst/>
          </a:prstGeom>
          <a:noFill/>
          <a:ln w="0">
            <a:noFill/>
          </a:ln>
        </p:spPr>
        <p:txBody>
          <a:bodyPr wrap="none" lIns="0" tIns="0" rIns="0" bIns="0" anchor="ctr">
            <a:noAutofit/>
          </a:bodyPr>
          <a:lstStyle/>
          <a:p>
            <a:pPr algn="ctr">
              <a:defRPr sz="2100" b="1">
                <a:solidFill>
                  <a:srgbClr val="202124"/>
                </a:solidFill>
                <a:latin typeface="Nimbus Sans"/>
                <a:ea typeface="Nimbus Sans"/>
                <a:cs typeface="Nimbus Sans"/>
              </a:defRPr>
            </a:pPr>
            <a:r>
              <a:rPr lang="en-US" sz="2100" b="1" dirty="0">
                <a:solidFill>
                  <a:srgbClr val="202124"/>
                </a:solidFill>
                <a:latin typeface="Nimbus Sans"/>
                <a:ea typeface="Nimbus Sans"/>
                <a:cs typeface="Nimbus Sans"/>
              </a:rPr>
              <a:t>End-to-end execution</a:t>
            </a:r>
            <a:r>
              <a:rPr sz="2100" b="1" dirty="0">
                <a:solidFill>
                  <a:srgbClr val="202124"/>
                </a:solidFill>
                <a:latin typeface="Nimbus Sans"/>
                <a:ea typeface="Nimbus Sans"/>
                <a:cs typeface="Nimbus Sans"/>
              </a:rPr>
              <a:t> trace</a:t>
            </a:r>
            <a:r>
              <a:rPr lang="en-US" sz="2100" b="1" dirty="0">
                <a:solidFill>
                  <a:srgbClr val="202124"/>
                </a:solidFill>
                <a:latin typeface="Nimbus Sans"/>
                <a:ea typeface="Nimbus Sans"/>
                <a:cs typeface="Nimbus Sans"/>
              </a:rPr>
              <a:t>s</a:t>
            </a:r>
            <a:endParaRPr sz="2100" b="1" dirty="0">
              <a:solidFill>
                <a:srgbClr val="202124"/>
              </a:solidFill>
              <a:latin typeface="Nimbus Sans"/>
              <a:ea typeface="Nimbus Sans"/>
              <a:cs typeface="Nimbus Sans"/>
            </a:endParaRPr>
          </a:p>
        </p:txBody>
      </p:sp>
      <p:sp>
        <p:nvSpPr>
          <p:cNvPr id="65" name="text-65">
            <a:extLst>
              <a:ext uri="{FF2B5EF4-FFF2-40B4-BE49-F238E27FC236}">
                <a16:creationId xmlns:a16="http://schemas.microsoft.com/office/drawing/2014/main" id="{BFC76C0B-3680-45C5-802F-D4569959F972}"/>
              </a:ext>
            </a:extLst>
          </p:cNvPr>
          <p:cNvSpPr>
            <a:spLocks noGrp="1"/>
          </p:cNvSpPr>
          <p:nvPr/>
        </p:nvSpPr>
        <p:spPr>
          <a:xfrm>
            <a:off x="11506200" y="7858125"/>
            <a:ext cx="2990850" cy="247650"/>
          </a:xfrm>
          <a:prstGeom prst="rect">
            <a:avLst/>
          </a:prstGeom>
          <a:noFill/>
          <a:ln w="0">
            <a:noFill/>
          </a:ln>
        </p:spPr>
        <p:txBody>
          <a:bodyPr wrap="none" lIns="0" tIns="0" rIns="0" bIns="0" anchor="ctr">
            <a:noAutofit/>
          </a:bodyPr>
          <a:lstStyle/>
          <a:p>
            <a:pPr algn="ctr">
              <a:defRPr sz="1538" b="0">
                <a:solidFill>
                  <a:srgbClr val="202124"/>
                </a:solidFill>
                <a:latin typeface="Nimbus Sans"/>
                <a:ea typeface="Nimbus Sans"/>
                <a:cs typeface="Nimbus Sans"/>
              </a:defRPr>
            </a:pPr>
            <a:r>
              <a:rPr sz="1538" b="0">
                <a:solidFill>
                  <a:srgbClr val="202124"/>
                </a:solidFill>
                <a:latin typeface="Nimbus Sans"/>
                <a:ea typeface="Nimbus Sans"/>
                <a:cs typeface="Nimbus Sans"/>
              </a:rPr>
              <a:t>Goals, actions, results and errors</a:t>
            </a:r>
          </a:p>
        </p:txBody>
      </p:sp>
      <p:sp>
        <p:nvSpPr>
          <p:cNvPr id="68" name="skill-refinement-link-68">
            <a:extLst>
              <a:ext uri="{FF2B5EF4-FFF2-40B4-BE49-F238E27FC236}">
                <a16:creationId xmlns:a16="http://schemas.microsoft.com/office/drawing/2014/main" id="{51A37B2D-5126-43E7-846C-69C3A2CF42D8}"/>
              </a:ext>
            </a:extLst>
          </p:cNvPr>
          <p:cNvSpPr>
            <a:spLocks noGrp="1"/>
          </p:cNvSpPr>
          <p:nvPr/>
        </p:nvSpPr>
        <p:spPr>
          <a:xfrm>
            <a:off x="6572250" y="7315200"/>
            <a:ext cx="3476625" cy="904875"/>
          </a:xfrm>
          <a:prstGeom prst="roundRect">
            <a:avLst>
              <a:gd name="adj" fmla="val 23158"/>
            </a:avLst>
          </a:prstGeom>
          <a:solidFill>
            <a:srgbClr val="DFEDD5"/>
          </a:solidFill>
          <a:ln w="0">
            <a:noFill/>
          </a:ln>
        </p:spPr>
        <p:txBody>
          <a:bodyPr/>
          <a:lstStyle/>
          <a:p>
            <a:endParaRPr lang="en-US"/>
          </a:p>
        </p:txBody>
      </p:sp>
      <p:sp>
        <p:nvSpPr>
          <p:cNvPr id="69" name="text-69">
            <a:extLst>
              <a:ext uri="{FF2B5EF4-FFF2-40B4-BE49-F238E27FC236}">
                <a16:creationId xmlns:a16="http://schemas.microsoft.com/office/drawing/2014/main" id="{FE547E2B-9D75-492F-B6C8-25F40E06F9AC}"/>
              </a:ext>
            </a:extLst>
          </p:cNvPr>
          <p:cNvSpPr>
            <a:spLocks noGrp="1"/>
          </p:cNvSpPr>
          <p:nvPr/>
        </p:nvSpPr>
        <p:spPr>
          <a:xfrm>
            <a:off x="6724650" y="7439025"/>
            <a:ext cx="3171825" cy="333375"/>
          </a:xfrm>
          <a:prstGeom prst="rect">
            <a:avLst/>
          </a:prstGeom>
          <a:noFill/>
          <a:ln w="0">
            <a:noFill/>
          </a:ln>
        </p:spPr>
        <p:txBody>
          <a:bodyPr wrap="none" lIns="0" tIns="0" rIns="0" bIns="0" anchor="ctr">
            <a:noAutofit/>
          </a:bodyPr>
          <a:lstStyle/>
          <a:p>
            <a:pPr algn="ctr">
              <a:defRPr sz="2025" b="1">
                <a:solidFill>
                  <a:srgbClr val="202124"/>
                </a:solidFill>
                <a:latin typeface="Nimbus Sans"/>
                <a:ea typeface="Nimbus Sans"/>
                <a:cs typeface="Nimbus Sans"/>
              </a:defRPr>
            </a:pPr>
            <a:r>
              <a:rPr sz="2025" b="1">
                <a:solidFill>
                  <a:srgbClr val="202124"/>
                </a:solidFill>
                <a:latin typeface="Nimbus Sans"/>
                <a:ea typeface="Nimbus Sans"/>
                <a:cs typeface="Nimbus Sans"/>
              </a:rPr>
              <a:t>Skill refinement (Fig. 2)</a:t>
            </a:r>
          </a:p>
        </p:txBody>
      </p:sp>
      <p:sp>
        <p:nvSpPr>
          <p:cNvPr id="70" name="text-70">
            <a:extLst>
              <a:ext uri="{FF2B5EF4-FFF2-40B4-BE49-F238E27FC236}">
                <a16:creationId xmlns:a16="http://schemas.microsoft.com/office/drawing/2014/main" id="{E16B6720-29D1-4137-BDC8-CEB02BC51ACE}"/>
              </a:ext>
            </a:extLst>
          </p:cNvPr>
          <p:cNvSpPr>
            <a:spLocks noGrp="1"/>
          </p:cNvSpPr>
          <p:nvPr/>
        </p:nvSpPr>
        <p:spPr>
          <a:xfrm>
            <a:off x="6734175" y="7858125"/>
            <a:ext cx="3162300" cy="247650"/>
          </a:xfrm>
          <a:prstGeom prst="rect">
            <a:avLst/>
          </a:prstGeom>
          <a:noFill/>
          <a:ln w="0">
            <a:noFill/>
          </a:ln>
        </p:spPr>
        <p:txBody>
          <a:bodyPr wrap="none" lIns="0" tIns="0" rIns="0" bIns="0" anchor="ctr">
            <a:noAutofit/>
          </a:bodyPr>
          <a:lstStyle/>
          <a:p>
            <a:pPr algn="ctr">
              <a:defRPr sz="1575" b="0">
                <a:solidFill>
                  <a:srgbClr val="202124"/>
                </a:solidFill>
                <a:latin typeface="Nimbus Sans"/>
                <a:ea typeface="Nimbus Sans"/>
                <a:cs typeface="Nimbus Sans"/>
              </a:defRPr>
            </a:pPr>
            <a:r>
              <a:rPr sz="1575" b="0">
                <a:solidFill>
                  <a:srgbClr val="202124"/>
                </a:solidFill>
                <a:latin typeface="Nimbus Sans"/>
                <a:ea typeface="Nimbus Sans"/>
                <a:cs typeface="Nimbus Sans"/>
              </a:rPr>
              <a:t>Updates the shared skill library</a:t>
            </a:r>
          </a:p>
        </p:txBody>
      </p:sp>
      <p:sp>
        <p:nvSpPr>
          <p:cNvPr id="71" name="trace-to-offline-refinement-71">
            <a:extLst>
              <a:ext uri="{FF2B5EF4-FFF2-40B4-BE49-F238E27FC236}">
                <a16:creationId xmlns:a16="http://schemas.microsoft.com/office/drawing/2014/main" id="{07ACF66E-3EA9-4A37-9184-B3FC73830D0B}"/>
              </a:ext>
            </a:extLst>
          </p:cNvPr>
          <p:cNvSpPr>
            <a:spLocks noGrp="1"/>
          </p:cNvSpPr>
          <p:nvPr/>
        </p:nvSpPr>
        <p:spPr>
          <a:xfrm>
            <a:off x="10048875" y="7772400"/>
            <a:ext cx="1285875" cy="9525"/>
          </a:xfrm>
          <a:custGeom>
            <a:avLst/>
            <a:gdLst/>
            <a:ahLst/>
            <a:cxnLst/>
            <a:rect l="0" t="0" r="0" b="0"/>
            <a:pathLst>
              <a:path w="1285875" h="9525">
                <a:moveTo>
                  <a:pt x="1285875" y="0"/>
                </a:moveTo>
                <a:lnTo>
                  <a:pt x="0" y="0"/>
                </a:lnTo>
              </a:path>
            </a:pathLst>
          </a:custGeom>
          <a:noFill/>
          <a:ln w="20955">
            <a:solidFill>
              <a:srgbClr val="537046"/>
            </a:solidFill>
            <a:prstDash val="solid"/>
          </a:ln>
        </p:spPr>
        <p:txBody>
          <a:bodyPr/>
          <a:lstStyle/>
          <a:p>
            <a:endParaRPr lang="en-US"/>
          </a:p>
        </p:txBody>
      </p:sp>
      <p:sp>
        <p:nvSpPr>
          <p:cNvPr id="72" name="arrowhead-72">
            <a:extLst>
              <a:ext uri="{FF2B5EF4-FFF2-40B4-BE49-F238E27FC236}">
                <a16:creationId xmlns:a16="http://schemas.microsoft.com/office/drawing/2014/main" id="{D9F8554A-7801-4496-AFFB-9BEDBA86D83E}"/>
              </a:ext>
            </a:extLst>
          </p:cNvPr>
          <p:cNvSpPr>
            <a:spLocks noGrp="1"/>
          </p:cNvSpPr>
          <p:nvPr/>
        </p:nvSpPr>
        <p:spPr>
          <a:xfrm>
            <a:off x="10048875" y="7724775"/>
            <a:ext cx="104775" cy="95250"/>
          </a:xfrm>
          <a:custGeom>
            <a:avLst/>
            <a:gdLst/>
            <a:ahLst/>
            <a:cxnLst/>
            <a:rect l="0" t="0" r="0" b="0"/>
            <a:pathLst>
              <a:path w="104775" h="95250">
                <a:moveTo>
                  <a:pt x="0" y="47625"/>
                </a:moveTo>
                <a:lnTo>
                  <a:pt x="104775" y="0"/>
                </a:lnTo>
                <a:lnTo>
                  <a:pt x="104775" y="95250"/>
                </a:lnTo>
                <a:close/>
              </a:path>
            </a:pathLst>
          </a:custGeom>
          <a:solidFill>
            <a:srgbClr val="537046"/>
          </a:solidFill>
          <a:ln w="0">
            <a:noFill/>
          </a:ln>
        </p:spPr>
        <p:txBody>
          <a:bodyPr/>
          <a:lstStyle/>
          <a:p>
            <a:endParaRPr lang="en-US"/>
          </a:p>
        </p:txBody>
      </p:sp>
      <p:sp>
        <p:nvSpPr>
          <p:cNvPr id="73" name="text-73">
            <a:extLst>
              <a:ext uri="{FF2B5EF4-FFF2-40B4-BE49-F238E27FC236}">
                <a16:creationId xmlns:a16="http://schemas.microsoft.com/office/drawing/2014/main" id="{E8328C30-6F39-485F-A38F-F26F7648D40D}"/>
              </a:ext>
            </a:extLst>
          </p:cNvPr>
          <p:cNvSpPr>
            <a:spLocks noGrp="1"/>
          </p:cNvSpPr>
          <p:nvPr/>
        </p:nvSpPr>
        <p:spPr>
          <a:xfrm>
            <a:off x="10067925" y="7353300"/>
            <a:ext cx="1247775" cy="257175"/>
          </a:xfrm>
          <a:prstGeom prst="rect">
            <a:avLst/>
          </a:prstGeom>
          <a:solidFill>
            <a:srgbClr val="FFFFFF"/>
          </a:solidFill>
          <a:ln w="0">
            <a:noFill/>
          </a:ln>
        </p:spPr>
        <p:txBody>
          <a:bodyPr wrap="none" lIns="0" tIns="0" rIns="0" bIns="0" anchor="ctr">
            <a:noAutofit/>
          </a:bodyPr>
          <a:lstStyle/>
          <a:p>
            <a:pPr algn="ctr">
              <a:defRPr sz="1388" b="0">
                <a:solidFill>
                  <a:srgbClr val="537046"/>
                </a:solidFill>
                <a:latin typeface="Nimbus Sans"/>
                <a:ea typeface="Nimbus Sans"/>
                <a:cs typeface="Nimbus Sans"/>
              </a:defRPr>
            </a:pPr>
            <a:r>
              <a:rPr sz="1388" b="0">
                <a:solidFill>
                  <a:srgbClr val="537046"/>
                </a:solidFill>
                <a:latin typeface="Nimbus Sans"/>
                <a:ea typeface="Nimbus Sans"/>
                <a:cs typeface="Nimbus Sans"/>
              </a:rPr>
              <a:t>Offline feedback</a:t>
            </a:r>
          </a:p>
        </p:txBody>
      </p:sp>
      <p:sp>
        <p:nvSpPr>
          <p:cNvPr id="75" name="text-24">
            <a:extLst>
              <a:ext uri="{FF2B5EF4-FFF2-40B4-BE49-F238E27FC236}">
                <a16:creationId xmlns:a16="http://schemas.microsoft.com/office/drawing/2014/main" id="{BA2F9BD4-2B24-0322-1439-AE5966CBAB55}"/>
              </a:ext>
            </a:extLst>
          </p:cNvPr>
          <p:cNvSpPr>
            <a:spLocks noGrp="1"/>
          </p:cNvSpPr>
          <p:nvPr/>
        </p:nvSpPr>
        <p:spPr>
          <a:xfrm>
            <a:off x="4124325" y="4843462"/>
            <a:ext cx="2476500" cy="276225"/>
          </a:xfrm>
          <a:prstGeom prst="rect">
            <a:avLst/>
          </a:prstGeom>
          <a:noFill/>
          <a:ln w="0">
            <a:noFill/>
          </a:ln>
        </p:spPr>
        <p:txBody>
          <a:bodyPr wrap="none" lIns="0" tIns="0" rIns="0" bIns="0" anchor="ctr">
            <a:noAutofit/>
          </a:bodyPr>
          <a:lstStyle/>
          <a:p>
            <a:pPr algn="ctr">
              <a:defRPr sz="1725" b="0">
                <a:solidFill>
                  <a:srgbClr val="202124"/>
                </a:solidFill>
                <a:latin typeface="Nimbus Sans"/>
                <a:ea typeface="Nimbus Sans"/>
                <a:cs typeface="Nimbus Sans"/>
              </a:defRPr>
            </a:pPr>
            <a:r>
              <a:rPr lang="en-US" sz="1600" b="0" dirty="0">
                <a:solidFill>
                  <a:srgbClr val="202124"/>
                </a:solidFill>
                <a:latin typeface="Nimbus Sans"/>
                <a:ea typeface="Nimbus Sans"/>
                <a:cs typeface="Nimbus Sans"/>
              </a:rPr>
              <a:t>(</a:t>
            </a:r>
            <a:r>
              <a:rPr lang="en-US" sz="1600" b="0" dirty="0" err="1">
                <a:solidFill>
                  <a:srgbClr val="202124"/>
                </a:solidFill>
                <a:latin typeface="Nimbus Sans"/>
                <a:ea typeface="Nimbus Sans"/>
                <a:cs typeface="Nimbus Sans"/>
              </a:rPr>
              <a:t>eg.</a:t>
            </a:r>
            <a:r>
              <a:rPr lang="en-US" sz="1600" b="0" dirty="0">
                <a:solidFill>
                  <a:srgbClr val="202124"/>
                </a:solidFill>
                <a:latin typeface="Nimbus Sans"/>
                <a:ea typeface="Nimbus Sans"/>
                <a:cs typeface="Nimbus Sans"/>
              </a:rPr>
              <a:t> learn the surrounding </a:t>
            </a:r>
            <a:r>
              <a:rPr lang="en-US" sz="1600" b="0" dirty="0" err="1">
                <a:solidFill>
                  <a:srgbClr val="202124"/>
                </a:solidFill>
                <a:latin typeface="Nimbus Sans"/>
                <a:ea typeface="Nimbus Sans"/>
                <a:cs typeface="Nimbus Sans"/>
              </a:rPr>
              <a:t>lanuse</a:t>
            </a:r>
            <a:r>
              <a:rPr lang="en-US" sz="1600" b="0" dirty="0">
                <a:solidFill>
                  <a:srgbClr val="202124"/>
                </a:solidFill>
                <a:latin typeface="Nimbus Sans"/>
                <a:ea typeface="Nimbus Sans"/>
                <a:cs typeface="Nimbus Sans"/>
              </a:rPr>
              <a:t>)</a:t>
            </a:r>
            <a:endParaRPr sz="1600" b="0" dirty="0">
              <a:solidFill>
                <a:srgbClr val="202124"/>
              </a:solidFill>
              <a:latin typeface="Nimbus Sans"/>
              <a:ea typeface="Nimbus Sans"/>
              <a:cs typeface="Nimbus Sans"/>
            </a:endParaRPr>
          </a:p>
        </p:txBody>
      </p:sp>
      <p:sp>
        <p:nvSpPr>
          <p:cNvPr id="76" name="Rounded Rectangle 75">
            <a:extLst>
              <a:ext uri="{FF2B5EF4-FFF2-40B4-BE49-F238E27FC236}">
                <a16:creationId xmlns:a16="http://schemas.microsoft.com/office/drawing/2014/main" id="{D9F8FCE6-8503-44B5-379A-D9A76523BFD1}"/>
              </a:ext>
            </a:extLst>
          </p:cNvPr>
          <p:cNvSpPr/>
          <p:nvPr/>
        </p:nvSpPr>
        <p:spPr>
          <a:xfrm>
            <a:off x="323557" y="904875"/>
            <a:ext cx="14616332" cy="6072700"/>
          </a:xfrm>
          <a:prstGeom prst="round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8" name="Straight Arrow Connector 77">
            <a:extLst>
              <a:ext uri="{FF2B5EF4-FFF2-40B4-BE49-F238E27FC236}">
                <a16:creationId xmlns:a16="http://schemas.microsoft.com/office/drawing/2014/main" id="{EF2E9CD2-70B7-50DD-6740-646DC98C0FE4}"/>
              </a:ext>
            </a:extLst>
          </p:cNvPr>
          <p:cNvCxnSpPr>
            <a:endCxn id="63" idx="0"/>
          </p:cNvCxnSpPr>
          <p:nvPr/>
        </p:nvCxnSpPr>
        <p:spPr>
          <a:xfrm>
            <a:off x="13001625" y="6977575"/>
            <a:ext cx="0" cy="3376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0" name="TextBox 79">
            <a:extLst>
              <a:ext uri="{FF2B5EF4-FFF2-40B4-BE49-F238E27FC236}">
                <a16:creationId xmlns:a16="http://schemas.microsoft.com/office/drawing/2014/main" id="{107BA3F8-0ACD-8B6B-3038-AD7E556C4982}"/>
              </a:ext>
            </a:extLst>
          </p:cNvPr>
          <p:cNvSpPr txBox="1"/>
          <p:nvPr/>
        </p:nvSpPr>
        <p:spPr>
          <a:xfrm>
            <a:off x="490538" y="4690646"/>
            <a:ext cx="3028950" cy="338554"/>
          </a:xfrm>
          <a:prstGeom prst="rect">
            <a:avLst/>
          </a:prstGeom>
          <a:noFill/>
        </p:spPr>
        <p:txBody>
          <a:bodyPr wrap="square" rtlCol="0">
            <a:spAutoFit/>
          </a:bodyPr>
          <a:lstStyle/>
          <a:p>
            <a:r>
              <a:rPr lang="en-US" sz="1600" dirty="0"/>
              <a:t>Recent actions and observations</a:t>
            </a:r>
          </a:p>
        </p:txBody>
      </p:sp>
    </p:spTree>
    <p:extLst>
      <p:ext uri="{BB962C8B-B14F-4D97-AF65-F5344CB8AC3E}">
        <p14:creationId xmlns:p14="http://schemas.microsoft.com/office/powerpoint/2010/main" val="11885276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6" name="text-74">
            <a:extLst>
              <a:ext uri="{FF2B5EF4-FFF2-40B4-BE49-F238E27FC236}">
                <a16:creationId xmlns:a16="http://schemas.microsoft.com/office/drawing/2014/main" id="{C838A7D1-FDB9-457A-8D97-EA848E1055E5}"/>
              </a:ext>
            </a:extLst>
          </p:cNvPr>
          <p:cNvSpPr>
            <a:spLocks noGrp="1"/>
          </p:cNvSpPr>
          <p:nvPr/>
        </p:nvSpPr>
        <p:spPr>
          <a:xfrm>
            <a:off x="552450" y="285750"/>
            <a:ext cx="13335000" cy="619125"/>
          </a:xfrm>
          <a:prstGeom prst="rect">
            <a:avLst/>
          </a:prstGeom>
          <a:noFill/>
          <a:ln w="0">
            <a:noFill/>
          </a:ln>
        </p:spPr>
        <p:txBody>
          <a:bodyPr wrap="none" lIns="0" tIns="0" rIns="0" bIns="0" anchor="ctr">
            <a:noAutofit/>
          </a:bodyPr>
          <a:lstStyle/>
          <a:p>
            <a:pPr algn="l">
              <a:defRPr sz="3225" b="1">
                <a:solidFill>
                  <a:srgbClr val="202124"/>
                </a:solidFill>
                <a:latin typeface="Nimbus Sans"/>
                <a:ea typeface="Nimbus Sans"/>
                <a:cs typeface="Nimbus Sans"/>
              </a:defRPr>
            </a:pPr>
            <a:r>
              <a:rPr sz="3225" b="1">
                <a:solidFill>
                  <a:srgbClr val="202124"/>
                </a:solidFill>
                <a:latin typeface="Nimbus Sans"/>
                <a:ea typeface="Nimbus Sans"/>
                <a:cs typeface="Nimbus Sans"/>
              </a:rPr>
              <a:t>Offline skill extraction and refinement</a:t>
            </a:r>
          </a:p>
        </p:txBody>
      </p:sp>
      <p:sp>
        <p:nvSpPr>
          <p:cNvPr id="2" name="text-75">
            <a:extLst>
              <a:ext uri="{FF2B5EF4-FFF2-40B4-BE49-F238E27FC236}">
                <a16:creationId xmlns:a16="http://schemas.microsoft.com/office/drawing/2014/main" id="{D5539447-9AAF-44BF-8AAA-AFDE44B9814A}"/>
              </a:ext>
            </a:extLst>
          </p:cNvPr>
          <p:cNvSpPr>
            <a:spLocks noGrp="1"/>
          </p:cNvSpPr>
          <p:nvPr/>
        </p:nvSpPr>
        <p:spPr>
          <a:xfrm>
            <a:off x="14097000" y="352425"/>
            <a:ext cx="590550" cy="438150"/>
          </a:xfrm>
          <a:prstGeom prst="rect">
            <a:avLst/>
          </a:prstGeom>
          <a:noFill/>
          <a:ln w="0">
            <a:noFill/>
          </a:ln>
        </p:spPr>
        <p:txBody>
          <a:bodyPr wrap="none" lIns="0" tIns="0" rIns="0" bIns="0" anchor="ctr">
            <a:noAutofit/>
          </a:bodyPr>
          <a:lstStyle/>
          <a:p>
            <a:pPr algn="r">
              <a:defRPr sz="1800" b="0">
                <a:solidFill>
                  <a:srgbClr val="555B63"/>
                </a:solidFill>
                <a:latin typeface="Nimbus Sans"/>
                <a:ea typeface="Nimbus Sans"/>
                <a:cs typeface="Nimbus Sans"/>
              </a:defRPr>
            </a:pPr>
            <a:r>
              <a:rPr sz="1800" b="0">
                <a:solidFill>
                  <a:srgbClr val="555B63"/>
                </a:solidFill>
                <a:latin typeface="Nimbus Sans"/>
                <a:ea typeface="Nimbus Sans"/>
                <a:cs typeface="Nimbus Sans"/>
              </a:rPr>
              <a:t>02</a:t>
            </a:r>
          </a:p>
        </p:txBody>
      </p:sp>
      <p:sp>
        <p:nvSpPr>
          <p:cNvPr id="3" name="manual-trace-input-76">
            <a:extLst>
              <a:ext uri="{FF2B5EF4-FFF2-40B4-BE49-F238E27FC236}">
                <a16:creationId xmlns:a16="http://schemas.microsoft.com/office/drawing/2014/main" id="{694A758C-085C-4DFA-8D58-C06B6AB142D1}"/>
              </a:ext>
            </a:extLst>
          </p:cNvPr>
          <p:cNvSpPr>
            <a:spLocks noGrp="1"/>
          </p:cNvSpPr>
          <p:nvPr/>
        </p:nvSpPr>
        <p:spPr>
          <a:xfrm>
            <a:off x="571500" y="1476375"/>
            <a:ext cx="2857500" cy="1885950"/>
          </a:xfrm>
          <a:prstGeom prst="roundRect">
            <a:avLst>
              <a:gd name="adj" fmla="val 11111"/>
            </a:avLst>
          </a:prstGeom>
          <a:solidFill>
            <a:srgbClr val="F7CDAF"/>
          </a:solidFill>
          <a:ln w="0">
            <a:noFill/>
          </a:ln>
        </p:spPr>
        <p:txBody>
          <a:bodyPr/>
          <a:lstStyle/>
          <a:p>
            <a:endParaRPr lang="en-US"/>
          </a:p>
        </p:txBody>
      </p:sp>
      <p:sp>
        <p:nvSpPr>
          <p:cNvPr id="4" name="text-77">
            <a:extLst>
              <a:ext uri="{FF2B5EF4-FFF2-40B4-BE49-F238E27FC236}">
                <a16:creationId xmlns:a16="http://schemas.microsoft.com/office/drawing/2014/main" id="{C1C0D989-6F02-405F-9DF0-AB26B47ACC41}"/>
              </a:ext>
            </a:extLst>
          </p:cNvPr>
          <p:cNvSpPr>
            <a:spLocks noGrp="1"/>
          </p:cNvSpPr>
          <p:nvPr/>
        </p:nvSpPr>
        <p:spPr>
          <a:xfrm>
            <a:off x="733425" y="1647825"/>
            <a:ext cx="2533650" cy="409575"/>
          </a:xfrm>
          <a:prstGeom prst="rect">
            <a:avLst/>
          </a:prstGeom>
          <a:noFill/>
          <a:ln w="0">
            <a:noFill/>
          </a:ln>
        </p:spPr>
        <p:txBody>
          <a:bodyPr wrap="none" lIns="0" tIns="0" rIns="0" bIns="0" anchor="ctr">
            <a:noAutofit/>
          </a:bodyPr>
          <a:lstStyle/>
          <a:p>
            <a:pPr algn="ctr">
              <a:defRPr sz="1950" b="1">
                <a:solidFill>
                  <a:srgbClr val="202124"/>
                </a:solidFill>
                <a:latin typeface="Nimbus Sans"/>
                <a:ea typeface="Nimbus Sans"/>
                <a:cs typeface="Nimbus Sans"/>
              </a:defRPr>
            </a:pPr>
            <a:r>
              <a:rPr sz="1950" b="1">
                <a:solidFill>
                  <a:srgbClr val="202124"/>
                </a:solidFill>
                <a:latin typeface="Nimbus Sans"/>
                <a:ea typeface="Nimbus Sans"/>
                <a:cs typeface="Nimbus Sans"/>
              </a:rPr>
              <a:t>Original manual trace</a:t>
            </a:r>
          </a:p>
        </p:txBody>
      </p:sp>
      <p:sp>
        <p:nvSpPr>
          <p:cNvPr id="5" name="text-78">
            <a:extLst>
              <a:ext uri="{FF2B5EF4-FFF2-40B4-BE49-F238E27FC236}">
                <a16:creationId xmlns:a16="http://schemas.microsoft.com/office/drawing/2014/main" id="{8637B308-1802-449C-BD51-B8EE853F8970}"/>
              </a:ext>
            </a:extLst>
          </p:cNvPr>
          <p:cNvSpPr>
            <a:spLocks noGrp="1"/>
          </p:cNvSpPr>
          <p:nvPr/>
        </p:nvSpPr>
        <p:spPr>
          <a:xfrm>
            <a:off x="742950" y="2238375"/>
            <a:ext cx="2514600" cy="323850"/>
          </a:xfrm>
          <a:prstGeom prst="rect">
            <a:avLst/>
          </a:prstGeom>
          <a:noFill/>
          <a:ln w="0">
            <a:noFill/>
          </a:ln>
        </p:spPr>
        <p:txBody>
          <a:bodyPr wrap="none" lIns="0" tIns="0" rIns="0" bIns="0" anchor="ctr">
            <a:noAutofit/>
          </a:bodyPr>
          <a:lstStyle/>
          <a:p>
            <a:pPr algn="ctr">
              <a:defRPr sz="1613" b="0">
                <a:solidFill>
                  <a:srgbClr val="202124"/>
                </a:solidFill>
                <a:latin typeface="Nimbus Sans"/>
                <a:ea typeface="Nimbus Sans"/>
                <a:cs typeface="Nimbus Sans"/>
              </a:defRPr>
            </a:pPr>
            <a:r>
              <a:rPr sz="1613" b="0">
                <a:solidFill>
                  <a:srgbClr val="202124"/>
                </a:solidFill>
                <a:latin typeface="Nimbus Sans"/>
                <a:ea typeface="Nimbus Sans"/>
                <a:cs typeface="Nimbus Sans"/>
              </a:rPr>
              <a:t>Query, actions and results</a:t>
            </a:r>
          </a:p>
        </p:txBody>
      </p:sp>
      <p:sp>
        <p:nvSpPr>
          <p:cNvPr id="6" name="text-79">
            <a:extLst>
              <a:ext uri="{FF2B5EF4-FFF2-40B4-BE49-F238E27FC236}">
                <a16:creationId xmlns:a16="http://schemas.microsoft.com/office/drawing/2014/main" id="{B61174D4-5C1A-4FD3-8EB1-DFB6ABE325D3}"/>
              </a:ext>
            </a:extLst>
          </p:cNvPr>
          <p:cNvSpPr>
            <a:spLocks noGrp="1"/>
          </p:cNvSpPr>
          <p:nvPr/>
        </p:nvSpPr>
        <p:spPr>
          <a:xfrm>
            <a:off x="742950" y="2562225"/>
            <a:ext cx="2514600" cy="323850"/>
          </a:xfrm>
          <a:prstGeom prst="rect">
            <a:avLst/>
          </a:prstGeom>
          <a:noFill/>
          <a:ln w="0">
            <a:noFill/>
          </a:ln>
        </p:spPr>
        <p:txBody>
          <a:bodyPr wrap="none" lIns="0" tIns="0" rIns="0" bIns="0" anchor="ctr">
            <a:noAutofit/>
          </a:bodyPr>
          <a:lstStyle/>
          <a:p>
            <a:pPr algn="ctr">
              <a:defRPr sz="1613" b="0">
                <a:solidFill>
                  <a:srgbClr val="202124"/>
                </a:solidFill>
                <a:latin typeface="Nimbus Sans"/>
                <a:ea typeface="Nimbus Sans"/>
                <a:cs typeface="Nimbus Sans"/>
              </a:defRPr>
            </a:pPr>
            <a:r>
              <a:rPr sz="1613" b="0">
                <a:solidFill>
                  <a:srgbClr val="202124"/>
                </a:solidFill>
                <a:latin typeface="Nimbus Sans"/>
                <a:ea typeface="Nimbus Sans"/>
                <a:cs typeface="Nimbus Sans"/>
              </a:rPr>
              <a:t>Reasons for each step</a:t>
            </a:r>
          </a:p>
        </p:txBody>
      </p:sp>
      <p:sp>
        <p:nvSpPr>
          <p:cNvPr id="7" name="text-80">
            <a:extLst>
              <a:ext uri="{FF2B5EF4-FFF2-40B4-BE49-F238E27FC236}">
                <a16:creationId xmlns:a16="http://schemas.microsoft.com/office/drawing/2014/main" id="{D9D60FA4-0591-4BA6-A371-EC32B914A8BE}"/>
              </a:ext>
            </a:extLst>
          </p:cNvPr>
          <p:cNvSpPr>
            <a:spLocks noGrp="1"/>
          </p:cNvSpPr>
          <p:nvPr/>
        </p:nvSpPr>
        <p:spPr>
          <a:xfrm>
            <a:off x="742950" y="2886075"/>
            <a:ext cx="2514600" cy="323850"/>
          </a:xfrm>
          <a:prstGeom prst="rect">
            <a:avLst/>
          </a:prstGeom>
          <a:noFill/>
          <a:ln w="0">
            <a:noFill/>
          </a:ln>
        </p:spPr>
        <p:txBody>
          <a:bodyPr wrap="none" lIns="0" tIns="0" rIns="0" bIns="0" anchor="ctr">
            <a:noAutofit/>
          </a:bodyPr>
          <a:lstStyle/>
          <a:p>
            <a:pPr algn="ctr">
              <a:defRPr sz="1613" b="0">
                <a:solidFill>
                  <a:srgbClr val="202124"/>
                </a:solidFill>
                <a:latin typeface="Nimbus Sans"/>
                <a:ea typeface="Nimbus Sans"/>
                <a:cs typeface="Nimbus Sans"/>
              </a:defRPr>
            </a:pPr>
            <a:r>
              <a:rPr sz="1613" b="0">
                <a:solidFill>
                  <a:srgbClr val="202124"/>
                </a:solidFill>
                <a:latin typeface="Nimbus Sans"/>
                <a:ea typeface="Nimbus Sans"/>
                <a:cs typeface="Nimbus Sans"/>
              </a:rPr>
              <a:t>Conditions and assumptions</a:t>
            </a:r>
          </a:p>
        </p:txBody>
      </p:sp>
      <p:sp>
        <p:nvSpPr>
          <p:cNvPr id="8" name="tool-specifications-81">
            <a:extLst>
              <a:ext uri="{FF2B5EF4-FFF2-40B4-BE49-F238E27FC236}">
                <a16:creationId xmlns:a16="http://schemas.microsoft.com/office/drawing/2014/main" id="{2969D79F-D4CF-4758-A610-54195E54782E}"/>
              </a:ext>
            </a:extLst>
          </p:cNvPr>
          <p:cNvSpPr>
            <a:spLocks noGrp="1"/>
          </p:cNvSpPr>
          <p:nvPr/>
        </p:nvSpPr>
        <p:spPr>
          <a:xfrm>
            <a:off x="571500" y="3895725"/>
            <a:ext cx="2857500" cy="1171575"/>
          </a:xfrm>
          <a:prstGeom prst="roundRect">
            <a:avLst>
              <a:gd name="adj" fmla="val 17886"/>
            </a:avLst>
          </a:prstGeom>
          <a:solidFill>
            <a:srgbClr val="DEDFE1"/>
          </a:solidFill>
          <a:ln w="0">
            <a:noFill/>
          </a:ln>
        </p:spPr>
        <p:txBody>
          <a:bodyPr/>
          <a:lstStyle/>
          <a:p>
            <a:endParaRPr lang="en-US"/>
          </a:p>
        </p:txBody>
      </p:sp>
      <p:sp>
        <p:nvSpPr>
          <p:cNvPr id="9" name="text-82">
            <a:extLst>
              <a:ext uri="{FF2B5EF4-FFF2-40B4-BE49-F238E27FC236}">
                <a16:creationId xmlns:a16="http://schemas.microsoft.com/office/drawing/2014/main" id="{87481121-98F7-4D16-B0E6-0BF72AC16E7D}"/>
              </a:ext>
            </a:extLst>
          </p:cNvPr>
          <p:cNvSpPr>
            <a:spLocks noGrp="1"/>
          </p:cNvSpPr>
          <p:nvPr/>
        </p:nvSpPr>
        <p:spPr>
          <a:xfrm>
            <a:off x="733425" y="4048125"/>
            <a:ext cx="2533650" cy="342900"/>
          </a:xfrm>
          <a:prstGeom prst="rect">
            <a:avLst/>
          </a:prstGeom>
          <a:noFill/>
          <a:ln w="0">
            <a:noFill/>
          </a:ln>
        </p:spPr>
        <p:txBody>
          <a:bodyPr wrap="none" lIns="0" tIns="0" rIns="0" bIns="0" anchor="ctr">
            <a:noAutofit/>
          </a:bodyPr>
          <a:lstStyle/>
          <a:p>
            <a:pPr algn="ctr">
              <a:defRPr sz="2025" b="1">
                <a:solidFill>
                  <a:srgbClr val="202124"/>
                </a:solidFill>
                <a:latin typeface="Nimbus Sans"/>
                <a:ea typeface="Nimbus Sans"/>
                <a:cs typeface="Nimbus Sans"/>
              </a:defRPr>
            </a:pPr>
            <a:r>
              <a:rPr sz="2025" b="1">
                <a:solidFill>
                  <a:srgbClr val="202124"/>
                </a:solidFill>
                <a:latin typeface="Nimbus Sans"/>
                <a:ea typeface="Nimbus Sans"/>
                <a:cs typeface="Nimbus Sans"/>
              </a:rPr>
              <a:t>Tool specifications</a:t>
            </a:r>
          </a:p>
        </p:txBody>
      </p:sp>
      <p:sp>
        <p:nvSpPr>
          <p:cNvPr id="10" name="text-83">
            <a:extLst>
              <a:ext uri="{FF2B5EF4-FFF2-40B4-BE49-F238E27FC236}">
                <a16:creationId xmlns:a16="http://schemas.microsoft.com/office/drawing/2014/main" id="{7FE72B96-BC94-447A-9304-845543F5FF66}"/>
              </a:ext>
            </a:extLst>
          </p:cNvPr>
          <p:cNvSpPr>
            <a:spLocks noGrp="1"/>
          </p:cNvSpPr>
          <p:nvPr/>
        </p:nvSpPr>
        <p:spPr>
          <a:xfrm>
            <a:off x="742950" y="4514850"/>
            <a:ext cx="2514600" cy="266700"/>
          </a:xfrm>
          <a:prstGeom prst="rect">
            <a:avLst/>
          </a:prstGeom>
          <a:noFill/>
          <a:ln w="0">
            <a:noFill/>
          </a:ln>
        </p:spPr>
        <p:txBody>
          <a:bodyPr wrap="none" lIns="0" tIns="0" rIns="0" bIns="0" anchor="ctr">
            <a:noAutofit/>
          </a:bodyPr>
          <a:lstStyle/>
          <a:p>
            <a:pPr algn="ctr">
              <a:defRPr sz="1575" b="0">
                <a:solidFill>
                  <a:srgbClr val="202124"/>
                </a:solidFill>
                <a:latin typeface="Nimbus Sans"/>
                <a:ea typeface="Nimbus Sans"/>
                <a:cs typeface="Nimbus Sans"/>
              </a:defRPr>
            </a:pPr>
            <a:r>
              <a:rPr sz="1575" b="0">
                <a:solidFill>
                  <a:srgbClr val="202124"/>
                </a:solidFill>
                <a:latin typeface="Nimbus Sans"/>
                <a:ea typeface="Nimbus Sans"/>
                <a:cs typeface="Nimbus Sans"/>
              </a:rPr>
              <a:t>Inputs, outputs, constraints</a:t>
            </a:r>
          </a:p>
        </p:txBody>
      </p:sp>
      <p:sp>
        <p:nvSpPr>
          <p:cNvPr id="11" name="text-84">
            <a:extLst>
              <a:ext uri="{FF2B5EF4-FFF2-40B4-BE49-F238E27FC236}">
                <a16:creationId xmlns:a16="http://schemas.microsoft.com/office/drawing/2014/main" id="{3E0B3323-314E-48C8-B160-D5704273926A}"/>
              </a:ext>
            </a:extLst>
          </p:cNvPr>
          <p:cNvSpPr>
            <a:spLocks noGrp="1"/>
          </p:cNvSpPr>
          <p:nvPr/>
        </p:nvSpPr>
        <p:spPr>
          <a:xfrm>
            <a:off x="742950" y="4781550"/>
            <a:ext cx="2514600" cy="266700"/>
          </a:xfrm>
          <a:prstGeom prst="rect">
            <a:avLst/>
          </a:prstGeom>
          <a:noFill/>
          <a:ln w="0">
            <a:noFill/>
          </a:ln>
        </p:spPr>
        <p:txBody>
          <a:bodyPr wrap="none" lIns="0" tIns="0" rIns="0" bIns="0" anchor="ctr">
            <a:noAutofit/>
          </a:bodyPr>
          <a:lstStyle/>
          <a:p>
            <a:pPr algn="ctr">
              <a:defRPr sz="1575" b="0">
                <a:solidFill>
                  <a:srgbClr val="202124"/>
                </a:solidFill>
                <a:latin typeface="Nimbus Sans"/>
                <a:ea typeface="Nimbus Sans"/>
                <a:cs typeface="Nimbus Sans"/>
              </a:defRPr>
            </a:pPr>
            <a:r>
              <a:rPr sz="1575" b="0">
                <a:solidFill>
                  <a:srgbClr val="202124"/>
                </a:solidFill>
                <a:latin typeface="Nimbus Sans"/>
                <a:ea typeface="Nimbus Sans"/>
                <a:cs typeface="Nimbus Sans"/>
              </a:rPr>
              <a:t>Available tool interfaces</a:t>
            </a:r>
          </a:p>
        </p:txBody>
      </p:sp>
      <p:sp>
        <p:nvSpPr>
          <p:cNvPr id="12" name="llm-skill-extraction-85">
            <a:extLst>
              <a:ext uri="{FF2B5EF4-FFF2-40B4-BE49-F238E27FC236}">
                <a16:creationId xmlns:a16="http://schemas.microsoft.com/office/drawing/2014/main" id="{FA8F1119-981E-4CBA-980B-18BCF9A40489}"/>
              </a:ext>
            </a:extLst>
          </p:cNvPr>
          <p:cNvSpPr>
            <a:spLocks noGrp="1"/>
          </p:cNvSpPr>
          <p:nvPr/>
        </p:nvSpPr>
        <p:spPr>
          <a:xfrm>
            <a:off x="3886200" y="1828800"/>
            <a:ext cx="3190875" cy="1543050"/>
          </a:xfrm>
          <a:prstGeom prst="roundRect">
            <a:avLst>
              <a:gd name="adj" fmla="val 13580"/>
            </a:avLst>
          </a:prstGeom>
          <a:solidFill>
            <a:srgbClr val="B8CAE7"/>
          </a:solidFill>
          <a:ln w="0">
            <a:noFill/>
          </a:ln>
        </p:spPr>
        <p:txBody>
          <a:bodyPr/>
          <a:lstStyle/>
          <a:p>
            <a:endParaRPr lang="en-US"/>
          </a:p>
        </p:txBody>
      </p:sp>
      <p:sp>
        <p:nvSpPr>
          <p:cNvPr id="13" name="text-86">
            <a:extLst>
              <a:ext uri="{FF2B5EF4-FFF2-40B4-BE49-F238E27FC236}">
                <a16:creationId xmlns:a16="http://schemas.microsoft.com/office/drawing/2014/main" id="{E000947A-F12F-4206-9917-4AC3096E270D}"/>
              </a:ext>
            </a:extLst>
          </p:cNvPr>
          <p:cNvSpPr>
            <a:spLocks noGrp="1"/>
          </p:cNvSpPr>
          <p:nvPr/>
        </p:nvSpPr>
        <p:spPr>
          <a:xfrm>
            <a:off x="4038600" y="1952625"/>
            <a:ext cx="2886075" cy="409575"/>
          </a:xfrm>
          <a:prstGeom prst="rect">
            <a:avLst/>
          </a:prstGeom>
          <a:noFill/>
          <a:ln w="0">
            <a:noFill/>
          </a:ln>
        </p:spPr>
        <p:txBody>
          <a:bodyPr wrap="none" lIns="0" tIns="0" rIns="0" bIns="0" anchor="ctr">
            <a:noAutofit/>
          </a:bodyPr>
          <a:lstStyle/>
          <a:p>
            <a:pPr algn="ctr">
              <a:defRPr sz="2175" b="1">
                <a:solidFill>
                  <a:srgbClr val="202124"/>
                </a:solidFill>
                <a:latin typeface="Nimbus Sans"/>
                <a:ea typeface="Nimbus Sans"/>
                <a:cs typeface="Nimbus Sans"/>
              </a:defRPr>
            </a:pPr>
            <a:r>
              <a:rPr sz="2175" b="1">
                <a:solidFill>
                  <a:srgbClr val="202124"/>
                </a:solidFill>
                <a:latin typeface="Nimbus Sans"/>
                <a:ea typeface="Nimbus Sans"/>
                <a:cs typeface="Nimbus Sans"/>
              </a:rPr>
              <a:t>LLM skill extraction</a:t>
            </a:r>
          </a:p>
        </p:txBody>
      </p:sp>
      <p:sp>
        <p:nvSpPr>
          <p:cNvPr id="14" name="text-87">
            <a:extLst>
              <a:ext uri="{FF2B5EF4-FFF2-40B4-BE49-F238E27FC236}">
                <a16:creationId xmlns:a16="http://schemas.microsoft.com/office/drawing/2014/main" id="{EA8EF859-F8C9-4E78-A731-9032E6D9FE1F}"/>
              </a:ext>
            </a:extLst>
          </p:cNvPr>
          <p:cNvSpPr>
            <a:spLocks noGrp="1"/>
          </p:cNvSpPr>
          <p:nvPr/>
        </p:nvSpPr>
        <p:spPr>
          <a:xfrm>
            <a:off x="4057650" y="2486025"/>
            <a:ext cx="2847975" cy="266700"/>
          </a:xfrm>
          <a:prstGeom prst="rect">
            <a:avLst/>
          </a:prstGeom>
          <a:noFill/>
          <a:ln w="0">
            <a:noFill/>
          </a:ln>
        </p:spPr>
        <p:txBody>
          <a:bodyPr wrap="none" lIns="0" tIns="0" rIns="0" bIns="0" anchor="ctr">
            <a:noAutofit/>
          </a:bodyPr>
          <a:lstStyle/>
          <a:p>
            <a:pPr algn="ctr">
              <a:defRPr sz="1613" b="0">
                <a:solidFill>
                  <a:srgbClr val="202124"/>
                </a:solidFill>
                <a:latin typeface="Nimbus Sans"/>
                <a:ea typeface="Nimbus Sans"/>
                <a:cs typeface="Nimbus Sans"/>
              </a:defRPr>
            </a:pPr>
            <a:r>
              <a:rPr sz="1613" b="0">
                <a:solidFill>
                  <a:srgbClr val="202124"/>
                </a:solidFill>
                <a:latin typeface="Nimbus Sans"/>
                <a:ea typeface="Nimbus Sans"/>
                <a:cs typeface="Nimbus Sans"/>
              </a:rPr>
              <a:t>Generalize task steps</a:t>
            </a:r>
          </a:p>
        </p:txBody>
      </p:sp>
      <p:sp>
        <p:nvSpPr>
          <p:cNvPr id="15" name="text-88">
            <a:extLst>
              <a:ext uri="{FF2B5EF4-FFF2-40B4-BE49-F238E27FC236}">
                <a16:creationId xmlns:a16="http://schemas.microsoft.com/office/drawing/2014/main" id="{CEA3DECD-7D7B-4D3F-8034-519524917CC7}"/>
              </a:ext>
            </a:extLst>
          </p:cNvPr>
          <p:cNvSpPr>
            <a:spLocks noGrp="1"/>
          </p:cNvSpPr>
          <p:nvPr/>
        </p:nvSpPr>
        <p:spPr>
          <a:xfrm>
            <a:off x="4057650" y="2752725"/>
            <a:ext cx="2847975" cy="266700"/>
          </a:xfrm>
          <a:prstGeom prst="rect">
            <a:avLst/>
          </a:prstGeom>
          <a:noFill/>
          <a:ln w="0">
            <a:noFill/>
          </a:ln>
        </p:spPr>
        <p:txBody>
          <a:bodyPr wrap="none" lIns="0" tIns="0" rIns="0" bIns="0" anchor="ctr">
            <a:noAutofit/>
          </a:bodyPr>
          <a:lstStyle/>
          <a:p>
            <a:pPr algn="ctr">
              <a:defRPr sz="1613" b="0">
                <a:solidFill>
                  <a:srgbClr val="202124"/>
                </a:solidFill>
                <a:latin typeface="Nimbus Sans"/>
                <a:ea typeface="Nimbus Sans"/>
                <a:cs typeface="Nimbus Sans"/>
              </a:defRPr>
            </a:pPr>
            <a:r>
              <a:rPr sz="1613" b="0">
                <a:solidFill>
                  <a:srgbClr val="202124"/>
                </a:solidFill>
                <a:latin typeface="Nimbus Sans"/>
                <a:ea typeface="Nimbus Sans"/>
                <a:cs typeface="Nimbus Sans"/>
              </a:rPr>
              <a:t>Retain conditions and branches</a:t>
            </a:r>
          </a:p>
        </p:txBody>
      </p:sp>
      <p:sp>
        <p:nvSpPr>
          <p:cNvPr id="16" name="text-89">
            <a:extLst>
              <a:ext uri="{FF2B5EF4-FFF2-40B4-BE49-F238E27FC236}">
                <a16:creationId xmlns:a16="http://schemas.microsoft.com/office/drawing/2014/main" id="{BB33ABEC-D8A3-4251-A40C-1FDDCF160B7B}"/>
              </a:ext>
            </a:extLst>
          </p:cNvPr>
          <p:cNvSpPr>
            <a:spLocks noGrp="1"/>
          </p:cNvSpPr>
          <p:nvPr/>
        </p:nvSpPr>
        <p:spPr>
          <a:xfrm>
            <a:off x="4057650" y="3019425"/>
            <a:ext cx="2847975" cy="266700"/>
          </a:xfrm>
          <a:prstGeom prst="rect">
            <a:avLst/>
          </a:prstGeom>
          <a:noFill/>
          <a:ln w="0">
            <a:noFill/>
          </a:ln>
        </p:spPr>
        <p:txBody>
          <a:bodyPr wrap="none" lIns="0" tIns="0" rIns="0" bIns="0" anchor="ctr">
            <a:noAutofit/>
          </a:bodyPr>
          <a:lstStyle/>
          <a:p>
            <a:pPr algn="ctr">
              <a:defRPr sz="1613" b="0">
                <a:solidFill>
                  <a:srgbClr val="202124"/>
                </a:solidFill>
                <a:latin typeface="Nimbus Sans"/>
                <a:ea typeface="Nimbus Sans"/>
                <a:cs typeface="Nimbus Sans"/>
              </a:defRPr>
            </a:pPr>
            <a:r>
              <a:rPr sz="1613" b="0">
                <a:solidFill>
                  <a:srgbClr val="202124"/>
                </a:solidFill>
                <a:latin typeface="Nimbus Sans"/>
                <a:ea typeface="Nimbus Sans"/>
                <a:cs typeface="Nimbus Sans"/>
              </a:rPr>
              <a:t>Parameterize inputs</a:t>
            </a:r>
          </a:p>
        </p:txBody>
      </p:sp>
      <p:sp>
        <p:nvSpPr>
          <p:cNvPr id="17" name="expanded-skill-library-90">
            <a:extLst>
              <a:ext uri="{FF2B5EF4-FFF2-40B4-BE49-F238E27FC236}">
                <a16:creationId xmlns:a16="http://schemas.microsoft.com/office/drawing/2014/main" id="{6ACA018A-D782-4771-9488-26B5B7A392F0}"/>
              </a:ext>
            </a:extLst>
          </p:cNvPr>
          <p:cNvSpPr>
            <a:spLocks noGrp="1"/>
          </p:cNvSpPr>
          <p:nvPr/>
        </p:nvSpPr>
        <p:spPr>
          <a:xfrm>
            <a:off x="8239125" y="1362075"/>
            <a:ext cx="6381750" cy="4686300"/>
          </a:xfrm>
          <a:prstGeom prst="roundRect">
            <a:avLst>
              <a:gd name="adj" fmla="val 4472"/>
            </a:avLst>
          </a:prstGeom>
          <a:solidFill>
            <a:srgbClr val="DFEDD5"/>
          </a:solidFill>
          <a:ln w="0">
            <a:noFill/>
          </a:ln>
        </p:spPr>
        <p:txBody>
          <a:bodyPr/>
          <a:lstStyle/>
          <a:p>
            <a:endParaRPr lang="en-US"/>
          </a:p>
        </p:txBody>
      </p:sp>
      <p:sp>
        <p:nvSpPr>
          <p:cNvPr id="18" name="text-91">
            <a:extLst>
              <a:ext uri="{FF2B5EF4-FFF2-40B4-BE49-F238E27FC236}">
                <a16:creationId xmlns:a16="http://schemas.microsoft.com/office/drawing/2014/main" id="{573B4505-322C-49E8-B9EC-3D50CA20C172}"/>
              </a:ext>
            </a:extLst>
          </p:cNvPr>
          <p:cNvSpPr>
            <a:spLocks noGrp="1"/>
          </p:cNvSpPr>
          <p:nvPr/>
        </p:nvSpPr>
        <p:spPr>
          <a:xfrm>
            <a:off x="8458200" y="1495425"/>
            <a:ext cx="5943600" cy="428625"/>
          </a:xfrm>
          <a:prstGeom prst="rect">
            <a:avLst/>
          </a:prstGeom>
          <a:noFill/>
          <a:ln w="0">
            <a:noFill/>
          </a:ln>
        </p:spPr>
        <p:txBody>
          <a:bodyPr wrap="none" lIns="0" tIns="0" rIns="0" bIns="0" anchor="ctr">
            <a:noAutofit/>
          </a:bodyPr>
          <a:lstStyle/>
          <a:p>
            <a:pPr algn="ctr">
              <a:defRPr sz="2475" b="1">
                <a:solidFill>
                  <a:srgbClr val="202124"/>
                </a:solidFill>
                <a:latin typeface="Nimbus Sans"/>
                <a:ea typeface="Nimbus Sans"/>
                <a:cs typeface="Nimbus Sans"/>
              </a:defRPr>
            </a:pPr>
            <a:r>
              <a:rPr sz="2475" b="1">
                <a:solidFill>
                  <a:srgbClr val="202124"/>
                </a:solidFill>
                <a:latin typeface="Nimbus Sans"/>
                <a:ea typeface="Nimbus Sans"/>
                <a:cs typeface="Nimbus Sans"/>
              </a:rPr>
              <a:t>Skill library</a:t>
            </a:r>
          </a:p>
        </p:txBody>
      </p:sp>
      <p:sp>
        <p:nvSpPr>
          <p:cNvPr id="19" name="skill-layer-92">
            <a:extLst>
              <a:ext uri="{FF2B5EF4-FFF2-40B4-BE49-F238E27FC236}">
                <a16:creationId xmlns:a16="http://schemas.microsoft.com/office/drawing/2014/main" id="{75FF84E2-60F4-49EA-90F5-3934C1BDE939}"/>
              </a:ext>
            </a:extLst>
          </p:cNvPr>
          <p:cNvSpPr>
            <a:spLocks noGrp="1"/>
          </p:cNvSpPr>
          <p:nvPr/>
        </p:nvSpPr>
        <p:spPr>
          <a:xfrm>
            <a:off x="8458200" y="2095500"/>
            <a:ext cx="5943600" cy="962025"/>
          </a:xfrm>
          <a:prstGeom prst="roundRect">
            <a:avLst>
              <a:gd name="adj" fmla="val 14851"/>
            </a:avLst>
          </a:prstGeom>
          <a:solidFill>
            <a:srgbClr val="F1F7ED"/>
          </a:solidFill>
          <a:ln w="0">
            <a:noFill/>
          </a:ln>
        </p:spPr>
        <p:txBody>
          <a:bodyPr/>
          <a:lstStyle/>
          <a:p>
            <a:endParaRPr lang="en-US"/>
          </a:p>
        </p:txBody>
      </p:sp>
      <p:sp>
        <p:nvSpPr>
          <p:cNvPr id="20" name="text-93">
            <a:extLst>
              <a:ext uri="{FF2B5EF4-FFF2-40B4-BE49-F238E27FC236}">
                <a16:creationId xmlns:a16="http://schemas.microsoft.com/office/drawing/2014/main" id="{16178371-C9BA-43A7-935A-F116B8AF88DF}"/>
              </a:ext>
            </a:extLst>
          </p:cNvPr>
          <p:cNvSpPr>
            <a:spLocks noGrp="1"/>
          </p:cNvSpPr>
          <p:nvPr/>
        </p:nvSpPr>
        <p:spPr>
          <a:xfrm>
            <a:off x="8639175" y="2219325"/>
            <a:ext cx="1657350" cy="333375"/>
          </a:xfrm>
          <a:prstGeom prst="rect">
            <a:avLst/>
          </a:prstGeom>
          <a:noFill/>
          <a:ln w="0">
            <a:noFill/>
          </a:ln>
        </p:spPr>
        <p:txBody>
          <a:bodyPr wrap="none" lIns="0" tIns="0" rIns="0" bIns="0" anchor="ctr">
            <a:noAutofit/>
          </a:bodyPr>
          <a:lstStyle/>
          <a:p>
            <a:pPr algn="l">
              <a:defRPr sz="2025" b="1">
                <a:solidFill>
                  <a:srgbClr val="202124"/>
                </a:solidFill>
                <a:latin typeface="Nimbus Sans"/>
                <a:ea typeface="Nimbus Sans"/>
                <a:cs typeface="Nimbus Sans"/>
              </a:defRPr>
            </a:pPr>
            <a:r>
              <a:rPr sz="2025" b="1">
                <a:solidFill>
                  <a:srgbClr val="202124"/>
                </a:solidFill>
                <a:latin typeface="Nimbus Sans"/>
                <a:ea typeface="Nimbus Sans"/>
                <a:cs typeface="Nimbus Sans"/>
              </a:rPr>
              <a:t>Planning</a:t>
            </a:r>
          </a:p>
        </p:txBody>
      </p:sp>
      <p:sp>
        <p:nvSpPr>
          <p:cNvPr id="21" name="text-94">
            <a:extLst>
              <a:ext uri="{FF2B5EF4-FFF2-40B4-BE49-F238E27FC236}">
                <a16:creationId xmlns:a16="http://schemas.microsoft.com/office/drawing/2014/main" id="{70C131B2-8927-42D1-87CF-EA32756EDDE7}"/>
              </a:ext>
            </a:extLst>
          </p:cNvPr>
          <p:cNvSpPr>
            <a:spLocks noGrp="1"/>
          </p:cNvSpPr>
          <p:nvPr/>
        </p:nvSpPr>
        <p:spPr>
          <a:xfrm>
            <a:off x="8639175" y="2628900"/>
            <a:ext cx="1657350" cy="266700"/>
          </a:xfrm>
          <a:prstGeom prst="rect">
            <a:avLst/>
          </a:prstGeom>
          <a:noFill/>
          <a:ln w="0">
            <a:noFill/>
          </a:ln>
        </p:spPr>
        <p:txBody>
          <a:bodyPr wrap="none" lIns="0" tIns="0" rIns="0" bIns="0" anchor="ctr">
            <a:noAutofit/>
          </a:bodyPr>
          <a:lstStyle/>
          <a:p>
            <a:pPr algn="l">
              <a:defRPr sz="1575" b="0">
                <a:solidFill>
                  <a:srgbClr val="555B63"/>
                </a:solidFill>
                <a:latin typeface="Nimbus Sans"/>
                <a:ea typeface="Nimbus Sans"/>
                <a:cs typeface="Nimbus Sans"/>
              </a:defRPr>
            </a:pPr>
            <a:r>
              <a:rPr sz="1575" b="0">
                <a:solidFill>
                  <a:srgbClr val="555B63"/>
                </a:solidFill>
                <a:latin typeface="Nimbus Sans"/>
                <a:ea typeface="Nimbus Sans"/>
                <a:cs typeface="Nimbus Sans"/>
              </a:rPr>
              <a:t>Goal selection</a:t>
            </a:r>
          </a:p>
        </p:txBody>
      </p:sp>
      <p:sp>
        <p:nvSpPr>
          <p:cNvPr id="22" name="flow-95">
            <a:extLst>
              <a:ext uri="{FF2B5EF4-FFF2-40B4-BE49-F238E27FC236}">
                <a16:creationId xmlns:a16="http://schemas.microsoft.com/office/drawing/2014/main" id="{6B61D73C-1639-4D9B-8985-3693C60E9892}"/>
              </a:ext>
            </a:extLst>
          </p:cNvPr>
          <p:cNvSpPr>
            <a:spLocks noGrp="1"/>
          </p:cNvSpPr>
          <p:nvPr/>
        </p:nvSpPr>
        <p:spPr>
          <a:xfrm>
            <a:off x="10372725" y="2247900"/>
            <a:ext cx="9525" cy="657225"/>
          </a:xfrm>
          <a:custGeom>
            <a:avLst/>
            <a:gdLst/>
            <a:ahLst/>
            <a:cxnLst/>
            <a:rect l="0" t="0" r="0" b="0"/>
            <a:pathLst>
              <a:path w="9525" h="657225">
                <a:moveTo>
                  <a:pt x="0" y="0"/>
                </a:moveTo>
                <a:lnTo>
                  <a:pt x="0" y="657225"/>
                </a:lnTo>
              </a:path>
            </a:pathLst>
          </a:custGeom>
          <a:noFill/>
          <a:ln w="11430">
            <a:solidFill>
              <a:srgbClr val="CDDBC6"/>
            </a:solidFill>
            <a:prstDash val="solid"/>
          </a:ln>
        </p:spPr>
        <p:txBody>
          <a:bodyPr/>
          <a:lstStyle/>
          <a:p>
            <a:endParaRPr lang="en-US"/>
          </a:p>
        </p:txBody>
      </p:sp>
      <p:sp>
        <p:nvSpPr>
          <p:cNvPr id="23" name="text-96">
            <a:extLst>
              <a:ext uri="{FF2B5EF4-FFF2-40B4-BE49-F238E27FC236}">
                <a16:creationId xmlns:a16="http://schemas.microsoft.com/office/drawing/2014/main" id="{43E9D428-BA0D-4157-B6DC-ED98201CF5CC}"/>
              </a:ext>
            </a:extLst>
          </p:cNvPr>
          <p:cNvSpPr>
            <a:spLocks noGrp="1"/>
          </p:cNvSpPr>
          <p:nvPr/>
        </p:nvSpPr>
        <p:spPr>
          <a:xfrm>
            <a:off x="10572750" y="2209800"/>
            <a:ext cx="3638550" cy="342900"/>
          </a:xfrm>
          <a:prstGeom prst="rect">
            <a:avLst/>
          </a:prstGeom>
          <a:noFill/>
          <a:ln w="0">
            <a:noFill/>
          </a:ln>
        </p:spPr>
        <p:txBody>
          <a:bodyPr wrap="none" lIns="0" tIns="0" rIns="0" bIns="0" anchor="ctr">
            <a:noAutofit/>
          </a:bodyPr>
          <a:lstStyle/>
          <a:p>
            <a:pPr algn="l">
              <a:defRPr sz="1650" b="0">
                <a:solidFill>
                  <a:srgbClr val="202124"/>
                </a:solidFill>
                <a:latin typeface="Nimbus Sans"/>
                <a:ea typeface="Nimbus Sans"/>
                <a:cs typeface="Nimbus Sans"/>
              </a:defRPr>
            </a:pPr>
            <a:r>
              <a:rPr sz="1650" b="0">
                <a:solidFill>
                  <a:srgbClr val="202124"/>
                </a:solidFill>
                <a:latin typeface="Nimbus Sans"/>
                <a:ea typeface="Nimbus Sans"/>
                <a:cs typeface="Nimbus Sans"/>
              </a:rPr>
              <a:t>Conditions, priorities and branches</a:t>
            </a:r>
          </a:p>
        </p:txBody>
      </p:sp>
      <p:sp>
        <p:nvSpPr>
          <p:cNvPr id="24" name="text-97">
            <a:extLst>
              <a:ext uri="{FF2B5EF4-FFF2-40B4-BE49-F238E27FC236}">
                <a16:creationId xmlns:a16="http://schemas.microsoft.com/office/drawing/2014/main" id="{97FDB3AD-9C8B-4A2F-9AB3-D15D41FBD88E}"/>
              </a:ext>
            </a:extLst>
          </p:cNvPr>
          <p:cNvSpPr>
            <a:spLocks noGrp="1"/>
          </p:cNvSpPr>
          <p:nvPr/>
        </p:nvSpPr>
        <p:spPr>
          <a:xfrm>
            <a:off x="10572750" y="2619375"/>
            <a:ext cx="3638550" cy="304800"/>
          </a:xfrm>
          <a:prstGeom prst="rect">
            <a:avLst/>
          </a:prstGeom>
          <a:noFill/>
          <a:ln w="0">
            <a:noFill/>
          </a:ln>
        </p:spPr>
        <p:txBody>
          <a:bodyPr wrap="none" lIns="0" tIns="0" rIns="0" bIns="0" anchor="ctr">
            <a:noAutofit/>
          </a:bodyPr>
          <a:lstStyle/>
          <a:p>
            <a:pPr algn="l">
              <a:defRPr sz="1575" b="0">
                <a:solidFill>
                  <a:srgbClr val="555B63"/>
                </a:solidFill>
                <a:latin typeface="Nimbus Sans"/>
                <a:ea typeface="Nimbus Sans"/>
                <a:cs typeface="Nimbus Sans"/>
              </a:defRPr>
            </a:pPr>
            <a:r>
              <a:rPr sz="1575" b="0" dirty="0">
                <a:solidFill>
                  <a:srgbClr val="555B63"/>
                </a:solidFill>
                <a:latin typeface="Nimbus Sans"/>
                <a:ea typeface="Nimbus Sans"/>
                <a:cs typeface="Nimbus Sans"/>
              </a:rPr>
              <a:t>Example: rural </a:t>
            </a:r>
            <a:r>
              <a:rPr lang="en-US" sz="1575" b="0" dirty="0">
                <a:solidFill>
                  <a:srgbClr val="555B63"/>
                </a:solidFill>
                <a:latin typeface="Nimbus Sans"/>
                <a:ea typeface="Nimbus Sans"/>
                <a:cs typeface="Nimbus Sans"/>
              </a:rPr>
              <a:t>cell</a:t>
            </a:r>
            <a:r>
              <a:rPr sz="1575" b="0" dirty="0">
                <a:solidFill>
                  <a:srgbClr val="555B63"/>
                </a:solidFill>
                <a:latin typeface="Nimbus Sans"/>
                <a:ea typeface="Nimbus Sans"/>
                <a:cs typeface="Nimbus Sans"/>
              </a:rPr>
              <a:t>→ wider initial scope</a:t>
            </a:r>
          </a:p>
        </p:txBody>
      </p:sp>
      <p:sp>
        <p:nvSpPr>
          <p:cNvPr id="25" name="skill-layer-98">
            <a:extLst>
              <a:ext uri="{FF2B5EF4-FFF2-40B4-BE49-F238E27FC236}">
                <a16:creationId xmlns:a16="http://schemas.microsoft.com/office/drawing/2014/main" id="{281EBB02-16CB-43C9-BCE9-DB554C84F712}"/>
              </a:ext>
            </a:extLst>
          </p:cNvPr>
          <p:cNvSpPr>
            <a:spLocks noGrp="1"/>
          </p:cNvSpPr>
          <p:nvPr/>
        </p:nvSpPr>
        <p:spPr>
          <a:xfrm>
            <a:off x="8458200" y="3219450"/>
            <a:ext cx="5943600" cy="962025"/>
          </a:xfrm>
          <a:prstGeom prst="roundRect">
            <a:avLst>
              <a:gd name="adj" fmla="val 14851"/>
            </a:avLst>
          </a:prstGeom>
          <a:solidFill>
            <a:srgbClr val="F1F7ED"/>
          </a:solidFill>
          <a:ln w="0">
            <a:noFill/>
          </a:ln>
        </p:spPr>
        <p:txBody>
          <a:bodyPr/>
          <a:lstStyle/>
          <a:p>
            <a:endParaRPr lang="en-US"/>
          </a:p>
        </p:txBody>
      </p:sp>
      <p:sp>
        <p:nvSpPr>
          <p:cNvPr id="26" name="text-99">
            <a:extLst>
              <a:ext uri="{FF2B5EF4-FFF2-40B4-BE49-F238E27FC236}">
                <a16:creationId xmlns:a16="http://schemas.microsoft.com/office/drawing/2014/main" id="{85405382-B3E6-464C-A69E-4616ED2121B1}"/>
              </a:ext>
            </a:extLst>
          </p:cNvPr>
          <p:cNvSpPr>
            <a:spLocks noGrp="1"/>
          </p:cNvSpPr>
          <p:nvPr/>
        </p:nvSpPr>
        <p:spPr>
          <a:xfrm>
            <a:off x="8639175" y="3343275"/>
            <a:ext cx="1657350" cy="333375"/>
          </a:xfrm>
          <a:prstGeom prst="rect">
            <a:avLst/>
          </a:prstGeom>
          <a:noFill/>
          <a:ln w="0">
            <a:noFill/>
          </a:ln>
        </p:spPr>
        <p:txBody>
          <a:bodyPr wrap="none" lIns="0" tIns="0" rIns="0" bIns="0" anchor="ctr">
            <a:noAutofit/>
          </a:bodyPr>
          <a:lstStyle/>
          <a:p>
            <a:pPr algn="l">
              <a:defRPr sz="2025" b="1">
                <a:solidFill>
                  <a:srgbClr val="202124"/>
                </a:solidFill>
                <a:latin typeface="Nimbus Sans"/>
                <a:ea typeface="Nimbus Sans"/>
                <a:cs typeface="Nimbus Sans"/>
              </a:defRPr>
            </a:pPr>
            <a:r>
              <a:rPr sz="2025" b="1">
                <a:solidFill>
                  <a:srgbClr val="202124"/>
                </a:solidFill>
                <a:latin typeface="Nimbus Sans"/>
                <a:ea typeface="Nimbus Sans"/>
                <a:cs typeface="Nimbus Sans"/>
              </a:rPr>
              <a:t>Functional</a:t>
            </a:r>
          </a:p>
        </p:txBody>
      </p:sp>
      <p:sp>
        <p:nvSpPr>
          <p:cNvPr id="27" name="text-100">
            <a:extLst>
              <a:ext uri="{FF2B5EF4-FFF2-40B4-BE49-F238E27FC236}">
                <a16:creationId xmlns:a16="http://schemas.microsoft.com/office/drawing/2014/main" id="{79D6CBF3-CA1B-4462-B3E8-E834DBE2115A}"/>
              </a:ext>
            </a:extLst>
          </p:cNvPr>
          <p:cNvSpPr>
            <a:spLocks noGrp="1"/>
          </p:cNvSpPr>
          <p:nvPr/>
        </p:nvSpPr>
        <p:spPr>
          <a:xfrm>
            <a:off x="8639175" y="3752850"/>
            <a:ext cx="1657350" cy="266700"/>
          </a:xfrm>
          <a:prstGeom prst="rect">
            <a:avLst/>
          </a:prstGeom>
          <a:noFill/>
          <a:ln w="0">
            <a:noFill/>
          </a:ln>
        </p:spPr>
        <p:txBody>
          <a:bodyPr wrap="none" lIns="0" tIns="0" rIns="0" bIns="0" anchor="ctr">
            <a:noAutofit/>
          </a:bodyPr>
          <a:lstStyle/>
          <a:p>
            <a:pPr algn="l">
              <a:defRPr sz="1575" b="0">
                <a:solidFill>
                  <a:srgbClr val="555B63"/>
                </a:solidFill>
                <a:latin typeface="Nimbus Sans"/>
                <a:ea typeface="Nimbus Sans"/>
                <a:cs typeface="Nimbus Sans"/>
              </a:defRPr>
            </a:pPr>
            <a:r>
              <a:rPr sz="1575" b="0">
                <a:solidFill>
                  <a:srgbClr val="555B63"/>
                </a:solidFill>
                <a:latin typeface="Nimbus Sans"/>
                <a:ea typeface="Nimbus Sans"/>
                <a:cs typeface="Nimbus Sans"/>
              </a:rPr>
              <a:t>Task execution</a:t>
            </a:r>
          </a:p>
        </p:txBody>
      </p:sp>
      <p:sp>
        <p:nvSpPr>
          <p:cNvPr id="28" name="flow-101">
            <a:extLst>
              <a:ext uri="{FF2B5EF4-FFF2-40B4-BE49-F238E27FC236}">
                <a16:creationId xmlns:a16="http://schemas.microsoft.com/office/drawing/2014/main" id="{B87A3B20-6140-4F34-B161-03A10EFEFF1C}"/>
              </a:ext>
            </a:extLst>
          </p:cNvPr>
          <p:cNvSpPr>
            <a:spLocks noGrp="1"/>
          </p:cNvSpPr>
          <p:nvPr/>
        </p:nvSpPr>
        <p:spPr>
          <a:xfrm>
            <a:off x="10372725" y="3371850"/>
            <a:ext cx="9525" cy="657225"/>
          </a:xfrm>
          <a:custGeom>
            <a:avLst/>
            <a:gdLst/>
            <a:ahLst/>
            <a:cxnLst/>
            <a:rect l="0" t="0" r="0" b="0"/>
            <a:pathLst>
              <a:path w="9525" h="657225">
                <a:moveTo>
                  <a:pt x="0" y="0"/>
                </a:moveTo>
                <a:lnTo>
                  <a:pt x="0" y="657225"/>
                </a:lnTo>
              </a:path>
            </a:pathLst>
          </a:custGeom>
          <a:noFill/>
          <a:ln w="11430">
            <a:solidFill>
              <a:srgbClr val="CDDBC6"/>
            </a:solidFill>
            <a:prstDash val="solid"/>
          </a:ln>
        </p:spPr>
        <p:txBody>
          <a:bodyPr/>
          <a:lstStyle/>
          <a:p>
            <a:endParaRPr lang="en-US"/>
          </a:p>
        </p:txBody>
      </p:sp>
      <p:sp>
        <p:nvSpPr>
          <p:cNvPr id="29" name="text-102">
            <a:extLst>
              <a:ext uri="{FF2B5EF4-FFF2-40B4-BE49-F238E27FC236}">
                <a16:creationId xmlns:a16="http://schemas.microsoft.com/office/drawing/2014/main" id="{C54BE7B3-1EB0-46D4-9C51-A38DDE8F061A}"/>
              </a:ext>
            </a:extLst>
          </p:cNvPr>
          <p:cNvSpPr>
            <a:spLocks noGrp="1"/>
          </p:cNvSpPr>
          <p:nvPr/>
        </p:nvSpPr>
        <p:spPr>
          <a:xfrm>
            <a:off x="10572750" y="3333750"/>
            <a:ext cx="3638550" cy="342900"/>
          </a:xfrm>
          <a:prstGeom prst="rect">
            <a:avLst/>
          </a:prstGeom>
          <a:noFill/>
          <a:ln w="0">
            <a:noFill/>
          </a:ln>
        </p:spPr>
        <p:txBody>
          <a:bodyPr wrap="none" lIns="0" tIns="0" rIns="0" bIns="0" anchor="ctr">
            <a:noAutofit/>
          </a:bodyPr>
          <a:lstStyle/>
          <a:p>
            <a:pPr algn="l">
              <a:defRPr sz="1650" b="0">
                <a:solidFill>
                  <a:srgbClr val="202124"/>
                </a:solidFill>
                <a:latin typeface="Nimbus Sans"/>
                <a:ea typeface="Nimbus Sans"/>
                <a:cs typeface="Nimbus Sans"/>
              </a:defRPr>
            </a:pPr>
            <a:r>
              <a:rPr sz="1650" b="0">
                <a:solidFill>
                  <a:srgbClr val="202124"/>
                </a:solidFill>
                <a:latin typeface="Nimbus Sans"/>
                <a:ea typeface="Nimbus Sans"/>
                <a:cs typeface="Nimbus Sans"/>
              </a:rPr>
              <a:t>Inputs, outputs and tool workflows</a:t>
            </a:r>
          </a:p>
        </p:txBody>
      </p:sp>
      <p:sp>
        <p:nvSpPr>
          <p:cNvPr id="30" name="text-103">
            <a:extLst>
              <a:ext uri="{FF2B5EF4-FFF2-40B4-BE49-F238E27FC236}">
                <a16:creationId xmlns:a16="http://schemas.microsoft.com/office/drawing/2014/main" id="{028B9C77-E380-4381-9330-1A47D0486CE9}"/>
              </a:ext>
            </a:extLst>
          </p:cNvPr>
          <p:cNvSpPr>
            <a:spLocks noGrp="1"/>
          </p:cNvSpPr>
          <p:nvPr/>
        </p:nvSpPr>
        <p:spPr>
          <a:xfrm>
            <a:off x="10572750" y="3743325"/>
            <a:ext cx="3638550" cy="304800"/>
          </a:xfrm>
          <a:prstGeom prst="rect">
            <a:avLst/>
          </a:prstGeom>
          <a:noFill/>
          <a:ln w="0">
            <a:noFill/>
          </a:ln>
        </p:spPr>
        <p:txBody>
          <a:bodyPr wrap="none" lIns="0" tIns="0" rIns="0" bIns="0" anchor="ctr">
            <a:noAutofit/>
          </a:bodyPr>
          <a:lstStyle/>
          <a:p>
            <a:pPr algn="l">
              <a:defRPr sz="1575" b="0">
                <a:solidFill>
                  <a:srgbClr val="555B63"/>
                </a:solidFill>
                <a:latin typeface="Nimbus Sans"/>
                <a:ea typeface="Nimbus Sans"/>
                <a:cs typeface="Nimbus Sans"/>
              </a:defRPr>
            </a:pPr>
            <a:r>
              <a:rPr sz="1575" b="0" dirty="0">
                <a:solidFill>
                  <a:srgbClr val="555B63"/>
                </a:solidFill>
                <a:latin typeface="Nimbus Sans"/>
                <a:ea typeface="Nimbus Sans"/>
                <a:cs typeface="Nimbus Sans"/>
              </a:rPr>
              <a:t>Example: identify activity regions</a:t>
            </a:r>
          </a:p>
        </p:txBody>
      </p:sp>
      <p:sp>
        <p:nvSpPr>
          <p:cNvPr id="31" name="skill-layer-104">
            <a:extLst>
              <a:ext uri="{FF2B5EF4-FFF2-40B4-BE49-F238E27FC236}">
                <a16:creationId xmlns:a16="http://schemas.microsoft.com/office/drawing/2014/main" id="{4AA30B90-869E-45AA-8751-D731F1EC2551}"/>
              </a:ext>
            </a:extLst>
          </p:cNvPr>
          <p:cNvSpPr>
            <a:spLocks noGrp="1"/>
          </p:cNvSpPr>
          <p:nvPr/>
        </p:nvSpPr>
        <p:spPr>
          <a:xfrm>
            <a:off x="8458200" y="4343400"/>
            <a:ext cx="5943600" cy="962025"/>
          </a:xfrm>
          <a:prstGeom prst="roundRect">
            <a:avLst>
              <a:gd name="adj" fmla="val 14851"/>
            </a:avLst>
          </a:prstGeom>
          <a:solidFill>
            <a:srgbClr val="F1F7ED"/>
          </a:solidFill>
          <a:ln w="0">
            <a:noFill/>
          </a:ln>
        </p:spPr>
        <p:txBody>
          <a:bodyPr/>
          <a:lstStyle/>
          <a:p>
            <a:endParaRPr lang="en-US"/>
          </a:p>
        </p:txBody>
      </p:sp>
      <p:sp>
        <p:nvSpPr>
          <p:cNvPr id="32" name="text-105">
            <a:extLst>
              <a:ext uri="{FF2B5EF4-FFF2-40B4-BE49-F238E27FC236}">
                <a16:creationId xmlns:a16="http://schemas.microsoft.com/office/drawing/2014/main" id="{5386BC24-BC1E-47D2-8773-78B02782B8CA}"/>
              </a:ext>
            </a:extLst>
          </p:cNvPr>
          <p:cNvSpPr>
            <a:spLocks noGrp="1"/>
          </p:cNvSpPr>
          <p:nvPr/>
        </p:nvSpPr>
        <p:spPr>
          <a:xfrm>
            <a:off x="8639175" y="4467225"/>
            <a:ext cx="1657350" cy="333375"/>
          </a:xfrm>
          <a:prstGeom prst="rect">
            <a:avLst/>
          </a:prstGeom>
          <a:noFill/>
          <a:ln w="0">
            <a:noFill/>
          </a:ln>
        </p:spPr>
        <p:txBody>
          <a:bodyPr wrap="none" lIns="0" tIns="0" rIns="0" bIns="0" anchor="ctr">
            <a:noAutofit/>
          </a:bodyPr>
          <a:lstStyle/>
          <a:p>
            <a:pPr algn="l">
              <a:defRPr sz="2025" b="1">
                <a:solidFill>
                  <a:srgbClr val="202124"/>
                </a:solidFill>
                <a:latin typeface="Nimbus Sans"/>
                <a:ea typeface="Nimbus Sans"/>
                <a:cs typeface="Nimbus Sans"/>
              </a:defRPr>
            </a:pPr>
            <a:r>
              <a:rPr sz="2025" b="1">
                <a:solidFill>
                  <a:srgbClr val="202124"/>
                </a:solidFill>
                <a:latin typeface="Nimbus Sans"/>
                <a:ea typeface="Nimbus Sans"/>
                <a:cs typeface="Nimbus Sans"/>
              </a:rPr>
              <a:t>Atomic</a:t>
            </a:r>
          </a:p>
        </p:txBody>
      </p:sp>
      <p:sp>
        <p:nvSpPr>
          <p:cNvPr id="33" name="text-106">
            <a:extLst>
              <a:ext uri="{FF2B5EF4-FFF2-40B4-BE49-F238E27FC236}">
                <a16:creationId xmlns:a16="http://schemas.microsoft.com/office/drawing/2014/main" id="{2DA8114C-7042-4F86-B53C-0CEB734C5765}"/>
              </a:ext>
            </a:extLst>
          </p:cNvPr>
          <p:cNvSpPr>
            <a:spLocks noGrp="1"/>
          </p:cNvSpPr>
          <p:nvPr/>
        </p:nvSpPr>
        <p:spPr>
          <a:xfrm>
            <a:off x="8639175" y="4876800"/>
            <a:ext cx="1657350" cy="266700"/>
          </a:xfrm>
          <a:prstGeom prst="rect">
            <a:avLst/>
          </a:prstGeom>
          <a:noFill/>
          <a:ln w="0">
            <a:noFill/>
          </a:ln>
        </p:spPr>
        <p:txBody>
          <a:bodyPr wrap="none" lIns="0" tIns="0" rIns="0" bIns="0" anchor="ctr">
            <a:noAutofit/>
          </a:bodyPr>
          <a:lstStyle/>
          <a:p>
            <a:pPr algn="l">
              <a:defRPr sz="1575" b="0">
                <a:solidFill>
                  <a:srgbClr val="555B63"/>
                </a:solidFill>
                <a:latin typeface="Nimbus Sans"/>
                <a:ea typeface="Nimbus Sans"/>
                <a:cs typeface="Nimbus Sans"/>
              </a:defRPr>
            </a:pPr>
            <a:r>
              <a:rPr sz="1575" b="0">
                <a:solidFill>
                  <a:srgbClr val="555B63"/>
                </a:solidFill>
                <a:latin typeface="Nimbus Sans"/>
                <a:ea typeface="Nimbus Sans"/>
                <a:cs typeface="Nimbus Sans"/>
              </a:rPr>
              <a:t>Tool use</a:t>
            </a:r>
          </a:p>
        </p:txBody>
      </p:sp>
      <p:sp>
        <p:nvSpPr>
          <p:cNvPr id="34" name="flow-107">
            <a:extLst>
              <a:ext uri="{FF2B5EF4-FFF2-40B4-BE49-F238E27FC236}">
                <a16:creationId xmlns:a16="http://schemas.microsoft.com/office/drawing/2014/main" id="{4185827D-52EA-4FDB-8818-211E2C453328}"/>
              </a:ext>
            </a:extLst>
          </p:cNvPr>
          <p:cNvSpPr>
            <a:spLocks noGrp="1"/>
          </p:cNvSpPr>
          <p:nvPr/>
        </p:nvSpPr>
        <p:spPr>
          <a:xfrm>
            <a:off x="10372725" y="4495800"/>
            <a:ext cx="9525" cy="657225"/>
          </a:xfrm>
          <a:custGeom>
            <a:avLst/>
            <a:gdLst/>
            <a:ahLst/>
            <a:cxnLst/>
            <a:rect l="0" t="0" r="0" b="0"/>
            <a:pathLst>
              <a:path w="9525" h="657225">
                <a:moveTo>
                  <a:pt x="0" y="0"/>
                </a:moveTo>
                <a:lnTo>
                  <a:pt x="0" y="657225"/>
                </a:lnTo>
              </a:path>
            </a:pathLst>
          </a:custGeom>
          <a:noFill/>
          <a:ln w="11430">
            <a:solidFill>
              <a:srgbClr val="CDDBC6"/>
            </a:solidFill>
            <a:prstDash val="solid"/>
          </a:ln>
        </p:spPr>
        <p:txBody>
          <a:bodyPr/>
          <a:lstStyle/>
          <a:p>
            <a:endParaRPr lang="en-US"/>
          </a:p>
        </p:txBody>
      </p:sp>
      <p:sp>
        <p:nvSpPr>
          <p:cNvPr id="35" name="text-108">
            <a:extLst>
              <a:ext uri="{FF2B5EF4-FFF2-40B4-BE49-F238E27FC236}">
                <a16:creationId xmlns:a16="http://schemas.microsoft.com/office/drawing/2014/main" id="{525CBCAF-B284-482B-A825-A434782032EE}"/>
              </a:ext>
            </a:extLst>
          </p:cNvPr>
          <p:cNvSpPr>
            <a:spLocks noGrp="1"/>
          </p:cNvSpPr>
          <p:nvPr/>
        </p:nvSpPr>
        <p:spPr>
          <a:xfrm>
            <a:off x="10391775" y="4457700"/>
            <a:ext cx="3638550" cy="342900"/>
          </a:xfrm>
          <a:prstGeom prst="rect">
            <a:avLst/>
          </a:prstGeom>
          <a:noFill/>
          <a:ln w="0">
            <a:noFill/>
          </a:ln>
        </p:spPr>
        <p:txBody>
          <a:bodyPr wrap="none" lIns="0" tIns="0" rIns="0" bIns="0" anchor="ctr">
            <a:noAutofit/>
          </a:bodyPr>
          <a:lstStyle/>
          <a:p>
            <a:pPr algn="l">
              <a:defRPr sz="1650" b="0">
                <a:solidFill>
                  <a:srgbClr val="202124"/>
                </a:solidFill>
                <a:latin typeface="Nimbus Sans"/>
                <a:ea typeface="Nimbus Sans"/>
                <a:cs typeface="Nimbus Sans"/>
              </a:defRPr>
            </a:pPr>
            <a:r>
              <a:rPr sz="1650" b="0" dirty="0">
                <a:solidFill>
                  <a:srgbClr val="202124"/>
                </a:solidFill>
                <a:latin typeface="Nimbus Sans"/>
                <a:ea typeface="Nimbus Sans"/>
                <a:cs typeface="Nimbus Sans"/>
              </a:rPr>
              <a:t>Arguments</a:t>
            </a:r>
            <a:r>
              <a:rPr lang="en-US" sz="1650" dirty="0">
                <a:solidFill>
                  <a:srgbClr val="202124"/>
                </a:solidFill>
                <a:latin typeface="Nimbus Sans"/>
                <a:ea typeface="Nimbus Sans"/>
                <a:cs typeface="Nimbus Sans"/>
              </a:rPr>
              <a:t> and</a:t>
            </a:r>
            <a:r>
              <a:rPr sz="1650" b="0" dirty="0">
                <a:solidFill>
                  <a:srgbClr val="202124"/>
                </a:solidFill>
                <a:latin typeface="Nimbus Sans"/>
                <a:ea typeface="Nimbus Sans"/>
                <a:cs typeface="Nimbus Sans"/>
              </a:rPr>
              <a:t> constraints</a:t>
            </a:r>
            <a:r>
              <a:rPr lang="en-US" sz="1650" b="0" dirty="0">
                <a:solidFill>
                  <a:srgbClr val="202124"/>
                </a:solidFill>
                <a:latin typeface="Nimbus Sans"/>
                <a:ea typeface="Nimbus Sans"/>
                <a:cs typeface="Nimbus Sans"/>
              </a:rPr>
              <a:t> for each single Tool</a:t>
            </a:r>
            <a:endParaRPr sz="1650" b="0" dirty="0">
              <a:solidFill>
                <a:srgbClr val="202124"/>
              </a:solidFill>
              <a:latin typeface="Nimbus Sans"/>
              <a:ea typeface="Nimbus Sans"/>
              <a:cs typeface="Nimbus Sans"/>
            </a:endParaRPr>
          </a:p>
        </p:txBody>
      </p:sp>
      <p:sp>
        <p:nvSpPr>
          <p:cNvPr id="36" name="text-109">
            <a:extLst>
              <a:ext uri="{FF2B5EF4-FFF2-40B4-BE49-F238E27FC236}">
                <a16:creationId xmlns:a16="http://schemas.microsoft.com/office/drawing/2014/main" id="{797001B6-3E03-4125-9D1E-1BF4B208582B}"/>
              </a:ext>
            </a:extLst>
          </p:cNvPr>
          <p:cNvSpPr>
            <a:spLocks noGrp="1"/>
          </p:cNvSpPr>
          <p:nvPr/>
        </p:nvSpPr>
        <p:spPr>
          <a:xfrm>
            <a:off x="10572750" y="4867275"/>
            <a:ext cx="3638550" cy="304800"/>
          </a:xfrm>
          <a:prstGeom prst="rect">
            <a:avLst/>
          </a:prstGeom>
          <a:noFill/>
          <a:ln w="0">
            <a:noFill/>
          </a:ln>
        </p:spPr>
        <p:txBody>
          <a:bodyPr wrap="none" lIns="0" tIns="0" rIns="0" bIns="0" anchor="ctr">
            <a:noAutofit/>
          </a:bodyPr>
          <a:lstStyle/>
          <a:p>
            <a:pPr algn="l">
              <a:defRPr sz="1575" b="0">
                <a:solidFill>
                  <a:srgbClr val="555B63"/>
                </a:solidFill>
                <a:latin typeface="Nimbus Sans"/>
                <a:ea typeface="Nimbus Sans"/>
                <a:cs typeface="Nimbus Sans"/>
              </a:defRPr>
            </a:pPr>
            <a:r>
              <a:rPr sz="1575" b="0" dirty="0">
                <a:solidFill>
                  <a:srgbClr val="555B63"/>
                </a:solidFill>
                <a:latin typeface="Nimbus Sans"/>
                <a:ea typeface="Nimbus Sans"/>
                <a:cs typeface="Nimbus Sans"/>
              </a:rPr>
              <a:t>Example: OSM query </a:t>
            </a:r>
            <a:r>
              <a:rPr lang="en-US" sz="1575" dirty="0">
                <a:solidFill>
                  <a:srgbClr val="555B63"/>
                </a:solidFill>
                <a:latin typeface="Nimbus Sans"/>
                <a:ea typeface="Nimbus Sans"/>
                <a:cs typeface="Nimbus Sans"/>
              </a:rPr>
              <a:t>API</a:t>
            </a:r>
            <a:r>
              <a:rPr lang="en-US" sz="1575" b="0" dirty="0">
                <a:solidFill>
                  <a:srgbClr val="555B63"/>
                </a:solidFill>
                <a:latin typeface="Nimbus Sans"/>
                <a:ea typeface="Nimbus Sans"/>
                <a:cs typeface="Nimbus Sans"/>
              </a:rPr>
              <a:t> and </a:t>
            </a:r>
            <a:r>
              <a:rPr sz="1575" b="0" dirty="0">
                <a:solidFill>
                  <a:srgbClr val="555B63"/>
                </a:solidFill>
                <a:latin typeface="Nimbus Sans"/>
                <a:ea typeface="Nimbus Sans"/>
                <a:cs typeface="Nimbus Sans"/>
              </a:rPr>
              <a:t>parameters</a:t>
            </a:r>
          </a:p>
        </p:txBody>
      </p:sp>
      <p:sp>
        <p:nvSpPr>
          <p:cNvPr id="37" name="text-110">
            <a:extLst>
              <a:ext uri="{FF2B5EF4-FFF2-40B4-BE49-F238E27FC236}">
                <a16:creationId xmlns:a16="http://schemas.microsoft.com/office/drawing/2014/main" id="{C10CFAC3-F81D-4C4A-91DF-42026D0CB21D}"/>
              </a:ext>
            </a:extLst>
          </p:cNvPr>
          <p:cNvSpPr>
            <a:spLocks noGrp="1"/>
          </p:cNvSpPr>
          <p:nvPr/>
        </p:nvSpPr>
        <p:spPr>
          <a:xfrm>
            <a:off x="8477250" y="5572125"/>
            <a:ext cx="5905500" cy="285750"/>
          </a:xfrm>
          <a:prstGeom prst="rect">
            <a:avLst/>
          </a:prstGeom>
          <a:noFill/>
          <a:ln w="0">
            <a:noFill/>
          </a:ln>
        </p:spPr>
        <p:txBody>
          <a:bodyPr wrap="none" lIns="0" tIns="0" rIns="0" bIns="0" anchor="ctr">
            <a:noAutofit/>
          </a:bodyPr>
          <a:lstStyle/>
          <a:p>
            <a:pPr algn="ctr">
              <a:defRPr sz="1650" b="0">
                <a:solidFill>
                  <a:srgbClr val="537046"/>
                </a:solidFill>
                <a:latin typeface="Nimbus Sans"/>
                <a:ea typeface="Nimbus Sans"/>
                <a:cs typeface="Nimbus Sans"/>
              </a:defRPr>
            </a:pPr>
            <a:r>
              <a:rPr sz="1650" b="0">
                <a:solidFill>
                  <a:srgbClr val="537046"/>
                </a:solidFill>
                <a:latin typeface="Nimbus Sans"/>
                <a:ea typeface="Nimbus Sans"/>
                <a:cs typeface="Nimbus Sans"/>
              </a:rPr>
              <a:t>Each skill retains its source trace and applicability.</a:t>
            </a:r>
          </a:p>
        </p:txBody>
      </p:sp>
      <p:sp>
        <p:nvSpPr>
          <p:cNvPr id="38" name="offline-investigation-rollout-111">
            <a:extLst>
              <a:ext uri="{FF2B5EF4-FFF2-40B4-BE49-F238E27FC236}">
                <a16:creationId xmlns:a16="http://schemas.microsoft.com/office/drawing/2014/main" id="{1FE381DE-1855-4F18-8D1A-D744AC71873A}"/>
              </a:ext>
            </a:extLst>
          </p:cNvPr>
          <p:cNvSpPr>
            <a:spLocks noGrp="1"/>
          </p:cNvSpPr>
          <p:nvPr/>
        </p:nvSpPr>
        <p:spPr>
          <a:xfrm>
            <a:off x="9525000" y="6886575"/>
            <a:ext cx="5095875" cy="1314450"/>
          </a:xfrm>
          <a:prstGeom prst="roundRect">
            <a:avLst>
              <a:gd name="adj" fmla="val 15942"/>
            </a:avLst>
          </a:prstGeom>
          <a:solidFill>
            <a:srgbClr val="DCE6F4"/>
          </a:solidFill>
          <a:ln w="0">
            <a:noFill/>
          </a:ln>
        </p:spPr>
        <p:txBody>
          <a:bodyPr/>
          <a:lstStyle/>
          <a:p>
            <a:endParaRPr lang="en-US"/>
          </a:p>
        </p:txBody>
      </p:sp>
      <p:sp>
        <p:nvSpPr>
          <p:cNvPr id="39" name="text-112">
            <a:extLst>
              <a:ext uri="{FF2B5EF4-FFF2-40B4-BE49-F238E27FC236}">
                <a16:creationId xmlns:a16="http://schemas.microsoft.com/office/drawing/2014/main" id="{35BFB826-21F3-4C65-B805-1A4A431CE991}"/>
              </a:ext>
            </a:extLst>
          </p:cNvPr>
          <p:cNvSpPr>
            <a:spLocks noGrp="1"/>
          </p:cNvSpPr>
          <p:nvPr/>
        </p:nvSpPr>
        <p:spPr>
          <a:xfrm>
            <a:off x="9715500" y="7029450"/>
            <a:ext cx="4714875" cy="361950"/>
          </a:xfrm>
          <a:prstGeom prst="rect">
            <a:avLst/>
          </a:prstGeom>
          <a:noFill/>
          <a:ln w="0">
            <a:noFill/>
          </a:ln>
        </p:spPr>
        <p:txBody>
          <a:bodyPr wrap="none" lIns="0" tIns="0" rIns="0" bIns="0" anchor="ctr">
            <a:noAutofit/>
          </a:bodyPr>
          <a:lstStyle/>
          <a:p>
            <a:pPr algn="ctr">
              <a:defRPr sz="2175" b="1">
                <a:solidFill>
                  <a:srgbClr val="202124"/>
                </a:solidFill>
                <a:latin typeface="Nimbus Sans"/>
                <a:ea typeface="Nimbus Sans"/>
                <a:cs typeface="Nimbus Sans"/>
              </a:defRPr>
            </a:pPr>
            <a:r>
              <a:rPr sz="2175" b="1">
                <a:solidFill>
                  <a:srgbClr val="202124"/>
                </a:solidFill>
                <a:latin typeface="Nimbus Sans"/>
                <a:ea typeface="Nimbus Sans"/>
                <a:cs typeface="Nimbus Sans"/>
              </a:rPr>
              <a:t>Offline investigation (Fig. 1)</a:t>
            </a:r>
          </a:p>
        </p:txBody>
      </p:sp>
      <p:sp>
        <p:nvSpPr>
          <p:cNvPr id="40" name="text-113">
            <a:extLst>
              <a:ext uri="{FF2B5EF4-FFF2-40B4-BE49-F238E27FC236}">
                <a16:creationId xmlns:a16="http://schemas.microsoft.com/office/drawing/2014/main" id="{CD718ED2-9B1F-46C1-8693-B76806AB118E}"/>
              </a:ext>
            </a:extLst>
          </p:cNvPr>
          <p:cNvSpPr>
            <a:spLocks noGrp="1"/>
          </p:cNvSpPr>
          <p:nvPr/>
        </p:nvSpPr>
        <p:spPr>
          <a:xfrm>
            <a:off x="9725025" y="7524750"/>
            <a:ext cx="4695825" cy="276225"/>
          </a:xfrm>
          <a:prstGeom prst="rect">
            <a:avLst/>
          </a:prstGeom>
          <a:noFill/>
          <a:ln w="0">
            <a:noFill/>
          </a:ln>
        </p:spPr>
        <p:txBody>
          <a:bodyPr wrap="none" lIns="0" tIns="0" rIns="0" bIns="0" anchor="ctr">
            <a:noAutofit/>
          </a:bodyPr>
          <a:lstStyle/>
          <a:p>
            <a:pPr algn="ctr">
              <a:defRPr sz="1650" b="0">
                <a:solidFill>
                  <a:srgbClr val="202124"/>
                </a:solidFill>
                <a:latin typeface="Nimbus Sans"/>
                <a:ea typeface="Nimbus Sans"/>
                <a:cs typeface="Nimbus Sans"/>
              </a:defRPr>
            </a:pPr>
            <a:r>
              <a:rPr sz="1650" b="0">
                <a:solidFill>
                  <a:srgbClr val="202124"/>
                </a:solidFill>
                <a:latin typeface="Nimbus Sans"/>
                <a:ea typeface="Nimbus Sans"/>
                <a:cs typeface="Nimbus Sans"/>
              </a:rPr>
              <a:t>Use the library in the next rollout</a:t>
            </a:r>
          </a:p>
        </p:txBody>
      </p:sp>
      <p:sp>
        <p:nvSpPr>
          <p:cNvPr id="41" name="text-114">
            <a:extLst>
              <a:ext uri="{FF2B5EF4-FFF2-40B4-BE49-F238E27FC236}">
                <a16:creationId xmlns:a16="http://schemas.microsoft.com/office/drawing/2014/main" id="{B5126019-7E75-456B-856F-9EB970BABEDC}"/>
              </a:ext>
            </a:extLst>
          </p:cNvPr>
          <p:cNvSpPr>
            <a:spLocks noGrp="1"/>
          </p:cNvSpPr>
          <p:nvPr/>
        </p:nvSpPr>
        <p:spPr>
          <a:xfrm>
            <a:off x="9725025" y="7800975"/>
            <a:ext cx="4695825" cy="276225"/>
          </a:xfrm>
          <a:prstGeom prst="rect">
            <a:avLst/>
          </a:prstGeom>
          <a:noFill/>
          <a:ln w="0">
            <a:noFill/>
          </a:ln>
        </p:spPr>
        <p:txBody>
          <a:bodyPr wrap="none" lIns="0" tIns="0" rIns="0" bIns="0" anchor="ctr">
            <a:noAutofit/>
          </a:bodyPr>
          <a:lstStyle/>
          <a:p>
            <a:pPr algn="ctr">
              <a:defRPr sz="1650" b="0">
                <a:solidFill>
                  <a:srgbClr val="202124"/>
                </a:solidFill>
                <a:latin typeface="Nimbus Sans"/>
                <a:ea typeface="Nimbus Sans"/>
                <a:cs typeface="Nimbus Sans"/>
              </a:defRPr>
            </a:pPr>
            <a:r>
              <a:rPr sz="1650" b="0">
                <a:solidFill>
                  <a:srgbClr val="202124"/>
                </a:solidFill>
                <a:latin typeface="Nimbus Sans"/>
                <a:ea typeface="Nimbus Sans"/>
                <a:cs typeface="Nimbus Sans"/>
              </a:rPr>
              <a:t>Record goals, actions, observations and errors</a:t>
            </a:r>
          </a:p>
        </p:txBody>
      </p:sp>
      <p:sp>
        <p:nvSpPr>
          <p:cNvPr id="42" name="llm-skill-refinement-115">
            <a:extLst>
              <a:ext uri="{FF2B5EF4-FFF2-40B4-BE49-F238E27FC236}">
                <a16:creationId xmlns:a16="http://schemas.microsoft.com/office/drawing/2014/main" id="{E3ADD225-43F9-4D6A-A722-32823D41FAF7}"/>
              </a:ext>
            </a:extLst>
          </p:cNvPr>
          <p:cNvSpPr>
            <a:spLocks noGrp="1"/>
          </p:cNvSpPr>
          <p:nvPr/>
        </p:nvSpPr>
        <p:spPr>
          <a:xfrm>
            <a:off x="4238625" y="6886575"/>
            <a:ext cx="3857625" cy="1314450"/>
          </a:xfrm>
          <a:prstGeom prst="roundRect">
            <a:avLst>
              <a:gd name="adj" fmla="val 15942"/>
            </a:avLst>
          </a:prstGeom>
          <a:solidFill>
            <a:srgbClr val="B8CAE7"/>
          </a:solidFill>
          <a:ln w="0">
            <a:noFill/>
          </a:ln>
        </p:spPr>
        <p:txBody>
          <a:bodyPr/>
          <a:lstStyle/>
          <a:p>
            <a:endParaRPr lang="en-US"/>
          </a:p>
        </p:txBody>
      </p:sp>
      <p:sp>
        <p:nvSpPr>
          <p:cNvPr id="43" name="text-116">
            <a:extLst>
              <a:ext uri="{FF2B5EF4-FFF2-40B4-BE49-F238E27FC236}">
                <a16:creationId xmlns:a16="http://schemas.microsoft.com/office/drawing/2014/main" id="{E594392A-D714-4D25-8D7A-4367DB6655D6}"/>
              </a:ext>
            </a:extLst>
          </p:cNvPr>
          <p:cNvSpPr>
            <a:spLocks noGrp="1"/>
          </p:cNvSpPr>
          <p:nvPr/>
        </p:nvSpPr>
        <p:spPr>
          <a:xfrm>
            <a:off x="4410075" y="7029450"/>
            <a:ext cx="3514725" cy="361950"/>
          </a:xfrm>
          <a:prstGeom prst="rect">
            <a:avLst/>
          </a:prstGeom>
          <a:noFill/>
          <a:ln w="0">
            <a:noFill/>
          </a:ln>
        </p:spPr>
        <p:txBody>
          <a:bodyPr wrap="none" lIns="0" tIns="0" rIns="0" bIns="0" anchor="ctr">
            <a:noAutofit/>
          </a:bodyPr>
          <a:lstStyle/>
          <a:p>
            <a:pPr algn="ctr">
              <a:defRPr sz="2175" b="1">
                <a:solidFill>
                  <a:srgbClr val="202124"/>
                </a:solidFill>
                <a:latin typeface="Nimbus Sans"/>
                <a:ea typeface="Nimbus Sans"/>
                <a:cs typeface="Nimbus Sans"/>
              </a:defRPr>
            </a:pPr>
            <a:r>
              <a:rPr sz="2175" b="1">
                <a:solidFill>
                  <a:srgbClr val="202124"/>
                </a:solidFill>
                <a:latin typeface="Nimbus Sans"/>
                <a:ea typeface="Nimbus Sans"/>
                <a:cs typeface="Nimbus Sans"/>
              </a:rPr>
              <a:t>LLM skill refinement</a:t>
            </a:r>
          </a:p>
        </p:txBody>
      </p:sp>
      <p:sp>
        <p:nvSpPr>
          <p:cNvPr id="44" name="text-117">
            <a:extLst>
              <a:ext uri="{FF2B5EF4-FFF2-40B4-BE49-F238E27FC236}">
                <a16:creationId xmlns:a16="http://schemas.microsoft.com/office/drawing/2014/main" id="{591B528D-B1BA-441A-80FD-B0391DC3C33A}"/>
              </a:ext>
            </a:extLst>
          </p:cNvPr>
          <p:cNvSpPr>
            <a:spLocks noGrp="1"/>
          </p:cNvSpPr>
          <p:nvPr/>
        </p:nvSpPr>
        <p:spPr>
          <a:xfrm>
            <a:off x="4410075" y="7439025"/>
            <a:ext cx="3514725" cy="238125"/>
          </a:xfrm>
          <a:prstGeom prst="rect">
            <a:avLst/>
          </a:prstGeom>
          <a:noFill/>
          <a:ln w="0">
            <a:noFill/>
          </a:ln>
        </p:spPr>
        <p:txBody>
          <a:bodyPr wrap="none" lIns="0" tIns="0" rIns="0" bIns="0" anchor="ctr">
            <a:noAutofit/>
          </a:bodyPr>
          <a:lstStyle/>
          <a:p>
            <a:pPr algn="ctr">
              <a:defRPr sz="1613" b="0">
                <a:solidFill>
                  <a:srgbClr val="202124"/>
                </a:solidFill>
                <a:latin typeface="Nimbus Sans"/>
                <a:ea typeface="Nimbus Sans"/>
                <a:cs typeface="Nimbus Sans"/>
              </a:defRPr>
            </a:pPr>
            <a:r>
              <a:rPr sz="1613" b="0">
                <a:solidFill>
                  <a:srgbClr val="202124"/>
                </a:solidFill>
                <a:latin typeface="Nimbus Sans"/>
                <a:ea typeface="Nimbus Sans"/>
                <a:cs typeface="Nimbus Sans"/>
              </a:rPr>
              <a:t>Extract reusable experience</a:t>
            </a:r>
          </a:p>
        </p:txBody>
      </p:sp>
      <p:sp>
        <p:nvSpPr>
          <p:cNvPr id="45" name="text-118">
            <a:extLst>
              <a:ext uri="{FF2B5EF4-FFF2-40B4-BE49-F238E27FC236}">
                <a16:creationId xmlns:a16="http://schemas.microsoft.com/office/drawing/2014/main" id="{F2841C33-4ED1-48C5-8504-818084208B18}"/>
              </a:ext>
            </a:extLst>
          </p:cNvPr>
          <p:cNvSpPr>
            <a:spLocks noGrp="1"/>
          </p:cNvSpPr>
          <p:nvPr/>
        </p:nvSpPr>
        <p:spPr>
          <a:xfrm>
            <a:off x="4410075" y="7677150"/>
            <a:ext cx="3514725" cy="238125"/>
          </a:xfrm>
          <a:prstGeom prst="rect">
            <a:avLst/>
          </a:prstGeom>
          <a:noFill/>
          <a:ln w="0">
            <a:noFill/>
          </a:ln>
        </p:spPr>
        <p:txBody>
          <a:bodyPr wrap="none" lIns="0" tIns="0" rIns="0" bIns="0" anchor="ctr">
            <a:noAutofit/>
          </a:bodyPr>
          <a:lstStyle/>
          <a:p>
            <a:pPr algn="ctr">
              <a:defRPr sz="1613" b="0">
                <a:solidFill>
                  <a:srgbClr val="202124"/>
                </a:solidFill>
                <a:latin typeface="Nimbus Sans"/>
                <a:ea typeface="Nimbus Sans"/>
                <a:cs typeface="Nimbus Sans"/>
              </a:defRPr>
            </a:pPr>
            <a:r>
              <a:rPr sz="1613" b="0">
                <a:solidFill>
                  <a:srgbClr val="202124"/>
                </a:solidFill>
                <a:latin typeface="Nimbus Sans"/>
                <a:ea typeface="Nimbus Sans"/>
                <a:cs typeface="Nimbus Sans"/>
              </a:rPr>
              <a:t>Merge or revise skill entries</a:t>
            </a:r>
          </a:p>
        </p:txBody>
      </p:sp>
      <p:sp>
        <p:nvSpPr>
          <p:cNvPr id="46" name="text-119">
            <a:extLst>
              <a:ext uri="{FF2B5EF4-FFF2-40B4-BE49-F238E27FC236}">
                <a16:creationId xmlns:a16="http://schemas.microsoft.com/office/drawing/2014/main" id="{EB93EA99-AA5B-4060-9F63-52F7F1AE69A8}"/>
              </a:ext>
            </a:extLst>
          </p:cNvPr>
          <p:cNvSpPr>
            <a:spLocks noGrp="1"/>
          </p:cNvSpPr>
          <p:nvPr/>
        </p:nvSpPr>
        <p:spPr>
          <a:xfrm>
            <a:off x="4410075" y="7915275"/>
            <a:ext cx="3514725" cy="238125"/>
          </a:xfrm>
          <a:prstGeom prst="rect">
            <a:avLst/>
          </a:prstGeom>
          <a:noFill/>
          <a:ln w="0">
            <a:noFill/>
          </a:ln>
        </p:spPr>
        <p:txBody>
          <a:bodyPr wrap="none" lIns="0" tIns="0" rIns="0" bIns="0" anchor="ctr">
            <a:noAutofit/>
          </a:bodyPr>
          <a:lstStyle/>
          <a:p>
            <a:pPr algn="ctr">
              <a:defRPr sz="1613" b="0">
                <a:solidFill>
                  <a:srgbClr val="202124"/>
                </a:solidFill>
                <a:latin typeface="Nimbus Sans"/>
                <a:ea typeface="Nimbus Sans"/>
                <a:cs typeface="Nimbus Sans"/>
              </a:defRPr>
            </a:pPr>
            <a:r>
              <a:rPr sz="1613" b="0">
                <a:solidFill>
                  <a:srgbClr val="202124"/>
                </a:solidFill>
                <a:latin typeface="Nimbus Sans"/>
                <a:ea typeface="Nimbus Sans"/>
                <a:cs typeface="Nimbus Sans"/>
              </a:rPr>
              <a:t>Check tool-schema compatibility</a:t>
            </a:r>
          </a:p>
        </p:txBody>
      </p:sp>
      <p:sp>
        <p:nvSpPr>
          <p:cNvPr id="53" name="text-126">
            <a:extLst>
              <a:ext uri="{FF2B5EF4-FFF2-40B4-BE49-F238E27FC236}">
                <a16:creationId xmlns:a16="http://schemas.microsoft.com/office/drawing/2014/main" id="{AFB1EF21-6EF8-4010-87A8-A1D1779B17C3}"/>
              </a:ext>
            </a:extLst>
          </p:cNvPr>
          <p:cNvSpPr>
            <a:spLocks noGrp="1"/>
          </p:cNvSpPr>
          <p:nvPr/>
        </p:nvSpPr>
        <p:spPr>
          <a:xfrm>
            <a:off x="7277100" y="2209800"/>
            <a:ext cx="771525" cy="266700"/>
          </a:xfrm>
          <a:prstGeom prst="rect">
            <a:avLst/>
          </a:prstGeom>
          <a:solidFill>
            <a:srgbClr val="FFFFFF"/>
          </a:solidFill>
          <a:ln w="0">
            <a:noFill/>
          </a:ln>
        </p:spPr>
        <p:txBody>
          <a:bodyPr wrap="none" lIns="0" tIns="0" rIns="0" bIns="0" anchor="ctr">
            <a:noAutofit/>
          </a:bodyPr>
          <a:lstStyle/>
          <a:p>
            <a:pPr algn="ctr">
              <a:defRPr sz="1575" b="0">
                <a:solidFill>
                  <a:srgbClr val="555B63"/>
                </a:solidFill>
                <a:latin typeface="Nimbus Sans"/>
                <a:ea typeface="Nimbus Sans"/>
                <a:cs typeface="Nimbus Sans"/>
              </a:defRPr>
            </a:pPr>
            <a:r>
              <a:rPr lang="en-US" sz="1575" b="0" dirty="0">
                <a:solidFill>
                  <a:srgbClr val="555B63"/>
                </a:solidFill>
                <a:latin typeface="Nimbus Sans"/>
                <a:ea typeface="Nimbus Sans"/>
                <a:cs typeface="Nimbus Sans"/>
              </a:rPr>
              <a:t>Original</a:t>
            </a:r>
            <a:r>
              <a:rPr lang="zh-CN" altLang="en-US" sz="1575" b="0" dirty="0">
                <a:solidFill>
                  <a:srgbClr val="555B63"/>
                </a:solidFill>
                <a:latin typeface="Nimbus Sans"/>
                <a:ea typeface="Nimbus Sans"/>
                <a:cs typeface="Nimbus Sans"/>
              </a:rPr>
              <a:t> </a:t>
            </a:r>
            <a:r>
              <a:rPr sz="1575" b="0" dirty="0">
                <a:solidFill>
                  <a:srgbClr val="555B63"/>
                </a:solidFill>
                <a:latin typeface="Nimbus Sans"/>
                <a:ea typeface="Nimbus Sans"/>
                <a:cs typeface="Nimbus Sans"/>
              </a:rPr>
              <a:t>Skills</a:t>
            </a:r>
          </a:p>
        </p:txBody>
      </p:sp>
      <p:sp>
        <p:nvSpPr>
          <p:cNvPr id="54" name="skills-to-rollout-127">
            <a:extLst>
              <a:ext uri="{FF2B5EF4-FFF2-40B4-BE49-F238E27FC236}">
                <a16:creationId xmlns:a16="http://schemas.microsoft.com/office/drawing/2014/main" id="{B4BD9BED-37B9-4422-9FD1-FF976A19D800}"/>
              </a:ext>
            </a:extLst>
          </p:cNvPr>
          <p:cNvSpPr>
            <a:spLocks noGrp="1"/>
          </p:cNvSpPr>
          <p:nvPr/>
        </p:nvSpPr>
        <p:spPr>
          <a:xfrm>
            <a:off x="11734800" y="6048375"/>
            <a:ext cx="9525" cy="838200"/>
          </a:xfrm>
          <a:custGeom>
            <a:avLst/>
            <a:gdLst/>
            <a:ahLst/>
            <a:cxnLst/>
            <a:rect l="0" t="0" r="0" b="0"/>
            <a:pathLst>
              <a:path w="9525" h="838200">
                <a:moveTo>
                  <a:pt x="0" y="0"/>
                </a:moveTo>
                <a:lnTo>
                  <a:pt x="0" y="838200"/>
                </a:lnTo>
              </a:path>
            </a:pathLst>
          </a:custGeom>
          <a:noFill/>
          <a:ln w="20955">
            <a:solidFill>
              <a:srgbClr val="35383D"/>
            </a:solidFill>
            <a:prstDash val="solid"/>
          </a:ln>
        </p:spPr>
        <p:txBody>
          <a:bodyPr/>
          <a:lstStyle/>
          <a:p>
            <a:endParaRPr lang="en-US"/>
          </a:p>
        </p:txBody>
      </p:sp>
      <p:sp>
        <p:nvSpPr>
          <p:cNvPr id="55" name="arrowhead-128">
            <a:extLst>
              <a:ext uri="{FF2B5EF4-FFF2-40B4-BE49-F238E27FC236}">
                <a16:creationId xmlns:a16="http://schemas.microsoft.com/office/drawing/2014/main" id="{31F49846-01E3-4970-9D06-7B28BC66E857}"/>
              </a:ext>
            </a:extLst>
          </p:cNvPr>
          <p:cNvSpPr>
            <a:spLocks noGrp="1"/>
          </p:cNvSpPr>
          <p:nvPr/>
        </p:nvSpPr>
        <p:spPr>
          <a:xfrm>
            <a:off x="11687175" y="6781800"/>
            <a:ext cx="95250" cy="104775"/>
          </a:xfrm>
          <a:custGeom>
            <a:avLst/>
            <a:gdLst/>
            <a:ahLst/>
            <a:cxnLst/>
            <a:rect l="0" t="0" r="0" b="0"/>
            <a:pathLst>
              <a:path w="95250" h="104775">
                <a:moveTo>
                  <a:pt x="47625" y="104775"/>
                </a:moveTo>
                <a:lnTo>
                  <a:pt x="0" y="0"/>
                </a:lnTo>
                <a:lnTo>
                  <a:pt x="95250" y="0"/>
                </a:lnTo>
                <a:close/>
              </a:path>
            </a:pathLst>
          </a:custGeom>
          <a:solidFill>
            <a:srgbClr val="35383D"/>
          </a:solidFill>
          <a:ln w="0">
            <a:noFill/>
          </a:ln>
        </p:spPr>
        <p:txBody>
          <a:bodyPr/>
          <a:lstStyle/>
          <a:p>
            <a:endParaRPr lang="en-US"/>
          </a:p>
        </p:txBody>
      </p:sp>
      <p:sp>
        <p:nvSpPr>
          <p:cNvPr id="56" name="text-129">
            <a:extLst>
              <a:ext uri="{FF2B5EF4-FFF2-40B4-BE49-F238E27FC236}">
                <a16:creationId xmlns:a16="http://schemas.microsoft.com/office/drawing/2014/main" id="{012CF59C-B3EA-4EA4-BEAA-C54C4375E29F}"/>
              </a:ext>
            </a:extLst>
          </p:cNvPr>
          <p:cNvSpPr>
            <a:spLocks noGrp="1"/>
          </p:cNvSpPr>
          <p:nvPr/>
        </p:nvSpPr>
        <p:spPr>
          <a:xfrm>
            <a:off x="10401300" y="6362700"/>
            <a:ext cx="2667000" cy="276225"/>
          </a:xfrm>
          <a:prstGeom prst="rect">
            <a:avLst/>
          </a:prstGeom>
          <a:solidFill>
            <a:srgbClr val="FFFFFF"/>
          </a:solidFill>
          <a:ln w="0">
            <a:noFill/>
          </a:ln>
        </p:spPr>
        <p:txBody>
          <a:bodyPr wrap="none" lIns="0" tIns="0" rIns="0" bIns="0" anchor="ctr">
            <a:noAutofit/>
          </a:bodyPr>
          <a:lstStyle/>
          <a:p>
            <a:pPr algn="ctr">
              <a:defRPr sz="1575" b="0">
                <a:solidFill>
                  <a:srgbClr val="555B63"/>
                </a:solidFill>
                <a:latin typeface="Nimbus Sans"/>
                <a:ea typeface="Nimbus Sans"/>
                <a:cs typeface="Nimbus Sans"/>
              </a:defRPr>
            </a:pPr>
            <a:r>
              <a:rPr sz="1575" b="0">
                <a:solidFill>
                  <a:srgbClr val="555B63"/>
                </a:solidFill>
                <a:latin typeface="Nimbus Sans"/>
                <a:ea typeface="Nimbus Sans"/>
                <a:cs typeface="Nimbus Sans"/>
              </a:rPr>
              <a:t>Retrieve applicable skills</a:t>
            </a:r>
          </a:p>
        </p:txBody>
      </p:sp>
      <p:sp>
        <p:nvSpPr>
          <p:cNvPr id="57" name="rollout-to-refinement-130">
            <a:extLst>
              <a:ext uri="{FF2B5EF4-FFF2-40B4-BE49-F238E27FC236}">
                <a16:creationId xmlns:a16="http://schemas.microsoft.com/office/drawing/2014/main" id="{6FE9CE88-2592-4BAD-B1C6-4EA7A75A9270}"/>
              </a:ext>
            </a:extLst>
          </p:cNvPr>
          <p:cNvSpPr>
            <a:spLocks noGrp="1"/>
          </p:cNvSpPr>
          <p:nvPr/>
        </p:nvSpPr>
        <p:spPr>
          <a:xfrm>
            <a:off x="8096250" y="7591425"/>
            <a:ext cx="1428750" cy="9525"/>
          </a:xfrm>
          <a:custGeom>
            <a:avLst/>
            <a:gdLst/>
            <a:ahLst/>
            <a:cxnLst/>
            <a:rect l="0" t="0" r="0" b="0"/>
            <a:pathLst>
              <a:path w="1428750" h="9525">
                <a:moveTo>
                  <a:pt x="1428750" y="0"/>
                </a:moveTo>
                <a:lnTo>
                  <a:pt x="0" y="0"/>
                </a:lnTo>
              </a:path>
            </a:pathLst>
          </a:custGeom>
          <a:noFill/>
          <a:ln w="20955">
            <a:solidFill>
              <a:srgbClr val="35383D"/>
            </a:solidFill>
            <a:prstDash val="solid"/>
          </a:ln>
        </p:spPr>
        <p:txBody>
          <a:bodyPr/>
          <a:lstStyle/>
          <a:p>
            <a:endParaRPr lang="en-US"/>
          </a:p>
        </p:txBody>
      </p:sp>
      <p:sp>
        <p:nvSpPr>
          <p:cNvPr id="58" name="arrowhead-131">
            <a:extLst>
              <a:ext uri="{FF2B5EF4-FFF2-40B4-BE49-F238E27FC236}">
                <a16:creationId xmlns:a16="http://schemas.microsoft.com/office/drawing/2014/main" id="{AB697AD3-44A8-4DC9-ADEF-BBD4962F064F}"/>
              </a:ext>
            </a:extLst>
          </p:cNvPr>
          <p:cNvSpPr>
            <a:spLocks noGrp="1"/>
          </p:cNvSpPr>
          <p:nvPr/>
        </p:nvSpPr>
        <p:spPr>
          <a:xfrm>
            <a:off x="8096250" y="7543800"/>
            <a:ext cx="104775" cy="95250"/>
          </a:xfrm>
          <a:custGeom>
            <a:avLst/>
            <a:gdLst/>
            <a:ahLst/>
            <a:cxnLst/>
            <a:rect l="0" t="0" r="0" b="0"/>
            <a:pathLst>
              <a:path w="104775" h="95250">
                <a:moveTo>
                  <a:pt x="0" y="47625"/>
                </a:moveTo>
                <a:lnTo>
                  <a:pt x="104775" y="0"/>
                </a:lnTo>
                <a:lnTo>
                  <a:pt x="104775" y="95250"/>
                </a:lnTo>
                <a:close/>
              </a:path>
            </a:pathLst>
          </a:custGeom>
          <a:solidFill>
            <a:srgbClr val="35383D"/>
          </a:solidFill>
          <a:ln w="0">
            <a:noFill/>
          </a:ln>
        </p:spPr>
        <p:txBody>
          <a:bodyPr/>
          <a:lstStyle/>
          <a:p>
            <a:endParaRPr lang="en-US"/>
          </a:p>
        </p:txBody>
      </p:sp>
      <p:sp>
        <p:nvSpPr>
          <p:cNvPr id="59" name="text-132">
            <a:extLst>
              <a:ext uri="{FF2B5EF4-FFF2-40B4-BE49-F238E27FC236}">
                <a16:creationId xmlns:a16="http://schemas.microsoft.com/office/drawing/2014/main" id="{B0713877-B94B-439D-B1C8-BA0660DDE7F3}"/>
              </a:ext>
            </a:extLst>
          </p:cNvPr>
          <p:cNvSpPr>
            <a:spLocks noGrp="1"/>
          </p:cNvSpPr>
          <p:nvPr/>
        </p:nvSpPr>
        <p:spPr>
          <a:xfrm>
            <a:off x="8115300" y="6953250"/>
            <a:ext cx="1390650" cy="257175"/>
          </a:xfrm>
          <a:prstGeom prst="rect">
            <a:avLst/>
          </a:prstGeom>
          <a:solidFill>
            <a:srgbClr val="FFFFFF"/>
          </a:solidFill>
          <a:ln w="0">
            <a:noFill/>
          </a:ln>
        </p:spPr>
        <p:txBody>
          <a:bodyPr wrap="none" lIns="0" tIns="0" rIns="0" bIns="0" anchor="ctr">
            <a:noAutofit/>
          </a:bodyPr>
          <a:lstStyle/>
          <a:p>
            <a:pPr algn="ctr">
              <a:defRPr sz="1463" b="0">
                <a:solidFill>
                  <a:srgbClr val="555B63"/>
                </a:solidFill>
                <a:latin typeface="Nimbus Sans"/>
                <a:ea typeface="Nimbus Sans"/>
                <a:cs typeface="Nimbus Sans"/>
              </a:defRPr>
            </a:pPr>
            <a:r>
              <a:rPr sz="1463" b="0">
                <a:solidFill>
                  <a:srgbClr val="555B63"/>
                </a:solidFill>
                <a:latin typeface="Nimbus Sans"/>
                <a:ea typeface="Nimbus Sans"/>
                <a:cs typeface="Nimbus Sans"/>
              </a:rPr>
              <a:t>Execution trace</a:t>
            </a:r>
          </a:p>
        </p:txBody>
      </p:sp>
      <p:sp>
        <p:nvSpPr>
          <p:cNvPr id="60" name="text-133">
            <a:extLst>
              <a:ext uri="{FF2B5EF4-FFF2-40B4-BE49-F238E27FC236}">
                <a16:creationId xmlns:a16="http://schemas.microsoft.com/office/drawing/2014/main" id="{627928DD-5F05-41F2-BE9E-136410DA9ECD}"/>
              </a:ext>
            </a:extLst>
          </p:cNvPr>
          <p:cNvSpPr>
            <a:spLocks noGrp="1"/>
          </p:cNvSpPr>
          <p:nvPr/>
        </p:nvSpPr>
        <p:spPr>
          <a:xfrm>
            <a:off x="8115300" y="7210425"/>
            <a:ext cx="1390650" cy="257175"/>
          </a:xfrm>
          <a:prstGeom prst="rect">
            <a:avLst/>
          </a:prstGeom>
          <a:solidFill>
            <a:srgbClr val="FFFFFF"/>
          </a:solidFill>
          <a:ln w="0">
            <a:noFill/>
          </a:ln>
        </p:spPr>
        <p:txBody>
          <a:bodyPr wrap="none" lIns="0" tIns="0" rIns="0" bIns="0" anchor="ctr">
            <a:noAutofit/>
          </a:bodyPr>
          <a:lstStyle/>
          <a:p>
            <a:pPr algn="ctr">
              <a:defRPr sz="1388" b="0">
                <a:solidFill>
                  <a:srgbClr val="555B63"/>
                </a:solidFill>
                <a:latin typeface="Nimbus Sans"/>
                <a:ea typeface="Nimbus Sans"/>
                <a:cs typeface="Nimbus Sans"/>
              </a:defRPr>
            </a:pPr>
            <a:r>
              <a:rPr sz="1388" b="0">
                <a:solidFill>
                  <a:srgbClr val="555B63"/>
                </a:solidFill>
                <a:latin typeface="Nimbus Sans"/>
                <a:ea typeface="Nimbus Sans"/>
                <a:cs typeface="Nimbus Sans"/>
              </a:rPr>
              <a:t>and tool feedback</a:t>
            </a:r>
          </a:p>
        </p:txBody>
      </p:sp>
      <p:sp>
        <p:nvSpPr>
          <p:cNvPr id="61" name="refinement-to-library-134">
            <a:extLst>
              <a:ext uri="{FF2B5EF4-FFF2-40B4-BE49-F238E27FC236}">
                <a16:creationId xmlns:a16="http://schemas.microsoft.com/office/drawing/2014/main" id="{F6EF65C8-7725-4272-8E80-AE08B7A4CD9A}"/>
              </a:ext>
            </a:extLst>
          </p:cNvPr>
          <p:cNvSpPr>
            <a:spLocks noGrp="1"/>
          </p:cNvSpPr>
          <p:nvPr/>
        </p:nvSpPr>
        <p:spPr>
          <a:xfrm>
            <a:off x="6172200" y="5534025"/>
            <a:ext cx="2066925" cy="1352550"/>
          </a:xfrm>
          <a:custGeom>
            <a:avLst/>
            <a:gdLst/>
            <a:ahLst/>
            <a:cxnLst/>
            <a:rect l="0" t="0" r="0" b="0"/>
            <a:pathLst>
              <a:path w="2066925" h="1352550">
                <a:moveTo>
                  <a:pt x="0" y="1352550"/>
                </a:moveTo>
                <a:lnTo>
                  <a:pt x="0" y="733425"/>
                </a:lnTo>
                <a:lnTo>
                  <a:pt x="1638300" y="733425"/>
                </a:lnTo>
                <a:lnTo>
                  <a:pt x="1638300" y="0"/>
                </a:lnTo>
                <a:lnTo>
                  <a:pt x="2066925" y="0"/>
                </a:lnTo>
              </a:path>
            </a:pathLst>
          </a:custGeom>
          <a:noFill/>
          <a:ln w="20955">
            <a:solidFill>
              <a:srgbClr val="537046"/>
            </a:solidFill>
            <a:prstDash val="solid"/>
          </a:ln>
        </p:spPr>
        <p:txBody>
          <a:bodyPr/>
          <a:lstStyle/>
          <a:p>
            <a:endParaRPr lang="en-US"/>
          </a:p>
        </p:txBody>
      </p:sp>
      <p:sp>
        <p:nvSpPr>
          <p:cNvPr id="62" name="arrowhead-135">
            <a:extLst>
              <a:ext uri="{FF2B5EF4-FFF2-40B4-BE49-F238E27FC236}">
                <a16:creationId xmlns:a16="http://schemas.microsoft.com/office/drawing/2014/main" id="{311B35AC-3706-4469-8036-CFF0632BAA7D}"/>
              </a:ext>
            </a:extLst>
          </p:cNvPr>
          <p:cNvSpPr>
            <a:spLocks noGrp="1"/>
          </p:cNvSpPr>
          <p:nvPr/>
        </p:nvSpPr>
        <p:spPr>
          <a:xfrm>
            <a:off x="8134350" y="5486400"/>
            <a:ext cx="104775" cy="95250"/>
          </a:xfrm>
          <a:custGeom>
            <a:avLst/>
            <a:gdLst/>
            <a:ahLst/>
            <a:cxnLst/>
            <a:rect l="0" t="0" r="0" b="0"/>
            <a:pathLst>
              <a:path w="104775" h="95250">
                <a:moveTo>
                  <a:pt x="104775" y="47625"/>
                </a:moveTo>
                <a:lnTo>
                  <a:pt x="0" y="95250"/>
                </a:lnTo>
                <a:lnTo>
                  <a:pt x="0" y="0"/>
                </a:lnTo>
                <a:close/>
              </a:path>
            </a:pathLst>
          </a:custGeom>
          <a:solidFill>
            <a:srgbClr val="537046"/>
          </a:solidFill>
          <a:ln w="0">
            <a:noFill/>
          </a:ln>
        </p:spPr>
        <p:txBody>
          <a:bodyPr/>
          <a:lstStyle/>
          <a:p>
            <a:endParaRPr lang="en-US"/>
          </a:p>
        </p:txBody>
      </p:sp>
      <p:sp>
        <p:nvSpPr>
          <p:cNvPr id="63" name="text-136">
            <a:extLst>
              <a:ext uri="{FF2B5EF4-FFF2-40B4-BE49-F238E27FC236}">
                <a16:creationId xmlns:a16="http://schemas.microsoft.com/office/drawing/2014/main" id="{E3A61723-6FA3-4563-AAD7-D24619859776}"/>
              </a:ext>
            </a:extLst>
          </p:cNvPr>
          <p:cNvSpPr>
            <a:spLocks noGrp="1"/>
          </p:cNvSpPr>
          <p:nvPr/>
        </p:nvSpPr>
        <p:spPr>
          <a:xfrm>
            <a:off x="6191250" y="5943600"/>
            <a:ext cx="1600200" cy="266700"/>
          </a:xfrm>
          <a:prstGeom prst="rect">
            <a:avLst/>
          </a:prstGeom>
          <a:solidFill>
            <a:srgbClr val="FFFFFF"/>
          </a:solidFill>
          <a:ln w="0">
            <a:noFill/>
          </a:ln>
        </p:spPr>
        <p:txBody>
          <a:bodyPr wrap="none" lIns="0" tIns="0" rIns="0" bIns="0" anchor="ctr">
            <a:noAutofit/>
          </a:bodyPr>
          <a:lstStyle/>
          <a:p>
            <a:pPr algn="ctr">
              <a:defRPr sz="1463" b="0">
                <a:solidFill>
                  <a:srgbClr val="537046"/>
                </a:solidFill>
                <a:latin typeface="Nimbus Sans"/>
                <a:ea typeface="Nimbus Sans"/>
                <a:cs typeface="Nimbus Sans"/>
              </a:defRPr>
            </a:pPr>
            <a:r>
              <a:rPr sz="1463" b="0">
                <a:solidFill>
                  <a:srgbClr val="537046"/>
                </a:solidFill>
                <a:latin typeface="Nimbus Sans"/>
                <a:ea typeface="Nimbus Sans"/>
                <a:cs typeface="Nimbus Sans"/>
              </a:rPr>
              <a:t>Add, revise or merge</a:t>
            </a:r>
          </a:p>
        </p:txBody>
      </p:sp>
      <p:cxnSp>
        <p:nvCxnSpPr>
          <p:cNvPr id="68" name="Elbow Connector 67">
            <a:extLst>
              <a:ext uri="{FF2B5EF4-FFF2-40B4-BE49-F238E27FC236}">
                <a16:creationId xmlns:a16="http://schemas.microsoft.com/office/drawing/2014/main" id="{D06F189A-B085-B09A-BBBE-E5D587C5B6D8}"/>
              </a:ext>
            </a:extLst>
          </p:cNvPr>
          <p:cNvCxnSpPr>
            <a:stCxn id="8" idx="3"/>
            <a:endCxn id="12" idx="1"/>
          </p:cNvCxnSpPr>
          <p:nvPr/>
        </p:nvCxnSpPr>
        <p:spPr>
          <a:xfrm flipV="1">
            <a:off x="3429000" y="2600325"/>
            <a:ext cx="457200" cy="1881188"/>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70" name="Straight Arrow Connector 69">
            <a:extLst>
              <a:ext uri="{FF2B5EF4-FFF2-40B4-BE49-F238E27FC236}">
                <a16:creationId xmlns:a16="http://schemas.microsoft.com/office/drawing/2014/main" id="{709D68ED-EBEA-C259-765D-13F19598A83A}"/>
              </a:ext>
            </a:extLst>
          </p:cNvPr>
          <p:cNvCxnSpPr>
            <a:cxnSpLocks/>
          </p:cNvCxnSpPr>
          <p:nvPr/>
        </p:nvCxnSpPr>
        <p:spPr>
          <a:xfrm>
            <a:off x="3436767" y="2434004"/>
            <a:ext cx="3810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3" name="Straight Arrow Connector 72">
            <a:extLst>
              <a:ext uri="{FF2B5EF4-FFF2-40B4-BE49-F238E27FC236}">
                <a16:creationId xmlns:a16="http://schemas.microsoft.com/office/drawing/2014/main" id="{CF5EF94E-3BB4-9A92-87E6-C6332318C12B}"/>
              </a:ext>
            </a:extLst>
          </p:cNvPr>
          <p:cNvCxnSpPr>
            <a:stCxn id="12" idx="3"/>
          </p:cNvCxnSpPr>
          <p:nvPr/>
        </p:nvCxnSpPr>
        <p:spPr>
          <a:xfrm>
            <a:off x="7077075" y="2600325"/>
            <a:ext cx="116205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09435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191008D-4BF3-43EB-B60C-5F23E8F5965B}"/>
              </a:ext>
            </a:extLst>
          </p:cNvPr>
          <p:cNvSpPr>
            <a:spLocks noGrp="1"/>
          </p:cNvSpPr>
          <p:nvPr/>
        </p:nvSpPr>
        <p:spPr>
          <a:xfrm>
            <a:off x="457200" y="400050"/>
            <a:ext cx="14325600" cy="838200"/>
          </a:xfrm>
          <a:prstGeom prst="rect">
            <a:avLst/>
          </a:prstGeom>
          <a:noFill/>
          <a:ln w="0">
            <a:noFill/>
          </a:ln>
        </p:spPr>
        <p:txBody>
          <a:bodyPr wrap="square" lIns="0" tIns="0" rIns="0" bIns="0" anchor="t">
            <a:noAutofit/>
          </a:bodyPr>
          <a:lstStyle/>
          <a:p>
            <a:pPr>
              <a:defRPr sz="4200" b="1">
                <a:solidFill>
                  <a:srgbClr val="2E5EAA"/>
                </a:solidFill>
                <a:latin typeface="Helvetica Neue"/>
                <a:ea typeface="Helvetica Neue"/>
                <a:cs typeface="Helvetica Neue"/>
              </a:defRPr>
            </a:pPr>
            <a:r>
              <a:rPr sz="4200" b="1" dirty="0">
                <a:solidFill>
                  <a:srgbClr val="2E5EAA"/>
                </a:solidFill>
                <a:latin typeface="Helvetica Neue"/>
                <a:ea typeface="Helvetica Neue"/>
                <a:cs typeface="Helvetica Neue"/>
              </a:rPr>
              <a:t>Challenges for agentic outage analysis</a:t>
            </a:r>
            <a:r>
              <a:rPr lang="en-US" sz="4200" b="1" dirty="0">
                <a:solidFill>
                  <a:srgbClr val="2E5EAA"/>
                </a:solidFill>
                <a:latin typeface="Helvetica Neue"/>
                <a:ea typeface="Helvetica Neue"/>
                <a:cs typeface="Helvetica Neue"/>
              </a:rPr>
              <a:t> system design</a:t>
            </a:r>
            <a:endParaRPr sz="4200" b="1" dirty="0">
              <a:solidFill>
                <a:srgbClr val="2E5EAA"/>
              </a:solidFill>
              <a:latin typeface="Helvetica Neue"/>
              <a:ea typeface="Helvetica Neue"/>
              <a:cs typeface="Helvetica Neue"/>
            </a:endParaRPr>
          </a:p>
        </p:txBody>
      </p:sp>
      <p:graphicFrame>
        <p:nvGraphicFramePr>
          <p:cNvPr id="5" name="Table 4"/>
          <p:cNvGraphicFramePr/>
          <p:nvPr>
            <p:extLst>
              <p:ext uri="{D42A27DB-BD31-4B8C-83A1-F6EECF244321}">
                <p14:modId xmlns:p14="http://schemas.microsoft.com/office/powerpoint/2010/main" val="3632512679"/>
              </p:ext>
            </p:extLst>
          </p:nvPr>
        </p:nvGraphicFramePr>
        <p:xfrm>
          <a:off x="457200" y="1628775"/>
          <a:ext cx="14325600" cy="6065520"/>
        </p:xfrm>
        <a:graphic>
          <a:graphicData uri="http://schemas.openxmlformats.org/drawingml/2006/table">
            <a:tbl>
              <a:tblPr/>
              <a:tblGrid>
                <a:gridCol w="3352800">
                  <a:extLst>
                    <a:ext uri="{9D8B030D-6E8A-4147-A177-3AD203B41FA5}">
                      <a16:colId xmlns:a16="http://schemas.microsoft.com/office/drawing/2014/main" val="20000"/>
                    </a:ext>
                  </a:extLst>
                </a:gridCol>
                <a:gridCol w="5410200">
                  <a:extLst>
                    <a:ext uri="{9D8B030D-6E8A-4147-A177-3AD203B41FA5}">
                      <a16:colId xmlns:a16="http://schemas.microsoft.com/office/drawing/2014/main" val="20001"/>
                    </a:ext>
                  </a:extLst>
                </a:gridCol>
                <a:gridCol w="5562600">
                  <a:extLst>
                    <a:ext uri="{9D8B030D-6E8A-4147-A177-3AD203B41FA5}">
                      <a16:colId xmlns:a16="http://schemas.microsoft.com/office/drawing/2014/main" val="20002"/>
                    </a:ext>
                  </a:extLst>
                </a:gridCol>
              </a:tblGrid>
              <a:tr h="590550">
                <a:tc>
                  <a:txBody>
                    <a:bodyPr/>
                    <a:lstStyle/>
                    <a:p>
                      <a:r>
                        <a:rPr sz="2175" b="1">
                          <a:solidFill>
                            <a:srgbClr val="2E5EAA"/>
                          </a:solidFill>
                          <a:latin typeface="Helvetica Neue"/>
                          <a:ea typeface="Helvetica Neue"/>
                          <a:cs typeface="Helvetica Neue"/>
                        </a:rPr>
                        <a:t>Challenge</a:t>
                      </a:r>
                    </a:p>
                  </a:txBody>
                  <a:tcPr marL="171450" marR="171450" marT="152400" marB="152400" anchor="ctr">
                    <a:solidFill>
                      <a:srgbClr val="EDF2FA"/>
                    </a:solidFill>
                  </a:tcPr>
                </a:tc>
                <a:tc>
                  <a:txBody>
                    <a:bodyPr/>
                    <a:lstStyle/>
                    <a:p>
                      <a:r>
                        <a:rPr sz="2175" b="1">
                          <a:solidFill>
                            <a:srgbClr val="2E5EAA"/>
                          </a:solidFill>
                          <a:latin typeface="Helvetica Neue"/>
                          <a:ea typeface="Helvetica Neue"/>
                          <a:cs typeface="Helvetica Neue"/>
                        </a:rPr>
                        <a:t>Design question</a:t>
                      </a:r>
                    </a:p>
                  </a:txBody>
                  <a:tcPr marL="171450" marR="171450" marT="152400" marB="152400" anchor="ctr">
                    <a:solidFill>
                      <a:srgbClr val="EDF2FA"/>
                    </a:solidFill>
                  </a:tcPr>
                </a:tc>
                <a:tc>
                  <a:txBody>
                    <a:bodyPr/>
                    <a:lstStyle/>
                    <a:p>
                      <a:r>
                        <a:rPr sz="2175" b="1">
                          <a:solidFill>
                            <a:srgbClr val="2E5EAA"/>
                          </a:solidFill>
                          <a:latin typeface="Helvetica Neue"/>
                          <a:ea typeface="Helvetica Neue"/>
                          <a:cs typeface="Helvetica Neue"/>
                        </a:rPr>
                        <a:t>Candidate approaches</a:t>
                      </a:r>
                    </a:p>
                  </a:txBody>
                  <a:tcPr marL="171450" marR="171450" marT="152400" marB="152400" anchor="ctr">
                    <a:solidFill>
                      <a:srgbClr val="EDF2FA"/>
                    </a:solidFill>
                  </a:tcPr>
                </a:tc>
                <a:extLst>
                  <a:ext uri="{0D108BD9-81ED-4DB2-BD59-A6C34878D82A}">
                    <a16:rowId xmlns:a16="http://schemas.microsoft.com/office/drawing/2014/main" val="10000"/>
                  </a:ext>
                </a:extLst>
              </a:tr>
              <a:tr h="1085850">
                <a:tc>
                  <a:txBody>
                    <a:bodyPr/>
                    <a:lstStyle/>
                    <a:p>
                      <a:r>
                        <a:rPr sz="2100" b="1">
                          <a:solidFill>
                            <a:srgbClr val="151515"/>
                          </a:solidFill>
                          <a:latin typeface="Helvetica Neue"/>
                          <a:ea typeface="Helvetica Neue"/>
                          <a:cs typeface="Helvetica Neue"/>
                        </a:rPr>
                        <a:t>1  Adaptive action selection</a:t>
                      </a:r>
                    </a:p>
                  </a:txBody>
                  <a:tcPr marL="171450" marR="171450" marT="152400" marB="152400" anchor="ctr">
                    <a:solidFill>
                      <a:srgbClr val="FFFFFF"/>
                    </a:solidFill>
                  </a:tcPr>
                </a:tc>
                <a:tc>
                  <a:txBody>
                    <a:bodyPr/>
                    <a:lstStyle/>
                    <a:p>
                      <a:r>
                        <a:rPr sz="2100" b="0" dirty="0">
                          <a:solidFill>
                            <a:srgbClr val="151515"/>
                          </a:solidFill>
                          <a:latin typeface="Helvetica Neue"/>
                          <a:ea typeface="Helvetica Neue"/>
                          <a:cs typeface="Helvetica Neue"/>
                        </a:rPr>
                        <a:t>How does the agent choose </a:t>
                      </a:r>
                      <a:r>
                        <a:rPr lang="en-US" sz="2100" b="0" dirty="0">
                          <a:solidFill>
                            <a:srgbClr val="151515"/>
                          </a:solidFill>
                          <a:latin typeface="Helvetica Neue"/>
                          <a:ea typeface="Helvetica Neue"/>
                          <a:cs typeface="Helvetica Neue"/>
                        </a:rPr>
                        <a:t>best</a:t>
                      </a:r>
                      <a:r>
                        <a:rPr lang="zh-CN" altLang="en-US" sz="2100" b="0" dirty="0">
                          <a:solidFill>
                            <a:srgbClr val="151515"/>
                          </a:solidFill>
                          <a:latin typeface="Helvetica Neue"/>
                          <a:ea typeface="Helvetica Neue"/>
                          <a:cs typeface="Helvetica Neue"/>
                        </a:rPr>
                        <a:t> </a:t>
                      </a:r>
                      <a:r>
                        <a:rPr lang="en-US" sz="2100" b="0" dirty="0">
                          <a:solidFill>
                            <a:srgbClr val="151515"/>
                          </a:solidFill>
                          <a:latin typeface="Helvetica Neue"/>
                          <a:ea typeface="Helvetica Neue"/>
                          <a:cs typeface="Helvetica Neue"/>
                        </a:rPr>
                        <a:t>action</a:t>
                      </a:r>
                      <a:r>
                        <a:rPr sz="2100" b="0" dirty="0">
                          <a:solidFill>
                            <a:srgbClr val="151515"/>
                          </a:solidFill>
                          <a:latin typeface="Helvetica Neue"/>
                          <a:ea typeface="Helvetica Neue"/>
                          <a:cs typeface="Helvetica Neue"/>
                        </a:rPr>
                        <a:t> from partial evidence?</a:t>
                      </a:r>
                    </a:p>
                  </a:txBody>
                  <a:tcPr marL="171450" marR="171450" marT="152400" marB="152400" anchor="ctr">
                    <a:solidFill>
                      <a:srgbClr val="FFFFFF"/>
                    </a:solidFill>
                  </a:tcPr>
                </a:tc>
                <a:tc>
                  <a:txBody>
                    <a:bodyPr/>
                    <a:lstStyle/>
                    <a:p>
                      <a:r>
                        <a:rPr sz="2100" b="0" dirty="0">
                          <a:solidFill>
                            <a:srgbClr val="151515"/>
                          </a:solidFill>
                          <a:latin typeface="Helvetica Neue"/>
                          <a:ea typeface="Helvetica Neue"/>
                          <a:cs typeface="Helvetica Neue"/>
                        </a:rPr>
                        <a:t>Context engineering and action interface design</a:t>
                      </a:r>
                      <a:r>
                        <a:rPr lang="zh-CN" altLang="en-US" sz="2100" b="0" dirty="0">
                          <a:solidFill>
                            <a:srgbClr val="151515"/>
                          </a:solidFill>
                          <a:latin typeface="Helvetica Neue"/>
                          <a:ea typeface="Helvetica Neue"/>
                          <a:cs typeface="Helvetica Neue"/>
                        </a:rPr>
                        <a:t> </a:t>
                      </a:r>
                      <a:r>
                        <a:rPr lang="en-US" altLang="zh-CN" sz="2100" b="0" dirty="0">
                          <a:solidFill>
                            <a:srgbClr val="151515"/>
                          </a:solidFill>
                          <a:latin typeface="Helvetica Neue"/>
                          <a:ea typeface="Helvetica Neue"/>
                          <a:cs typeface="Helvetica Neue"/>
                        </a:rPr>
                        <a:t>(MCP server/ tool library design)</a:t>
                      </a:r>
                      <a:endParaRPr sz="2100" b="0" dirty="0">
                        <a:solidFill>
                          <a:srgbClr val="151515"/>
                        </a:solidFill>
                        <a:latin typeface="Helvetica Neue"/>
                        <a:ea typeface="Helvetica Neue"/>
                        <a:cs typeface="Helvetica Neue"/>
                      </a:endParaRPr>
                    </a:p>
                  </a:txBody>
                  <a:tcPr marL="171450" marR="171450" marT="152400" marB="152400" anchor="ctr">
                    <a:solidFill>
                      <a:srgbClr val="FFFFFF"/>
                    </a:solidFill>
                  </a:tcPr>
                </a:tc>
                <a:extLst>
                  <a:ext uri="{0D108BD9-81ED-4DB2-BD59-A6C34878D82A}">
                    <a16:rowId xmlns:a16="http://schemas.microsoft.com/office/drawing/2014/main" val="10001"/>
                  </a:ext>
                </a:extLst>
              </a:tr>
              <a:tr h="1085850">
                <a:tc>
                  <a:txBody>
                    <a:bodyPr/>
                    <a:lstStyle/>
                    <a:p>
                      <a:r>
                        <a:rPr sz="2100" b="1">
                          <a:solidFill>
                            <a:srgbClr val="151515"/>
                          </a:solidFill>
                          <a:latin typeface="Helvetica Neue"/>
                          <a:ea typeface="Helvetica Neue"/>
                          <a:cs typeface="Helvetica Neue"/>
                        </a:rPr>
                        <a:t>2  Investigation stopping</a:t>
                      </a:r>
                    </a:p>
                  </a:txBody>
                  <a:tcPr marL="171450" marR="171450" marT="152400" marB="152400" anchor="ctr">
                    <a:solidFill>
                      <a:srgbClr val="FFFFFF"/>
                    </a:solidFill>
                  </a:tcPr>
                </a:tc>
                <a:tc>
                  <a:txBody>
                    <a:bodyPr/>
                    <a:lstStyle/>
                    <a:p>
                      <a:r>
                        <a:rPr sz="2100" b="0">
                          <a:solidFill>
                            <a:srgbClr val="151515"/>
                          </a:solidFill>
                          <a:latin typeface="Helvetica Neue"/>
                          <a:ea typeface="Helvetica Neue"/>
                          <a:cs typeface="Helvetica Neue"/>
                        </a:rPr>
                        <a:t>When can the system accept a request to end investigation?</a:t>
                      </a:r>
                    </a:p>
                  </a:txBody>
                  <a:tcPr marL="171450" marR="171450" marT="152400" marB="152400" anchor="ctr">
                    <a:solidFill>
                      <a:srgbClr val="FFFFFF"/>
                    </a:solidFill>
                  </a:tcPr>
                </a:tc>
                <a:tc>
                  <a:txBody>
                    <a:bodyPr/>
                    <a:lstStyle/>
                    <a:p>
                      <a:r>
                        <a:rPr sz="2100" b="0" dirty="0">
                          <a:solidFill>
                            <a:srgbClr val="151515"/>
                          </a:solidFill>
                          <a:latin typeface="Helvetica Neue"/>
                          <a:ea typeface="Helvetica Neue"/>
                          <a:cs typeface="Helvetica Neue"/>
                        </a:rPr>
                        <a:t>Completion checks and independent validation sampling</a:t>
                      </a:r>
                      <a:r>
                        <a:rPr lang="en-US" sz="2100" b="0" dirty="0">
                          <a:solidFill>
                            <a:srgbClr val="151515"/>
                          </a:solidFill>
                          <a:latin typeface="Helvetica Neue"/>
                          <a:ea typeface="Helvetica Neue"/>
                          <a:cs typeface="Helvetica Neue"/>
                        </a:rPr>
                        <a:t> ()</a:t>
                      </a:r>
                      <a:endParaRPr sz="2100" b="0" dirty="0">
                        <a:solidFill>
                          <a:srgbClr val="151515"/>
                        </a:solidFill>
                        <a:latin typeface="Helvetica Neue"/>
                        <a:ea typeface="Helvetica Neue"/>
                        <a:cs typeface="Helvetica Neue"/>
                      </a:endParaRPr>
                    </a:p>
                  </a:txBody>
                  <a:tcPr marL="171450" marR="171450" marT="152400" marB="152400" anchor="ctr">
                    <a:solidFill>
                      <a:srgbClr val="FFFFFF"/>
                    </a:solidFill>
                  </a:tcPr>
                </a:tc>
                <a:extLst>
                  <a:ext uri="{0D108BD9-81ED-4DB2-BD59-A6C34878D82A}">
                    <a16:rowId xmlns:a16="http://schemas.microsoft.com/office/drawing/2014/main" val="10002"/>
                  </a:ext>
                </a:extLst>
              </a:tr>
              <a:tr h="1085850">
                <a:tc>
                  <a:txBody>
                    <a:bodyPr/>
                    <a:lstStyle/>
                    <a:p>
                      <a:r>
                        <a:rPr sz="2100" b="1">
                          <a:solidFill>
                            <a:srgbClr val="151515"/>
                          </a:solidFill>
                          <a:latin typeface="Helvetica Neue"/>
                          <a:ea typeface="Helvetica Neue"/>
                          <a:cs typeface="Helvetica Neue"/>
                        </a:rPr>
                        <a:t>3  Decision error detection</a:t>
                      </a:r>
                    </a:p>
                  </a:txBody>
                  <a:tcPr marL="171450" marR="171450" marT="152400" marB="152400" anchor="ctr">
                    <a:solidFill>
                      <a:srgbClr val="FFFFFF"/>
                    </a:solidFill>
                  </a:tcPr>
                </a:tc>
                <a:tc>
                  <a:txBody>
                    <a:bodyPr/>
                    <a:lstStyle/>
                    <a:p>
                      <a:r>
                        <a:rPr sz="2100" b="0">
                          <a:solidFill>
                            <a:srgbClr val="151515"/>
                          </a:solidFill>
                          <a:latin typeface="Helvetica Neue"/>
                          <a:ea typeface="Helvetica Neue"/>
                          <a:cs typeface="Helvetica Neue"/>
                        </a:rPr>
                        <a:t>How can the system detect incorrect investigation judgments?</a:t>
                      </a:r>
                    </a:p>
                  </a:txBody>
                  <a:tcPr marL="171450" marR="171450" marT="152400" marB="152400" anchor="ctr">
                    <a:solidFill>
                      <a:srgbClr val="FFFFFF"/>
                    </a:solidFill>
                  </a:tcPr>
                </a:tc>
                <a:tc>
                  <a:txBody>
                    <a:bodyPr/>
                    <a:lstStyle/>
                    <a:p>
                      <a:r>
                        <a:rPr sz="2100" b="0">
                          <a:solidFill>
                            <a:srgbClr val="151515"/>
                          </a:solidFill>
                          <a:latin typeface="Helvetica Neue"/>
                          <a:ea typeface="Helvetica Neue"/>
                          <a:cs typeface="Helvetica Neue"/>
                        </a:rPr>
                        <a:t>Targeted verification queries and expert feedback</a:t>
                      </a:r>
                    </a:p>
                  </a:txBody>
                  <a:tcPr marL="171450" marR="171450" marT="152400" marB="152400" anchor="ctr">
                    <a:solidFill>
                      <a:srgbClr val="FFFFFF"/>
                    </a:solidFill>
                  </a:tcPr>
                </a:tc>
                <a:extLst>
                  <a:ext uri="{0D108BD9-81ED-4DB2-BD59-A6C34878D82A}">
                    <a16:rowId xmlns:a16="http://schemas.microsoft.com/office/drawing/2014/main" val="10003"/>
                  </a:ext>
                </a:extLst>
              </a:tr>
              <a:tr h="1085850">
                <a:tc>
                  <a:txBody>
                    <a:bodyPr/>
                    <a:lstStyle/>
                    <a:p>
                      <a:r>
                        <a:rPr sz="2100" b="1">
                          <a:solidFill>
                            <a:srgbClr val="151515"/>
                          </a:solidFill>
                          <a:latin typeface="Helvetica Neue"/>
                          <a:ea typeface="Helvetica Neue"/>
                          <a:cs typeface="Helvetica Neue"/>
                        </a:rPr>
                        <a:t>4  Correction and recovery</a:t>
                      </a:r>
                    </a:p>
                  </a:txBody>
                  <a:tcPr marL="171450" marR="171450" marT="152400" marB="152400" anchor="ctr">
                    <a:solidFill>
                      <a:srgbClr val="FFFFFF"/>
                    </a:solidFill>
                  </a:tcPr>
                </a:tc>
                <a:tc>
                  <a:txBody>
                    <a:bodyPr/>
                    <a:lstStyle/>
                    <a:p>
                      <a:r>
                        <a:rPr sz="2100" b="0">
                          <a:solidFill>
                            <a:srgbClr val="151515"/>
                          </a:solidFill>
                          <a:latin typeface="Helvetica Neue"/>
                          <a:ea typeface="Helvetica Neue"/>
                          <a:cs typeface="Helvetica Neue"/>
                        </a:rPr>
                        <a:t>How can the system correct a decision and resume execution?</a:t>
                      </a:r>
                    </a:p>
                  </a:txBody>
                  <a:tcPr marL="171450" marR="171450" marT="152400" marB="152400" anchor="ctr">
                    <a:solidFill>
                      <a:srgbClr val="FFFFFF"/>
                    </a:solidFill>
                  </a:tcPr>
                </a:tc>
                <a:tc>
                  <a:txBody>
                    <a:bodyPr/>
                    <a:lstStyle/>
                    <a:p>
                      <a:r>
                        <a:rPr sz="2100" b="0">
                          <a:solidFill>
                            <a:srgbClr val="151515"/>
                          </a:solidFill>
                          <a:latin typeface="Helvetica Neue"/>
                          <a:ea typeface="Helvetica Neue"/>
                          <a:cs typeface="Helvetica Neue"/>
                        </a:rPr>
                        <a:t>State correction, checkpointing and selective re-execution</a:t>
                      </a:r>
                    </a:p>
                  </a:txBody>
                  <a:tcPr marL="171450" marR="171450" marT="152400" marB="152400" anchor="ctr">
                    <a:solidFill>
                      <a:srgbClr val="FFFFFF"/>
                    </a:solidFill>
                  </a:tcPr>
                </a:tc>
                <a:extLst>
                  <a:ext uri="{0D108BD9-81ED-4DB2-BD59-A6C34878D82A}">
                    <a16:rowId xmlns:a16="http://schemas.microsoft.com/office/drawing/2014/main" val="10004"/>
                  </a:ext>
                </a:extLst>
              </a:tr>
              <a:tr h="1085850">
                <a:tc>
                  <a:txBody>
                    <a:bodyPr/>
                    <a:lstStyle/>
                    <a:p>
                      <a:r>
                        <a:rPr sz="2100" b="1">
                          <a:solidFill>
                            <a:srgbClr val="151515"/>
                          </a:solidFill>
                          <a:latin typeface="Helvetica Neue"/>
                          <a:ea typeface="Helvetica Neue"/>
                          <a:cs typeface="Helvetica Neue"/>
                        </a:rPr>
                        <a:t>5  Experience across cases</a:t>
                      </a:r>
                    </a:p>
                  </a:txBody>
                  <a:tcPr marL="171450" marR="171450" marT="152400" marB="152400" anchor="ctr">
                    <a:solidFill>
                      <a:srgbClr val="FFFFFF"/>
                    </a:solidFill>
                  </a:tcPr>
                </a:tc>
                <a:tc>
                  <a:txBody>
                    <a:bodyPr/>
                    <a:lstStyle/>
                    <a:p>
                      <a:r>
                        <a:rPr sz="2100" b="0">
                          <a:solidFill>
                            <a:srgbClr val="151515"/>
                          </a:solidFill>
                          <a:latin typeface="Helvetica Neue"/>
                          <a:ea typeface="Helvetica Neue"/>
                          <a:cs typeface="Helvetica Neue"/>
                        </a:rPr>
                        <a:t>How can verified experience improve future investigations?</a:t>
                      </a:r>
                    </a:p>
                  </a:txBody>
                  <a:tcPr marL="171450" marR="171450" marT="152400" marB="152400" anchor="ctr">
                    <a:solidFill>
                      <a:srgbClr val="FFFFFF"/>
                    </a:solidFill>
                  </a:tcPr>
                </a:tc>
                <a:tc>
                  <a:txBody>
                    <a:bodyPr/>
                    <a:lstStyle/>
                    <a:p>
                      <a:r>
                        <a:rPr sz="2100" b="0" dirty="0">
                          <a:solidFill>
                            <a:srgbClr val="151515"/>
                          </a:solidFill>
                          <a:latin typeface="Helvetica Neue"/>
                          <a:ea typeface="Helvetica Neue"/>
                          <a:cs typeface="Helvetica Neue"/>
                        </a:rPr>
                        <a:t>Case retrieval, in-context learning and validated skill updates</a:t>
                      </a:r>
                    </a:p>
                  </a:txBody>
                  <a:tcPr marL="171450" marR="171450" marT="152400" marB="152400" anchor="ctr">
                    <a:solidFill>
                      <a:srgbClr val="FFFFFF"/>
                    </a:solidFill>
                  </a:tcPr>
                </a:tc>
                <a:extLst>
                  <a:ext uri="{0D108BD9-81ED-4DB2-BD59-A6C34878D82A}">
                    <a16:rowId xmlns:a16="http://schemas.microsoft.com/office/drawing/2014/main" val="10005"/>
                  </a:ext>
                </a:extLst>
              </a:tr>
            </a:tbl>
          </a:graphicData>
        </a:graphic>
      </p:graphicFrame>
      <p:sp>
        <p:nvSpPr>
          <p:cNvPr id="3" name="Rectangle 2">
            <a:extLst>
              <a:ext uri="{FF2B5EF4-FFF2-40B4-BE49-F238E27FC236}">
                <a16:creationId xmlns:a16="http://schemas.microsoft.com/office/drawing/2014/main" id="{BB7D96C0-0264-4DB6-996E-604C3A179BE4}"/>
              </a:ext>
            </a:extLst>
          </p:cNvPr>
          <p:cNvSpPr>
            <a:spLocks noGrp="1"/>
          </p:cNvSpPr>
          <p:nvPr/>
        </p:nvSpPr>
        <p:spPr>
          <a:xfrm>
            <a:off x="457200" y="7972425"/>
            <a:ext cx="14325600" cy="361950"/>
          </a:xfrm>
          <a:prstGeom prst="rect">
            <a:avLst/>
          </a:prstGeom>
          <a:noFill/>
          <a:ln w="0">
            <a:noFill/>
          </a:ln>
        </p:spPr>
        <p:txBody>
          <a:bodyPr wrap="square" lIns="0" tIns="0" rIns="0" bIns="0" anchor="t">
            <a:noAutofit/>
          </a:bodyPr>
          <a:lstStyle/>
          <a:p>
            <a:pPr>
              <a:defRPr sz="1725" b="0">
                <a:solidFill>
                  <a:srgbClr val="555555"/>
                </a:solidFill>
                <a:latin typeface="Helvetica Neue"/>
                <a:ea typeface="Helvetica Neue"/>
                <a:cs typeface="Helvetica Neue"/>
              </a:defRPr>
            </a:pPr>
            <a:r>
              <a:rPr sz="1725" b="0">
                <a:solidFill>
                  <a:srgbClr val="555555"/>
                </a:solidFill>
                <a:latin typeface="Helvetica Neue"/>
                <a:ea typeface="Helvetica Neue"/>
                <a:cs typeface="Helvetica Neue"/>
              </a:rPr>
              <a:t>Candidate approaches for discussion. Initial PoC scope to be confirmed.</a:t>
            </a:r>
          </a:p>
        </p:txBody>
      </p:sp>
    </p:spTree>
    <p:extLst>
      <p:ext uri="{BB962C8B-B14F-4D97-AF65-F5344CB8AC3E}">
        <p14:creationId xmlns:p14="http://schemas.microsoft.com/office/powerpoint/2010/main" val="418552692"/>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2393</TotalTime>
  <Words>1167</Words>
  <Application>Microsoft Macintosh PowerPoint</Application>
  <DocSecurity>0</DocSecurity>
  <PresentationFormat>Custom</PresentationFormat>
  <Paragraphs>192</Paragraphs>
  <Slides>6</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DejaVu Sans</vt:lpstr>
      <vt:lpstr>Nimbus Sans</vt:lpstr>
      <vt:lpstr>Calibri</vt:lpstr>
      <vt:lpstr>Cambria</vt:lpstr>
      <vt:lpstr>Helvetica Neue</vt:lpstr>
      <vt:lpstr>ChatGPT</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Zheng, Xinyue</cp:lastModifiedBy>
  <cp:revision>5</cp:revision>
  <dcterms:created xsi:type="dcterms:W3CDTF">2026-09-21T08:10:15Z</dcterms:created>
  <dcterms:modified xsi:type="dcterms:W3CDTF">2026-09-23T08:08:08Z</dcterms:modified>
</cp:coreProperties>
</file>