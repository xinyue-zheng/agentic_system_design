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1" r:id="rId2"/>
    <p:sldId id="262" r:id="rId3"/>
    <p:sldId id="263" r:id="rId4"/>
    <p:sldId id="264" r:id="rId5"/>
    <p:sldId id="265" r:id="rId6"/>
    <p:sldId id="266" r:id="rId7"/>
    <p:sldId id="256" r:id="rId8"/>
    <p:sldId id="257" r:id="rId9"/>
    <p:sldId id="258" r:id="rId10"/>
    <p:sldId id="259"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p:restoredTop sz="94676"/>
  </p:normalViewPr>
  <p:slideViewPr>
    <p:cSldViewPr snapToGrid="0">
      <p:cViewPr varScale="1">
        <p:scale>
          <a:sx n="114" d="100"/>
          <a:sy n="114" d="100"/>
        </p:scale>
        <p:origin x="6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7C3FA2-729C-F94E-B2DA-D517934F1E18}" type="datetimeFigureOut">
              <a:rPr lang="en-US" smtClean="0"/>
              <a:t>7/28/26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855EA-9DD7-394B-B502-521122DB418F}" type="slidenum">
              <a:rPr lang="en-US" smtClean="0"/>
              <a:t>‹#›</a:t>
            </a:fld>
            <a:endParaRPr lang="en-US"/>
          </a:p>
        </p:txBody>
      </p:sp>
    </p:spTree>
    <p:extLst>
      <p:ext uri="{BB962C8B-B14F-4D97-AF65-F5344CB8AC3E}">
        <p14:creationId xmlns:p14="http://schemas.microsoft.com/office/powerpoint/2010/main" val="1121983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Alarm,</a:t>
            </a:r>
            <a:r>
              <a:rPr lang="zh-CN" altLang="en-US" dirty="0"/>
              <a:t> </a:t>
            </a:r>
            <a:r>
              <a:rPr lang="en-US" altLang="zh-CN" dirty="0"/>
              <a:t>dispatch,</a:t>
            </a:r>
            <a:r>
              <a:rPr lang="zh-CN" altLang="en-US" dirty="0"/>
              <a:t> </a:t>
            </a:r>
            <a:r>
              <a:rPr lang="en-US" altLang="zh-CN" dirty="0"/>
              <a:t>root</a:t>
            </a:r>
            <a:r>
              <a:rPr lang="zh-CN" altLang="en-US" dirty="0"/>
              <a:t> </a:t>
            </a:r>
            <a:r>
              <a:rPr lang="en-US" altLang="zh-CN" dirty="0" err="1"/>
              <a:t>caust</a:t>
            </a:r>
            <a:r>
              <a:rPr lang="zh-CN" altLang="en-US"/>
              <a:t> </a:t>
            </a:r>
            <a:endParaRPr lang="en-US"/>
          </a:p>
        </p:txBody>
      </p:sp>
      <p:sp>
        <p:nvSpPr>
          <p:cNvPr id="4" name="Slide Number Placeholder 3"/>
          <p:cNvSpPr>
            <a:spLocks noGrp="1"/>
          </p:cNvSpPr>
          <p:nvPr>
            <p:ph type="sldNum" sz="quarter" idx="5"/>
          </p:nvPr>
        </p:nvSpPr>
        <p:spPr/>
        <p:txBody>
          <a:bodyPr/>
          <a:lstStyle/>
          <a:p>
            <a:fld id="{6D1855EA-9DD7-394B-B502-521122DB418F}" type="slidenum">
              <a:rPr lang="en-US" smtClean="0"/>
              <a:t>3</a:t>
            </a:fld>
            <a:endParaRPr lang="en-US"/>
          </a:p>
        </p:txBody>
      </p:sp>
    </p:spTree>
    <p:extLst>
      <p:ext uri="{BB962C8B-B14F-4D97-AF65-F5344CB8AC3E}">
        <p14:creationId xmlns:p14="http://schemas.microsoft.com/office/powerpoint/2010/main" val="1993120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F0448-F3CE-5F3B-93BC-12AA5F8656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825274-417A-546E-8001-C242465337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B230A2-8547-ECDD-400B-F60D60795A3F}"/>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5" name="Footer Placeholder 4">
            <a:extLst>
              <a:ext uri="{FF2B5EF4-FFF2-40B4-BE49-F238E27FC236}">
                <a16:creationId xmlns:a16="http://schemas.microsoft.com/office/drawing/2014/main" id="{10CF8366-26B1-A228-F62D-73F2EDC6C6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DE240-CE66-28A8-D1D1-ECDD6B5D42A6}"/>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504846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60E3-9742-0A24-E163-69D9D73C2E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6C6804-8772-D328-92A9-ED8D9A0F78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BEE52-4C79-D4CA-E6CD-5C971373648F}"/>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5" name="Footer Placeholder 4">
            <a:extLst>
              <a:ext uri="{FF2B5EF4-FFF2-40B4-BE49-F238E27FC236}">
                <a16:creationId xmlns:a16="http://schemas.microsoft.com/office/drawing/2014/main" id="{999B2203-FF24-A14F-F46E-98DDC0C38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3A7D5-D194-E590-8B51-6967E16571F5}"/>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3039490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B558-F2EC-6E21-9CF8-C7EC018B5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38B3EF-6DDA-4449-DF4D-BDA396C54E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DA9F3E-36B3-54EE-9066-A5B3E89D208F}"/>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5" name="Footer Placeholder 4">
            <a:extLst>
              <a:ext uri="{FF2B5EF4-FFF2-40B4-BE49-F238E27FC236}">
                <a16:creationId xmlns:a16="http://schemas.microsoft.com/office/drawing/2014/main" id="{E7EDDFFC-0BFF-3906-7D4C-89498E3ADB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E105A1-278F-B05D-76E0-182A8F5F486E}"/>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3548984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57B01-63CF-F4CE-C4C0-DBB693909B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1591ED-2B25-10B3-41F6-17675ABCEC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2D76C8-A8C9-F12A-CD43-63EC97A54B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454724-988C-9167-91B2-AA9E04EA542E}"/>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6" name="Footer Placeholder 5">
            <a:extLst>
              <a:ext uri="{FF2B5EF4-FFF2-40B4-BE49-F238E27FC236}">
                <a16:creationId xmlns:a16="http://schemas.microsoft.com/office/drawing/2014/main" id="{8BECF957-C87B-51F4-E28B-52157DC7E1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15915-C2A0-A4D8-C3A6-05759B3A02E9}"/>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2675484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EB230-D067-DCA9-0AF9-E63A27AC75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6AAD12-815B-C4CE-A480-E9E2243F24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F412A9-6728-6AD3-CF78-5BB971611C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BA7C53-28A1-655C-44DF-16797F867E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20362F-FFAD-3FE1-C956-AA99E00F33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200C9A-B224-2143-5C2B-A9E973B23EB0}"/>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8" name="Footer Placeholder 7">
            <a:extLst>
              <a:ext uri="{FF2B5EF4-FFF2-40B4-BE49-F238E27FC236}">
                <a16:creationId xmlns:a16="http://schemas.microsoft.com/office/drawing/2014/main" id="{3F26D3DB-D248-A3DF-229C-66FB7B8A95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9C063D-9EF7-270E-3D97-F4F2A5349693}"/>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149958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2CEC-15DE-3C26-C620-D13762B7DB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812D65-3C80-3495-4437-8077191BE48E}"/>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4" name="Footer Placeholder 3">
            <a:extLst>
              <a:ext uri="{FF2B5EF4-FFF2-40B4-BE49-F238E27FC236}">
                <a16:creationId xmlns:a16="http://schemas.microsoft.com/office/drawing/2014/main" id="{2D4111ED-666C-A588-24F7-3B9A2A7962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A03D6F-EB68-986D-53A0-2F897ED5EA45}"/>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4103022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6AE18-5E73-8DEB-0479-C347C8BE5FBF}"/>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3" name="Footer Placeholder 2">
            <a:extLst>
              <a:ext uri="{FF2B5EF4-FFF2-40B4-BE49-F238E27FC236}">
                <a16:creationId xmlns:a16="http://schemas.microsoft.com/office/drawing/2014/main" id="{E97F837D-23D3-6115-8789-456E30A0D8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B7D33D-2579-6A5E-A35D-81F4863E1CC6}"/>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744236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C5776-DD7F-4C1D-44F9-AD43EE958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66B0FA-EEEF-35F4-2E8D-64D4E4A49A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A939A2-AB01-B579-24A9-D4F155ECB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5F251C-1C26-229B-2BFD-37516C4C5F53}"/>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6" name="Footer Placeholder 5">
            <a:extLst>
              <a:ext uri="{FF2B5EF4-FFF2-40B4-BE49-F238E27FC236}">
                <a16:creationId xmlns:a16="http://schemas.microsoft.com/office/drawing/2014/main" id="{9E83A9A8-EFC8-BA58-D395-D0A61A4B69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025B85-80E6-0D7D-E180-9FB5167BA7B7}"/>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1653962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F971-7595-FDA4-7BFB-2A5F0D1AB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D89723-3FC9-B288-29A3-362FDF4BF6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0FD5F9-E056-122F-EFEB-F9FD7EB09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6FC461-D48F-6876-61CA-8AC364DC20EB}"/>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6" name="Footer Placeholder 5">
            <a:extLst>
              <a:ext uri="{FF2B5EF4-FFF2-40B4-BE49-F238E27FC236}">
                <a16:creationId xmlns:a16="http://schemas.microsoft.com/office/drawing/2014/main" id="{DCA40F30-3D6D-F43B-6721-CD42FE16E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E6BC9B-2D3B-4B03-8541-1A4497CB4667}"/>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3584869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48E5D-26CC-B9AF-29C9-EDE7843614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C350A8-42A9-A542-560C-6D86975659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484DD4-4779-C616-EC3B-8DA90B74CCAB}"/>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5" name="Footer Placeholder 4">
            <a:extLst>
              <a:ext uri="{FF2B5EF4-FFF2-40B4-BE49-F238E27FC236}">
                <a16:creationId xmlns:a16="http://schemas.microsoft.com/office/drawing/2014/main" id="{0DE02354-78D2-F522-24E9-E9301D8B1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3D10A8-BBC6-11F6-68FF-80844AB2BC17}"/>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355352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10C1C9-3BDC-310F-8050-B9C5AB3C21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2EA0D7-6C0A-782F-CEE1-94BFE4D100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05A70-22DA-B277-0BBE-2161213C6A3E}"/>
              </a:ext>
            </a:extLst>
          </p:cNvPr>
          <p:cNvSpPr>
            <a:spLocks noGrp="1"/>
          </p:cNvSpPr>
          <p:nvPr>
            <p:ph type="dt" sz="half" idx="10"/>
          </p:nvPr>
        </p:nvSpPr>
        <p:spPr/>
        <p:txBody>
          <a:bodyPr/>
          <a:lstStyle/>
          <a:p>
            <a:fld id="{F22BC356-97E9-0B4C-8C39-DD12F8636473}" type="datetimeFigureOut">
              <a:rPr lang="en-US" smtClean="0"/>
              <a:t>7/28/26</a:t>
            </a:fld>
            <a:endParaRPr lang="en-US"/>
          </a:p>
        </p:txBody>
      </p:sp>
      <p:sp>
        <p:nvSpPr>
          <p:cNvPr id="5" name="Footer Placeholder 4">
            <a:extLst>
              <a:ext uri="{FF2B5EF4-FFF2-40B4-BE49-F238E27FC236}">
                <a16:creationId xmlns:a16="http://schemas.microsoft.com/office/drawing/2014/main" id="{9C7EC249-4ABA-B8C4-1D1C-8BDADA636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AE2C7D-8660-3E12-D4F9-2118D9548F7A}"/>
              </a:ext>
            </a:extLst>
          </p:cNvPr>
          <p:cNvSpPr>
            <a:spLocks noGrp="1"/>
          </p:cNvSpPr>
          <p:nvPr>
            <p:ph type="sldNum" sz="quarter" idx="12"/>
          </p:nvPr>
        </p:nvSpPr>
        <p:spPr/>
        <p:txBody>
          <a:bodyPr/>
          <a:lstStyle/>
          <a:p>
            <a:fld id="{21DD349B-9984-7D42-B064-213D4FAC19B3}" type="slidenum">
              <a:rPr lang="en-US" smtClean="0"/>
              <a:t>‹#›</a:t>
            </a:fld>
            <a:endParaRPr lang="en-US"/>
          </a:p>
        </p:txBody>
      </p:sp>
    </p:spTree>
    <p:extLst>
      <p:ext uri="{BB962C8B-B14F-4D97-AF65-F5344CB8AC3E}">
        <p14:creationId xmlns:p14="http://schemas.microsoft.com/office/powerpoint/2010/main" val="2809130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716A7-E95A-9956-624B-E4FA13D2D2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3F4633-BC9E-39EC-EBFE-D87A7CE895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A0BF6E-423D-B8F5-739C-E5E9F82F65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2BC356-97E9-0B4C-8C39-DD12F8636473}" type="datetimeFigureOut">
              <a:rPr lang="en-US" smtClean="0"/>
              <a:t>7/28/26</a:t>
            </a:fld>
            <a:endParaRPr lang="en-US"/>
          </a:p>
        </p:txBody>
      </p:sp>
      <p:sp>
        <p:nvSpPr>
          <p:cNvPr id="5" name="Footer Placeholder 4">
            <a:extLst>
              <a:ext uri="{FF2B5EF4-FFF2-40B4-BE49-F238E27FC236}">
                <a16:creationId xmlns:a16="http://schemas.microsoft.com/office/drawing/2014/main" id="{FEB49CA3-C484-1F7B-BE57-331798951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F2B7D5-03A0-48AD-D094-E5C13878E6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DD349B-9984-7D42-B064-213D4FAC19B3}" type="slidenum">
              <a:rPr lang="en-US" smtClean="0"/>
              <a:t>‹#›</a:t>
            </a:fld>
            <a:endParaRPr lang="en-US"/>
          </a:p>
        </p:txBody>
      </p:sp>
    </p:spTree>
    <p:extLst>
      <p:ext uri="{BB962C8B-B14F-4D97-AF65-F5344CB8AC3E}">
        <p14:creationId xmlns:p14="http://schemas.microsoft.com/office/powerpoint/2010/main" val="3406829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2E5A8-0517-AAFE-0CED-3B0B88B25A61}"/>
              </a:ext>
            </a:extLst>
          </p:cNvPr>
          <p:cNvSpPr>
            <a:spLocks noGrp="1"/>
          </p:cNvSpPr>
          <p:nvPr>
            <p:ph type="ctrTitle"/>
          </p:nvPr>
        </p:nvSpPr>
        <p:spPr/>
        <p:txBody>
          <a:bodyPr/>
          <a:lstStyle/>
          <a:p>
            <a:r>
              <a:rPr lang="en-US" dirty="0"/>
              <a:t>Review Digest</a:t>
            </a:r>
          </a:p>
        </p:txBody>
      </p:sp>
    </p:spTree>
    <p:extLst>
      <p:ext uri="{BB962C8B-B14F-4D97-AF65-F5344CB8AC3E}">
        <p14:creationId xmlns:p14="http://schemas.microsoft.com/office/powerpoint/2010/main" val="34040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147DBB-D5D3-6226-9C01-06C3D1E6EC8A}"/>
              </a:ext>
            </a:extLst>
          </p:cNvPr>
          <p:cNvSpPr txBox="1"/>
          <p:nvPr/>
        </p:nvSpPr>
        <p:spPr>
          <a:xfrm>
            <a:off x="185057" y="130629"/>
            <a:ext cx="11527972" cy="4524315"/>
          </a:xfrm>
          <a:prstGeom prst="rect">
            <a:avLst/>
          </a:prstGeom>
          <a:noFill/>
        </p:spPr>
        <p:txBody>
          <a:bodyPr wrap="square" rtlCol="0">
            <a:spAutoFit/>
          </a:bodyPr>
          <a:lstStyle/>
          <a:p>
            <a:r>
              <a:rPr lang="en-US" altLang="zh-CN" dirty="0"/>
              <a:t>Common</a:t>
            </a:r>
            <a:r>
              <a:rPr lang="zh-CN" altLang="en-US" dirty="0"/>
              <a:t> </a:t>
            </a:r>
            <a:r>
              <a:rPr lang="en-US" altLang="zh-CN" dirty="0"/>
              <a:t>issues:</a:t>
            </a:r>
          </a:p>
          <a:p>
            <a:endParaRPr lang="en-US" altLang="zh-CN" dirty="0"/>
          </a:p>
          <a:p>
            <a:pPr marL="342900" indent="-342900">
              <a:buAutoNum type="arabicPeriod"/>
            </a:pPr>
            <a:r>
              <a:rPr lang="en-US" altLang="zh-CN" dirty="0"/>
              <a:t>Foundation model claim too broad</a:t>
            </a:r>
          </a:p>
          <a:p>
            <a:r>
              <a:rPr lang="en-US" altLang="zh-CN" dirty="0"/>
              <a:t>There are only two tasks, and both are throughput-centric, not strong enough for the claim of foundation model</a:t>
            </a:r>
          </a:p>
          <a:p>
            <a:endParaRPr lang="en-US" altLang="zh-CN" dirty="0"/>
          </a:p>
          <a:p>
            <a:r>
              <a:rPr lang="en-US" altLang="zh-CN" dirty="0"/>
              <a:t>2. Lack of novelty </a:t>
            </a:r>
          </a:p>
          <a:p>
            <a:r>
              <a:rPr lang="en-US" altLang="zh-CN" dirty="0"/>
              <a:t>More like the </a:t>
            </a:r>
            <a:r>
              <a:rPr lang="en-US" dirty="0"/>
              <a:t>an integration of existing methods rather than a novel design.</a:t>
            </a:r>
            <a:endParaRPr lang="en-US" altLang="zh-CN" dirty="0"/>
          </a:p>
          <a:p>
            <a:endParaRPr lang="en-US" dirty="0"/>
          </a:p>
          <a:p>
            <a:r>
              <a:rPr lang="en-US" dirty="0"/>
              <a:t>3. LLM branch</a:t>
            </a:r>
            <a:r>
              <a:rPr lang="zh-CN" altLang="en-US" dirty="0"/>
              <a:t> </a:t>
            </a:r>
            <a:r>
              <a:rPr lang="en-US" altLang="zh-CN" dirty="0"/>
              <a:t>justification</a:t>
            </a:r>
          </a:p>
          <a:p>
            <a:r>
              <a:rPr lang="en-US" altLang="zh-CN" dirty="0"/>
              <a:t>LLM’s performance not consistency, and when use Pro, When use Core</a:t>
            </a:r>
          </a:p>
          <a:p>
            <a:endParaRPr lang="en-US" altLang="zh-CN" dirty="0"/>
          </a:p>
          <a:p>
            <a:r>
              <a:rPr lang="en-US" altLang="zh-CN" dirty="0"/>
              <a:t>4. Comparison in evaluation not complete enough</a:t>
            </a:r>
          </a:p>
          <a:p>
            <a:r>
              <a:rPr lang="en-US" altLang="zh-CN" dirty="0"/>
              <a:t>Doesn’t include chronos, deep RL, simpler fusion,…</a:t>
            </a:r>
          </a:p>
          <a:p>
            <a:endParaRPr lang="en-US" altLang="zh-CN" dirty="0"/>
          </a:p>
          <a:p>
            <a:r>
              <a:rPr lang="en-US" altLang="zh-CN" dirty="0"/>
              <a:t>5. Robustness and data quality</a:t>
            </a:r>
          </a:p>
          <a:p>
            <a:endParaRPr lang="en-US" dirty="0"/>
          </a:p>
        </p:txBody>
      </p:sp>
    </p:spTree>
    <p:extLst>
      <p:ext uri="{BB962C8B-B14F-4D97-AF65-F5344CB8AC3E}">
        <p14:creationId xmlns:p14="http://schemas.microsoft.com/office/powerpoint/2010/main" val="3047814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9773DB-8A2B-03AD-60C5-F1AB64553807}"/>
              </a:ext>
            </a:extLst>
          </p:cNvPr>
          <p:cNvSpPr txBox="1"/>
          <p:nvPr/>
        </p:nvSpPr>
        <p:spPr>
          <a:xfrm>
            <a:off x="0" y="117693"/>
            <a:ext cx="11854543" cy="6740307"/>
          </a:xfrm>
          <a:prstGeom prst="rect">
            <a:avLst/>
          </a:prstGeom>
          <a:noFill/>
        </p:spPr>
        <p:txBody>
          <a:bodyPr wrap="square" rtlCol="0">
            <a:spAutoFit/>
          </a:bodyPr>
          <a:lstStyle/>
          <a:p>
            <a:r>
              <a:rPr lang="en-US" altLang="zh-CN" dirty="0"/>
              <a:t>Response</a:t>
            </a:r>
            <a:r>
              <a:rPr lang="zh-CN" altLang="en-US" dirty="0"/>
              <a:t> </a:t>
            </a:r>
            <a:r>
              <a:rPr lang="en-US" altLang="zh-CN" dirty="0"/>
              <a:t>to</a:t>
            </a:r>
            <a:r>
              <a:rPr lang="zh-CN" altLang="en-US" dirty="0"/>
              <a:t> </a:t>
            </a:r>
            <a:r>
              <a:rPr lang="en-US" altLang="zh-CN" dirty="0"/>
              <a:t>Common</a:t>
            </a:r>
            <a:r>
              <a:rPr lang="zh-CN" altLang="en-US" dirty="0"/>
              <a:t> </a:t>
            </a:r>
            <a:r>
              <a:rPr lang="en-US" altLang="zh-CN" dirty="0"/>
              <a:t>issues:</a:t>
            </a:r>
          </a:p>
          <a:p>
            <a:endParaRPr lang="en-US" altLang="zh-CN" dirty="0"/>
          </a:p>
          <a:p>
            <a:pPr marL="342900" indent="-342900">
              <a:buAutoNum type="arabicPeriod"/>
            </a:pPr>
            <a:r>
              <a:rPr lang="en-US" altLang="zh-CN" dirty="0"/>
              <a:t>Foundation model claim too broad* (Reviewer A, B, D) (number of words)</a:t>
            </a:r>
          </a:p>
          <a:p>
            <a:pPr lvl="1"/>
            <a:r>
              <a:rPr lang="en-US" altLang="zh-CN" dirty="0"/>
              <a:t>Our</a:t>
            </a:r>
            <a:r>
              <a:rPr lang="zh-CN" altLang="en-US" dirty="0"/>
              <a:t> </a:t>
            </a:r>
            <a:r>
              <a:rPr lang="en-US" altLang="zh-CN" dirty="0"/>
              <a:t>work propose</a:t>
            </a:r>
            <a:r>
              <a:rPr lang="zh-CN" altLang="en-US" dirty="0"/>
              <a:t> </a:t>
            </a:r>
            <a:r>
              <a:rPr lang="en-US" altLang="zh-CN" dirty="0"/>
              <a:t>a reusable pipeline (no-label pretrain + quickly finetune), foundation model based on RAN-profiling, profiling how RAN properties influence the KPI performance. </a:t>
            </a:r>
          </a:p>
          <a:p>
            <a:pPr lvl="1"/>
            <a:r>
              <a:rPr lang="en-US" altLang="zh-CN" dirty="0"/>
              <a:t>Two use case is facing difference scenario and have totally different setting although both throughput-centralize.</a:t>
            </a:r>
          </a:p>
          <a:p>
            <a:pPr lvl="1"/>
            <a:r>
              <a:rPr lang="en-US" altLang="zh-CN" dirty="0"/>
              <a:t>Further clarify it’s not a generic foundation model. </a:t>
            </a:r>
          </a:p>
          <a:p>
            <a:endParaRPr lang="en-US" altLang="zh-CN" dirty="0"/>
          </a:p>
          <a:p>
            <a:r>
              <a:rPr lang="en-US" altLang="zh-CN" dirty="0"/>
              <a:t>2.   Lack of novelty (Reviewer B, C, D) *(number of words)</a:t>
            </a:r>
          </a:p>
          <a:p>
            <a:pPr lvl="1"/>
            <a:r>
              <a:rPr lang="en-US" dirty="0"/>
              <a:t>Novelty</a:t>
            </a:r>
            <a:r>
              <a:rPr lang="zh-CN" altLang="en-US" dirty="0"/>
              <a:t> </a:t>
            </a:r>
            <a:r>
              <a:rPr lang="en-US" altLang="zh-CN" dirty="0"/>
              <a:t>lies in how to combine the information from the two kind of RAN-specific data and also the domain-structured pre-train and what-if modeled task specific finetuning. Design an end-to-end framework for RAN tasks, instead of novelty in Machine Learning area, but selecting the suitable encoder and model for RAN data. Also the data and problem is in real industry </a:t>
            </a:r>
          </a:p>
          <a:p>
            <a:pPr lvl="1"/>
            <a:endParaRPr lang="en-US" dirty="0"/>
          </a:p>
          <a:p>
            <a:r>
              <a:rPr lang="en-US" dirty="0"/>
              <a:t>3.  LLM branch</a:t>
            </a:r>
            <a:r>
              <a:rPr lang="zh-CN" altLang="en-US" dirty="0"/>
              <a:t> </a:t>
            </a:r>
            <a:r>
              <a:rPr lang="en-US" altLang="zh-CN" dirty="0"/>
              <a:t>justification* (Reviewer A, B, D)</a:t>
            </a:r>
          </a:p>
          <a:p>
            <a:pPr lvl="1"/>
            <a:r>
              <a:rPr lang="en-US" altLang="zh-CN" dirty="0"/>
              <a:t>LLM is more suitable for the classification task, but not suitable for numerical prediction task \ref.</a:t>
            </a:r>
          </a:p>
          <a:p>
            <a:endParaRPr lang="en-US" altLang="zh-CN" dirty="0"/>
          </a:p>
          <a:p>
            <a:r>
              <a:rPr lang="en-US" altLang="zh-CN" dirty="0"/>
              <a:t>4. Comparison in evaluation not complete enough *(Reviewer A, C, D)</a:t>
            </a:r>
          </a:p>
          <a:p>
            <a:pPr lvl="1"/>
            <a:r>
              <a:rPr lang="en-US" altLang="zh-CN" dirty="0"/>
              <a:t>Design space too large, and have done some ablation study (explain the design choice in every reviewer part)</a:t>
            </a:r>
          </a:p>
          <a:p>
            <a:endParaRPr lang="en-US" altLang="zh-CN" dirty="0"/>
          </a:p>
          <a:p>
            <a:r>
              <a:rPr lang="en-US" altLang="zh-CN" dirty="0"/>
              <a:t>5. Robustness and data quality (Reviewer C, D)</a:t>
            </a:r>
          </a:p>
          <a:p>
            <a:pPr lvl="1"/>
            <a:r>
              <a:rPr lang="en-US" altLang="zh-CN" dirty="0"/>
              <a:t>The real operation data will naturally include some missing, and it go through the different pre-process. For robustness, we don’t do the test and will be included in the limitation part.</a:t>
            </a:r>
          </a:p>
          <a:p>
            <a:endParaRPr lang="en-US" dirty="0"/>
          </a:p>
        </p:txBody>
      </p:sp>
    </p:spTree>
    <p:extLst>
      <p:ext uri="{BB962C8B-B14F-4D97-AF65-F5344CB8AC3E}">
        <p14:creationId xmlns:p14="http://schemas.microsoft.com/office/powerpoint/2010/main" val="3664420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716089-39C8-9598-8BA4-C584C8206DA3}"/>
              </a:ext>
            </a:extLst>
          </p:cNvPr>
          <p:cNvSpPr txBox="1"/>
          <p:nvPr/>
        </p:nvSpPr>
        <p:spPr>
          <a:xfrm>
            <a:off x="185057" y="130629"/>
            <a:ext cx="12104914" cy="6186309"/>
          </a:xfrm>
          <a:prstGeom prst="rect">
            <a:avLst/>
          </a:prstGeom>
          <a:noFill/>
        </p:spPr>
        <p:txBody>
          <a:bodyPr wrap="square" rtlCol="0">
            <a:spAutoFit/>
          </a:bodyPr>
          <a:lstStyle/>
          <a:p>
            <a:r>
              <a:rPr lang="en-US" altLang="zh-CN" dirty="0"/>
              <a:t>Reviewer A specific comments:</a:t>
            </a:r>
          </a:p>
          <a:p>
            <a:endParaRPr lang="en-US" altLang="zh-CN" dirty="0"/>
          </a:p>
          <a:p>
            <a:pPr marL="342900" indent="-342900">
              <a:buAutoNum type="arabicPeriod"/>
            </a:pPr>
            <a:r>
              <a:rPr lang="en-US" altLang="zh-CN" dirty="0"/>
              <a:t>RANPerf have a low absolute performance</a:t>
            </a:r>
          </a:p>
          <a:p>
            <a:pPr lvl="1"/>
            <a:r>
              <a:rPr lang="en-US" altLang="zh-CN" dirty="0"/>
              <a:t>The ground truth positive ratio is initially very low</a:t>
            </a:r>
          </a:p>
          <a:p>
            <a:endParaRPr lang="en-US" altLang="zh-CN" dirty="0"/>
          </a:p>
          <a:p>
            <a:pPr marL="342900" indent="-342900">
              <a:buAutoNum type="arabicPeriod" startAt="2"/>
            </a:pPr>
            <a:r>
              <a:rPr lang="en-US" altLang="zh-CN" dirty="0"/>
              <a:t>Cross</a:t>
            </a:r>
            <a:r>
              <a:rPr lang="zh-CN" altLang="en-US" dirty="0"/>
              <a:t> </a:t>
            </a:r>
            <a:r>
              <a:rPr lang="en-US" altLang="zh-CN" dirty="0"/>
              <a:t>attention’s direction</a:t>
            </a:r>
          </a:p>
          <a:p>
            <a:pPr lvl="1"/>
            <a:r>
              <a:rPr lang="en-US" dirty="0"/>
              <a:t>KPI dynamics are the primary predictive signal, while configuration features serve as stable conditioning context </a:t>
            </a:r>
          </a:p>
          <a:p>
            <a:pPr lvl="1"/>
            <a:endParaRPr lang="en-US" dirty="0"/>
          </a:p>
          <a:p>
            <a:pPr marL="342900" indent="-342900">
              <a:buAutoNum type="arabicPeriod" startAt="2"/>
            </a:pPr>
            <a:r>
              <a:rPr lang="en-US" dirty="0"/>
              <a:t>The pre-training task is only reconstruction</a:t>
            </a:r>
            <a:r>
              <a:rPr lang="zh-CN" altLang="en-US" dirty="0"/>
              <a:t> </a:t>
            </a:r>
            <a:r>
              <a:rPr lang="en-US" altLang="zh-CN" dirty="0"/>
              <a:t>KPI data</a:t>
            </a:r>
            <a:endParaRPr lang="en-US" dirty="0"/>
          </a:p>
          <a:p>
            <a:pPr lvl="1"/>
            <a:r>
              <a:rPr lang="en-US" dirty="0"/>
              <a:t>Many configuration parameters remain at factory defaults or are set inconsistently, making their reconstruction unreliable, and contrastive learning learns the embedding that will bring similar samples together, but can’t offer correlation to the variables. </a:t>
            </a:r>
          </a:p>
          <a:p>
            <a:pPr marL="342900" indent="-342900">
              <a:buAutoNum type="arabicPeriod" startAt="2"/>
            </a:pPr>
            <a:endParaRPr lang="en-US" dirty="0"/>
          </a:p>
          <a:p>
            <a:pPr marL="342900" indent="-342900">
              <a:buAutoNum type="arabicPeriod" startAt="2"/>
            </a:pPr>
            <a:r>
              <a:rPr lang="en-US" dirty="0"/>
              <a:t>TTM ablation study performs poorly</a:t>
            </a:r>
          </a:p>
          <a:p>
            <a:pPr lvl="1"/>
            <a:r>
              <a:rPr lang="en-US" dirty="0"/>
              <a:t>Follow the original setting.</a:t>
            </a:r>
          </a:p>
          <a:p>
            <a:pPr marL="342900" indent="-342900">
              <a:buAutoNum type="arabicPeriod" startAt="2"/>
            </a:pPr>
            <a:endParaRPr lang="en-US" dirty="0"/>
          </a:p>
          <a:p>
            <a:pPr marL="342900" indent="-342900">
              <a:buAutoNum type="arabicPeriod" startAt="2"/>
            </a:pPr>
            <a:r>
              <a:rPr lang="en-US" dirty="0"/>
              <a:t>Field study for RANPerf don’t have confidential interval</a:t>
            </a:r>
          </a:p>
          <a:p>
            <a:pPr marL="800100" lvl="1" indent="-342900">
              <a:buAutoNum type="arabicPeriod" startAt="2"/>
            </a:pPr>
            <a:endParaRPr lang="en-US" dirty="0"/>
          </a:p>
          <a:p>
            <a:pPr marL="342900" indent="-342900">
              <a:buAutoNum type="arabicPeriod" startAt="2"/>
            </a:pPr>
            <a:endParaRPr lang="en-US" dirty="0"/>
          </a:p>
          <a:p>
            <a:pPr marL="342900" indent="-342900">
              <a:buAutoNum type="arabicPeriod" startAt="2"/>
            </a:pPr>
            <a:r>
              <a:rPr lang="en-US" dirty="0"/>
              <a:t>Field study for EngSav only use MAD, don’t have actual energy gain</a:t>
            </a:r>
          </a:p>
          <a:p>
            <a:pPr marL="342900" indent="-342900">
              <a:buAutoNum type="arabicPeriod" startAt="2"/>
            </a:pPr>
            <a:endParaRPr lang="en-US" dirty="0"/>
          </a:p>
          <a:p>
            <a:pPr marL="342900" indent="-342900">
              <a:buAutoNum type="arabicPeriod" startAt="2"/>
            </a:pPr>
            <a:r>
              <a:rPr lang="en-US" dirty="0"/>
              <a:t>Minor issues</a:t>
            </a:r>
          </a:p>
        </p:txBody>
      </p:sp>
    </p:spTree>
    <p:extLst>
      <p:ext uri="{BB962C8B-B14F-4D97-AF65-F5344CB8AC3E}">
        <p14:creationId xmlns:p14="http://schemas.microsoft.com/office/powerpoint/2010/main" val="2694862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14B142-B2AF-BFFE-817A-F64A22DADFD7}"/>
              </a:ext>
            </a:extLst>
          </p:cNvPr>
          <p:cNvSpPr txBox="1"/>
          <p:nvPr/>
        </p:nvSpPr>
        <p:spPr>
          <a:xfrm>
            <a:off x="228600" y="152401"/>
            <a:ext cx="11734800" cy="3139321"/>
          </a:xfrm>
          <a:prstGeom prst="rect">
            <a:avLst/>
          </a:prstGeom>
          <a:noFill/>
        </p:spPr>
        <p:txBody>
          <a:bodyPr wrap="square" rtlCol="0">
            <a:spAutoFit/>
          </a:bodyPr>
          <a:lstStyle/>
          <a:p>
            <a:r>
              <a:rPr lang="en-US" altLang="zh-CN" dirty="0"/>
              <a:t>Reviewer B specific comments:</a:t>
            </a:r>
          </a:p>
          <a:p>
            <a:endParaRPr lang="en-US" altLang="zh-CN" dirty="0"/>
          </a:p>
          <a:p>
            <a:r>
              <a:rPr lang="en-US" altLang="zh-CN" dirty="0"/>
              <a:t>Why RAN-specific foundation model is nessecary (why not pure LLM or Time-series foundation model)</a:t>
            </a:r>
          </a:p>
          <a:p>
            <a:pPr lvl="1"/>
            <a:r>
              <a:rPr lang="en-US" altLang="zh-CN" dirty="0"/>
              <a:t>Time-series foundation model can’ t catch the cross-modal interaction. LLM’s structure not suitable for numerical prediction task</a:t>
            </a:r>
          </a:p>
          <a:p>
            <a:endParaRPr lang="en-US" altLang="zh-CN" dirty="0"/>
          </a:p>
          <a:p>
            <a:r>
              <a:rPr lang="en-US" altLang="zh-CN" dirty="0"/>
              <a:t>Problem formulation is not clear</a:t>
            </a:r>
          </a:p>
          <a:p>
            <a:pPr lvl="1"/>
            <a:r>
              <a:rPr lang="en-US" altLang="zh-CN" dirty="0"/>
              <a:t>Will add a part before section 3 </a:t>
            </a:r>
          </a:p>
          <a:p>
            <a:endParaRPr lang="en-US" altLang="zh-CN" dirty="0"/>
          </a:p>
          <a:p>
            <a:r>
              <a:rPr lang="en-US" altLang="zh-CN" dirty="0"/>
              <a:t>Don’t publish data for reproduction</a:t>
            </a:r>
          </a:p>
          <a:p>
            <a:pPr lvl="1"/>
            <a:r>
              <a:rPr lang="en-US" altLang="zh-CN" dirty="0"/>
              <a:t>Data can’t be released because confidential</a:t>
            </a:r>
          </a:p>
        </p:txBody>
      </p:sp>
    </p:spTree>
    <p:extLst>
      <p:ext uri="{BB962C8B-B14F-4D97-AF65-F5344CB8AC3E}">
        <p14:creationId xmlns:p14="http://schemas.microsoft.com/office/powerpoint/2010/main" val="950049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9FA779-D4EE-48C8-858C-83A9E429F110}"/>
              </a:ext>
            </a:extLst>
          </p:cNvPr>
          <p:cNvSpPr txBox="1"/>
          <p:nvPr/>
        </p:nvSpPr>
        <p:spPr>
          <a:xfrm>
            <a:off x="228600" y="152401"/>
            <a:ext cx="11734800" cy="2585323"/>
          </a:xfrm>
          <a:prstGeom prst="rect">
            <a:avLst/>
          </a:prstGeom>
          <a:noFill/>
        </p:spPr>
        <p:txBody>
          <a:bodyPr wrap="square" rtlCol="0">
            <a:spAutoFit/>
          </a:bodyPr>
          <a:lstStyle/>
          <a:p>
            <a:r>
              <a:rPr lang="en-US" altLang="zh-CN" dirty="0"/>
              <a:t>Reviewer C specific comments:</a:t>
            </a:r>
          </a:p>
          <a:p>
            <a:endParaRPr lang="en-US" altLang="zh-CN" dirty="0"/>
          </a:p>
          <a:p>
            <a:r>
              <a:rPr lang="en-US" altLang="zh-CN" dirty="0"/>
              <a:t>Large consuming when using LLM</a:t>
            </a:r>
          </a:p>
          <a:p>
            <a:endParaRPr lang="en-US" altLang="zh-CN" dirty="0"/>
          </a:p>
          <a:p>
            <a:r>
              <a:rPr lang="en-US" altLang="zh-CN" dirty="0"/>
              <a:t>Don’t compare with Control-theory/ reinforcement learning</a:t>
            </a:r>
          </a:p>
          <a:p>
            <a:endParaRPr lang="en-US" altLang="zh-CN" dirty="0"/>
          </a:p>
          <a:p>
            <a:r>
              <a:rPr lang="en-US" altLang="zh-CN" dirty="0"/>
              <a:t>Network</a:t>
            </a:r>
            <a:r>
              <a:rPr lang="zh-CN" altLang="en-US" dirty="0"/>
              <a:t> </a:t>
            </a:r>
            <a:r>
              <a:rPr lang="en-US" altLang="zh-CN" dirty="0"/>
              <a:t>condition evolve, how to </a:t>
            </a:r>
            <a:r>
              <a:rPr lang="en-US" altLang="zh-CN" dirty="0" err="1"/>
              <a:t>adapte</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2569745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8C324B-6582-BA7A-5DF2-ED058E77C33B}"/>
              </a:ext>
            </a:extLst>
          </p:cNvPr>
          <p:cNvSpPr txBox="1"/>
          <p:nvPr/>
        </p:nvSpPr>
        <p:spPr>
          <a:xfrm>
            <a:off x="217715" y="117693"/>
            <a:ext cx="11190514" cy="6740307"/>
          </a:xfrm>
          <a:prstGeom prst="rect">
            <a:avLst/>
          </a:prstGeom>
          <a:noFill/>
        </p:spPr>
        <p:txBody>
          <a:bodyPr wrap="square" rtlCol="0">
            <a:spAutoFit/>
          </a:bodyPr>
          <a:lstStyle/>
          <a:p>
            <a:r>
              <a:rPr lang="en-US" altLang="zh-CN" dirty="0"/>
              <a:t>Reviewer</a:t>
            </a:r>
            <a:r>
              <a:rPr lang="zh-CN" altLang="en-US"/>
              <a:t> </a:t>
            </a:r>
            <a:r>
              <a:rPr lang="en-US" altLang="zh-CN" dirty="0"/>
              <a:t>a:</a:t>
            </a:r>
          </a:p>
          <a:p>
            <a:endParaRPr lang="en-US" dirty="0"/>
          </a:p>
          <a:p>
            <a:pPr marL="342900" indent="-342900">
              <a:buAutoNum type="arabicPeriod"/>
            </a:pPr>
            <a:r>
              <a:rPr lang="en-US" dirty="0"/>
              <a:t>Insufficient Downstream Tasks to Justify "</a:t>
            </a:r>
            <a:r>
              <a:rPr lang="en-US" dirty="0">
                <a:solidFill>
                  <a:srgbClr val="C00000"/>
                </a:solidFill>
              </a:rPr>
              <a:t>Foundation Model</a:t>
            </a:r>
            <a:r>
              <a:rPr lang="en-US" dirty="0"/>
              <a:t>" Claims</a:t>
            </a:r>
          </a:p>
          <a:p>
            <a:pPr marL="342900" indent="-342900">
              <a:buAutoNum type="arabicPeriod"/>
            </a:pPr>
            <a:endParaRPr lang="en-US" dirty="0"/>
          </a:p>
          <a:p>
            <a:pPr marL="342900" indent="-342900">
              <a:buAutoNum type="arabicPeriod"/>
            </a:pPr>
            <a:r>
              <a:rPr lang="en-US" dirty="0"/>
              <a:t>Generalization</a:t>
            </a:r>
            <a:r>
              <a:rPr lang="zh-CN" altLang="en-US"/>
              <a:t> </a:t>
            </a:r>
            <a:r>
              <a:rPr lang="en-US" altLang="zh-CN" dirty="0"/>
              <a:t>across </a:t>
            </a:r>
            <a:r>
              <a:rPr lang="en-US" dirty="0"/>
              <a:t>providers / technologies</a:t>
            </a:r>
          </a:p>
          <a:p>
            <a:pPr marL="342900" indent="-342900">
              <a:buAutoNum type="arabicPeriod"/>
            </a:pPr>
            <a:endParaRPr lang="en-US" dirty="0"/>
          </a:p>
          <a:p>
            <a:pPr marL="342900" indent="-342900">
              <a:buFontTx/>
              <a:buAutoNum type="arabicPeriod"/>
            </a:pPr>
            <a:r>
              <a:rPr lang="en-US" altLang="zh-CN" dirty="0"/>
              <a:t>Despite improvements over baselines, the absolute performance (AUPRC/F1) is relatively low</a:t>
            </a:r>
          </a:p>
          <a:p>
            <a:pPr marL="342900" indent="-342900">
              <a:buFontTx/>
              <a:buAutoNum type="arabicPeriod"/>
            </a:pPr>
            <a:endParaRPr lang="en-US" dirty="0"/>
          </a:p>
          <a:p>
            <a:pPr marL="342900" indent="-342900">
              <a:buFontTx/>
              <a:buAutoNum type="arabicPeriod"/>
            </a:pPr>
            <a:r>
              <a:rPr lang="en-US" dirty="0"/>
              <a:t>The role of the </a:t>
            </a:r>
            <a:r>
              <a:rPr lang="en-US" dirty="0">
                <a:solidFill>
                  <a:srgbClr val="C00000"/>
                </a:solidFill>
              </a:rPr>
              <a:t>LLM branch is unclear </a:t>
            </a:r>
            <a:r>
              <a:rPr lang="en-US" dirty="0"/>
              <a:t>and appears inconsistent with the claim that LLM-based approaches perform poorly for regression tasks.</a:t>
            </a:r>
          </a:p>
          <a:p>
            <a:pPr marL="342900" indent="-342900">
              <a:buFontTx/>
              <a:buAutoNum type="arabicPeriod"/>
            </a:pPr>
            <a:endParaRPr lang="en-US" dirty="0"/>
          </a:p>
          <a:p>
            <a:pPr marL="342900" indent="-342900">
              <a:buFontTx/>
              <a:buAutoNum type="arabicPeriod"/>
            </a:pPr>
            <a:r>
              <a:rPr lang="en-US" dirty="0"/>
              <a:t>The field evaluation lacks statistical validation and does not clearly demonstrate real-world impact</a:t>
            </a:r>
          </a:p>
          <a:p>
            <a:pPr marL="342900" indent="-342900">
              <a:buFontTx/>
              <a:buAutoNum type="arabicPeriod"/>
            </a:pPr>
            <a:endParaRPr lang="en-US" dirty="0"/>
          </a:p>
          <a:p>
            <a:pPr marL="342900" indent="-342900">
              <a:buFontTx/>
              <a:buAutoNum type="arabicPeriod"/>
            </a:pPr>
            <a:r>
              <a:rPr lang="en-US" dirty="0"/>
              <a:t>Several key design choices and experimental comparisons are insufficiently justified, including the cross-attention direction, the lack of properly adapted strong time-series baselines, and the absence of comparisons with alternative multi-task learning approaches.</a:t>
            </a:r>
          </a:p>
          <a:p>
            <a:pPr marL="342900" indent="-342900">
              <a:buFontTx/>
              <a:buAutoNum type="arabicPeriod"/>
            </a:pPr>
            <a:endParaRPr lang="en-US" dirty="0"/>
          </a:p>
          <a:p>
            <a:pPr marL="342900" indent="-342900">
              <a:buFontTx/>
              <a:buAutoNum type="arabicPeriod"/>
            </a:pPr>
            <a:r>
              <a:rPr lang="en-US" altLang="zh-CN" dirty="0"/>
              <a:t>Suggested</a:t>
            </a:r>
            <a:r>
              <a:rPr lang="zh-CN" altLang="en-US"/>
              <a:t> </a:t>
            </a:r>
            <a:r>
              <a:rPr lang="en-US" altLang="zh-CN" dirty="0"/>
              <a:t>changes</a:t>
            </a:r>
            <a:r>
              <a:rPr lang="zh-CN" altLang="en-US"/>
              <a:t> </a:t>
            </a:r>
            <a:r>
              <a:rPr lang="en-US" altLang="zh-CN" dirty="0"/>
              <a:t>on</a:t>
            </a:r>
            <a:r>
              <a:rPr lang="zh-CN" altLang="en-US"/>
              <a:t> </a:t>
            </a:r>
            <a:r>
              <a:rPr lang="en-US" altLang="zh-CN" dirty="0"/>
              <a:t>evaluation</a:t>
            </a:r>
            <a:r>
              <a:rPr lang="zh-CN" altLang="en-US"/>
              <a:t> </a:t>
            </a:r>
            <a:r>
              <a:rPr lang="en-US" altLang="zh-CN" dirty="0"/>
              <a:t>and</a:t>
            </a:r>
            <a:r>
              <a:rPr lang="zh-CN" altLang="en-US"/>
              <a:t> </a:t>
            </a:r>
            <a:r>
              <a:rPr lang="en-US" altLang="zh-CN" dirty="0"/>
              <a:t>discussion</a:t>
            </a:r>
          </a:p>
          <a:p>
            <a:pPr marL="342900" indent="-342900">
              <a:buFontTx/>
              <a:buAutoNum type="arabicPeriod"/>
            </a:pPr>
            <a:endParaRPr lang="en-US" altLang="zh-CN" dirty="0"/>
          </a:p>
          <a:p>
            <a:pPr marL="342900" indent="-342900">
              <a:buFontTx/>
              <a:buAutoNum type="arabicPeriod"/>
            </a:pPr>
            <a:endParaRPr lang="en-US" altLang="zh-CN" dirty="0"/>
          </a:p>
          <a:p>
            <a:pPr marL="342900" indent="-342900">
              <a:buFontTx/>
              <a:buAutoNum type="arabicPeriod"/>
            </a:pPr>
            <a:endParaRPr lang="en-US" dirty="0"/>
          </a:p>
          <a:p>
            <a:endParaRPr lang="en-US" dirty="0"/>
          </a:p>
          <a:p>
            <a:pPr marL="342900" indent="-342900">
              <a:buFontTx/>
              <a:buAutoNum type="arabicPeriod"/>
            </a:pPr>
            <a:endParaRPr lang="en-US" dirty="0"/>
          </a:p>
          <a:p>
            <a:pPr marL="342900" indent="-342900">
              <a:buFontTx/>
              <a:buAutoNum type="arabicPeriod"/>
            </a:pPr>
            <a:endParaRPr lang="en-US" dirty="0"/>
          </a:p>
        </p:txBody>
      </p:sp>
    </p:spTree>
    <p:extLst>
      <p:ext uri="{BB962C8B-B14F-4D97-AF65-F5344CB8AC3E}">
        <p14:creationId xmlns:p14="http://schemas.microsoft.com/office/powerpoint/2010/main" val="3697430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A4317D-7A7B-0A6D-F144-33AFC42DD47E}"/>
              </a:ext>
            </a:extLst>
          </p:cNvPr>
          <p:cNvSpPr txBox="1"/>
          <p:nvPr/>
        </p:nvSpPr>
        <p:spPr>
          <a:xfrm>
            <a:off x="261257" y="261257"/>
            <a:ext cx="11190514" cy="5355312"/>
          </a:xfrm>
          <a:prstGeom prst="rect">
            <a:avLst/>
          </a:prstGeom>
          <a:noFill/>
        </p:spPr>
        <p:txBody>
          <a:bodyPr wrap="square" rtlCol="0">
            <a:spAutoFit/>
          </a:bodyPr>
          <a:lstStyle/>
          <a:p>
            <a:r>
              <a:rPr lang="en-US" altLang="zh-CN" dirty="0"/>
              <a:t>Reviewer</a:t>
            </a:r>
            <a:r>
              <a:rPr lang="zh-CN" altLang="en-US"/>
              <a:t> </a:t>
            </a:r>
            <a:r>
              <a:rPr lang="en-US" altLang="zh-CN" dirty="0"/>
              <a:t>b *:</a:t>
            </a:r>
          </a:p>
          <a:p>
            <a:endParaRPr lang="en-US" dirty="0"/>
          </a:p>
          <a:p>
            <a:pPr marL="342900" indent="-342900">
              <a:buFontTx/>
              <a:buAutoNum type="arabicPeriod"/>
            </a:pPr>
            <a:r>
              <a:rPr lang="en-US" dirty="0"/>
              <a:t>The technical contribution is unclear and appears to be primarily an integration of </a:t>
            </a:r>
            <a:r>
              <a:rPr lang="en-US" dirty="0">
                <a:solidFill>
                  <a:srgbClr val="C00000"/>
                </a:solidFill>
              </a:rPr>
              <a:t>existing methods rather than a novel design.</a:t>
            </a:r>
          </a:p>
          <a:p>
            <a:pPr marL="342900" indent="-342900">
              <a:buFontTx/>
              <a:buAutoNum type="arabicPeriod"/>
            </a:pPr>
            <a:endParaRPr lang="en-US" dirty="0"/>
          </a:p>
          <a:p>
            <a:pPr marL="342900" indent="-342900">
              <a:buFontTx/>
              <a:buAutoNum type="arabicPeriod"/>
            </a:pPr>
            <a:r>
              <a:rPr lang="en-US" dirty="0"/>
              <a:t>The evaluation on only two use cases is insufficient to support the claimed </a:t>
            </a:r>
            <a:r>
              <a:rPr lang="en-US" dirty="0">
                <a:solidFill>
                  <a:srgbClr val="C00000"/>
                </a:solidFill>
              </a:rPr>
              <a:t>generalizability of a foundation model.</a:t>
            </a:r>
          </a:p>
          <a:p>
            <a:pPr marL="342900" indent="-342900">
              <a:buFontTx/>
              <a:buAutoNum type="arabicPeriod"/>
            </a:pPr>
            <a:endParaRPr lang="en-US" dirty="0"/>
          </a:p>
          <a:p>
            <a:pPr marL="342900" indent="-342900">
              <a:buFontTx/>
              <a:buAutoNum type="arabicPeriod"/>
            </a:pPr>
            <a:r>
              <a:rPr lang="en-US" dirty="0"/>
              <a:t>The paper needs to better justify why RAN-specific multimodal pretraining is necessary compared with improved </a:t>
            </a:r>
            <a:r>
              <a:rPr lang="en-US" dirty="0">
                <a:solidFill>
                  <a:srgbClr val="C00000"/>
                </a:solidFill>
              </a:rPr>
              <a:t>LLM adaptation or general-purpose time-series </a:t>
            </a:r>
            <a:r>
              <a:rPr lang="en-US" dirty="0"/>
              <a:t>foundation models.</a:t>
            </a:r>
          </a:p>
          <a:p>
            <a:pPr marL="342900" indent="-342900">
              <a:buFontTx/>
              <a:buAutoNum type="arabicPeriod"/>
            </a:pPr>
            <a:endParaRPr lang="en-US" dirty="0"/>
          </a:p>
          <a:p>
            <a:pPr marL="342900" indent="-342900">
              <a:buFontTx/>
              <a:buAutoNum type="arabicPeriod"/>
            </a:pPr>
            <a:r>
              <a:rPr lang="en-US" dirty="0"/>
              <a:t>The paper needs clearer problem formulation and RAN workflow grounding to justify the practical relevance of the model design.</a:t>
            </a:r>
          </a:p>
          <a:p>
            <a:pPr marL="342900" indent="-342900">
              <a:buFontTx/>
              <a:buAutoNum type="arabicPeriod"/>
            </a:pPr>
            <a:endParaRPr lang="en-US" dirty="0"/>
          </a:p>
          <a:p>
            <a:pPr marL="342900" indent="-342900">
              <a:buFontTx/>
              <a:buAutoNum type="arabicPeriod"/>
            </a:pPr>
            <a:r>
              <a:rPr lang="en-US" dirty="0"/>
              <a:t>Paper</a:t>
            </a:r>
            <a:r>
              <a:rPr lang="en-US" altLang="zh-CN" dirty="0"/>
              <a:t>’s</a:t>
            </a:r>
            <a:r>
              <a:rPr lang="zh-CN" altLang="en-US"/>
              <a:t> </a:t>
            </a:r>
            <a:r>
              <a:rPr lang="en-US" altLang="zh-CN" dirty="0"/>
              <a:t>presentation could be improved for clarity, including figure readability and a clearer structure for the evaluation section</a:t>
            </a:r>
            <a:endParaRPr lang="en-US" dirty="0"/>
          </a:p>
          <a:p>
            <a:pPr marL="342900" indent="-342900">
              <a:buFontTx/>
              <a:buAutoNum type="arabicPeriod"/>
            </a:pPr>
            <a:endParaRPr lang="en-US" dirty="0"/>
          </a:p>
          <a:p>
            <a:pPr marL="342900" indent="-342900">
              <a:buFontTx/>
              <a:buAutoNum type="arabicPeriod"/>
            </a:pPr>
            <a:r>
              <a:rPr lang="en-US" dirty="0"/>
              <a:t>The paper provides limited insight into the dataset and its challenges, and lacks discussion on reproducibility due to the non-public dataset.</a:t>
            </a:r>
          </a:p>
        </p:txBody>
      </p:sp>
    </p:spTree>
    <p:extLst>
      <p:ext uri="{BB962C8B-B14F-4D97-AF65-F5344CB8AC3E}">
        <p14:creationId xmlns:p14="http://schemas.microsoft.com/office/powerpoint/2010/main" val="3823170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EA0495-B2D5-C29E-B5B7-26C760DE4F97}"/>
              </a:ext>
            </a:extLst>
          </p:cNvPr>
          <p:cNvSpPr txBox="1"/>
          <p:nvPr/>
        </p:nvSpPr>
        <p:spPr>
          <a:xfrm>
            <a:off x="261257" y="261257"/>
            <a:ext cx="11190514" cy="3139321"/>
          </a:xfrm>
          <a:prstGeom prst="rect">
            <a:avLst/>
          </a:prstGeom>
          <a:noFill/>
        </p:spPr>
        <p:txBody>
          <a:bodyPr wrap="square" rtlCol="0">
            <a:spAutoFit/>
          </a:bodyPr>
          <a:lstStyle/>
          <a:p>
            <a:r>
              <a:rPr lang="en-US" altLang="zh-CN" dirty="0"/>
              <a:t>Reviewer</a:t>
            </a:r>
            <a:r>
              <a:rPr lang="zh-CN" altLang="en-US"/>
              <a:t> </a:t>
            </a:r>
            <a:r>
              <a:rPr lang="en-US" altLang="zh-CN" dirty="0"/>
              <a:t>c:</a:t>
            </a:r>
          </a:p>
          <a:p>
            <a:endParaRPr lang="en-US" dirty="0"/>
          </a:p>
          <a:p>
            <a:pPr marL="342900" indent="-342900">
              <a:buFontTx/>
              <a:buAutoNum type="arabicPeriod"/>
            </a:pPr>
            <a:r>
              <a:rPr lang="en-US" dirty="0"/>
              <a:t>the core technical contributions primarily involve adaptation of </a:t>
            </a:r>
            <a:r>
              <a:rPr lang="en-US" dirty="0">
                <a:solidFill>
                  <a:srgbClr val="C00000"/>
                </a:solidFill>
              </a:rPr>
              <a:t>existing ML architectures</a:t>
            </a:r>
          </a:p>
          <a:p>
            <a:pPr marL="342900" indent="-342900">
              <a:buFontTx/>
              <a:buAutoNum type="arabicPeriod"/>
            </a:pPr>
            <a:endParaRPr lang="en-US" dirty="0"/>
          </a:p>
          <a:p>
            <a:pPr marL="342900" indent="-342900">
              <a:buFontTx/>
              <a:buAutoNum type="arabicPeriod"/>
            </a:pPr>
            <a:r>
              <a:rPr lang="en-US" dirty="0"/>
              <a:t>The </a:t>
            </a:r>
            <a:r>
              <a:rPr lang="en-US" dirty="0">
                <a:solidFill>
                  <a:srgbClr val="C00000"/>
                </a:solidFill>
              </a:rPr>
              <a:t>evaluation incomplete </a:t>
            </a:r>
            <a:r>
              <a:rPr lang="en-US" dirty="0"/>
              <a:t>because it compares mostly against ML baseline</a:t>
            </a:r>
            <a:r>
              <a:rPr lang="en-US" altLang="zh-CN" dirty="0"/>
              <a:t>s</a:t>
            </a:r>
            <a:r>
              <a:rPr lang="en-US" dirty="0"/>
              <a:t>.</a:t>
            </a:r>
            <a:r>
              <a:rPr lang="zh-CN" altLang="en-US"/>
              <a:t> </a:t>
            </a:r>
            <a:r>
              <a:rPr lang="en-US" altLang="zh-CN" dirty="0"/>
              <a:t>(no</a:t>
            </a:r>
            <a:r>
              <a:rPr lang="zh-CN" altLang="en-US"/>
              <a:t> </a:t>
            </a:r>
            <a:r>
              <a:rPr lang="en-US" altLang="zh-CN" dirty="0"/>
              <a:t>control-theory-based network management solutions,  deep Reinforcement Learning-based RAN optimization frameworks)</a:t>
            </a:r>
            <a:endParaRPr lang="en-US" dirty="0"/>
          </a:p>
          <a:p>
            <a:pPr marL="342900" indent="-342900">
              <a:buFontTx/>
              <a:buAutoNum type="arabicPeriod"/>
            </a:pPr>
            <a:endParaRPr lang="en-US" dirty="0"/>
          </a:p>
          <a:p>
            <a:pPr marL="342900" indent="-342900">
              <a:buFontTx/>
              <a:buAutoNum type="arabicPeriod"/>
            </a:pPr>
            <a:r>
              <a:rPr lang="en-US" altLang="zh-CN" dirty="0"/>
              <a:t>Requiring</a:t>
            </a:r>
            <a:r>
              <a:rPr lang="zh-CN" altLang="en-US"/>
              <a:t> </a:t>
            </a:r>
            <a:r>
              <a:rPr lang="en-US" altLang="zh-CN" dirty="0"/>
              <a:t>large</a:t>
            </a:r>
            <a:r>
              <a:rPr lang="zh-CN" altLang="en-US"/>
              <a:t> </a:t>
            </a:r>
            <a:r>
              <a:rPr lang="en-US" altLang="zh-CN" dirty="0"/>
              <a:t>computing</a:t>
            </a:r>
            <a:r>
              <a:rPr lang="zh-CN" altLang="en-US"/>
              <a:t> </a:t>
            </a:r>
            <a:r>
              <a:rPr lang="en-US" altLang="zh-CN" dirty="0"/>
              <a:t>resources</a:t>
            </a:r>
          </a:p>
          <a:p>
            <a:pPr marL="342900" indent="-342900">
              <a:buFontTx/>
              <a:buAutoNum type="arabicPeriod"/>
            </a:pPr>
            <a:endParaRPr lang="en-US" dirty="0"/>
          </a:p>
          <a:p>
            <a:pPr marL="342900" indent="-342900">
              <a:buFontTx/>
              <a:buAutoNum type="arabicPeriod"/>
            </a:pPr>
            <a:r>
              <a:rPr lang="en-US" dirty="0"/>
              <a:t>generalizability and the robustness of the proposed RAN-NFM</a:t>
            </a:r>
            <a:r>
              <a:rPr lang="en-US" altLang="zh-CN" dirty="0"/>
              <a:t>. (KPI missing, noise, )</a:t>
            </a:r>
            <a:endParaRPr lang="en-US" dirty="0"/>
          </a:p>
          <a:p>
            <a:pPr marL="342900" indent="-342900">
              <a:buFontTx/>
              <a:buAutoNum type="arabicPeriod"/>
            </a:pPr>
            <a:endParaRPr lang="en-US" dirty="0"/>
          </a:p>
        </p:txBody>
      </p:sp>
    </p:spTree>
    <p:extLst>
      <p:ext uri="{BB962C8B-B14F-4D97-AF65-F5344CB8AC3E}">
        <p14:creationId xmlns:p14="http://schemas.microsoft.com/office/powerpoint/2010/main" val="1329936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D9CB04-9286-50D1-1EED-14EF26A579DD}"/>
              </a:ext>
            </a:extLst>
          </p:cNvPr>
          <p:cNvSpPr txBox="1"/>
          <p:nvPr/>
        </p:nvSpPr>
        <p:spPr>
          <a:xfrm>
            <a:off x="195942" y="289679"/>
            <a:ext cx="11190514" cy="3139321"/>
          </a:xfrm>
          <a:prstGeom prst="rect">
            <a:avLst/>
          </a:prstGeom>
          <a:noFill/>
        </p:spPr>
        <p:txBody>
          <a:bodyPr wrap="square" rtlCol="0">
            <a:spAutoFit/>
          </a:bodyPr>
          <a:lstStyle/>
          <a:p>
            <a:r>
              <a:rPr lang="en-US" altLang="zh-CN" dirty="0"/>
              <a:t>Reviewer</a:t>
            </a:r>
            <a:r>
              <a:rPr lang="zh-CN" altLang="en-US" dirty="0"/>
              <a:t> </a:t>
            </a:r>
            <a:r>
              <a:rPr lang="en-US" altLang="zh-CN" dirty="0"/>
              <a:t>d *:</a:t>
            </a:r>
          </a:p>
          <a:p>
            <a:endParaRPr lang="en-US" dirty="0"/>
          </a:p>
          <a:p>
            <a:pPr marL="342900" indent="-342900">
              <a:buFontTx/>
              <a:buAutoNum type="arabicPeriod"/>
            </a:pPr>
            <a:r>
              <a:rPr lang="en-US" dirty="0"/>
              <a:t>Evidence for </a:t>
            </a:r>
            <a:r>
              <a:rPr lang="en-US" dirty="0">
                <a:solidFill>
                  <a:srgbClr val="C00000"/>
                </a:solidFill>
              </a:rPr>
              <a:t>broad task generalization </a:t>
            </a:r>
            <a:r>
              <a:rPr lang="en-US" dirty="0"/>
              <a:t>is limited because the evaluated use cases are both throughput-centric and may not demonstrate transfer to qualitatively different RAN tasks.</a:t>
            </a:r>
          </a:p>
          <a:p>
            <a:pPr marL="342900" indent="-342900">
              <a:buFontTx/>
              <a:buAutoNum type="arabicPeriod"/>
            </a:pPr>
            <a:endParaRPr lang="en-US" dirty="0"/>
          </a:p>
          <a:p>
            <a:pPr marL="342900" indent="-342900">
              <a:buFontTx/>
              <a:buAutoNum type="arabicPeriod"/>
            </a:pPr>
            <a:r>
              <a:rPr lang="en-US" dirty="0"/>
              <a:t>A clearer cost/benefit justification showing </a:t>
            </a:r>
            <a:r>
              <a:rPr lang="en-US" dirty="0">
                <a:solidFill>
                  <a:srgbClr val="C00000"/>
                </a:solidFill>
              </a:rPr>
              <a:t>Pro is needed </a:t>
            </a:r>
            <a:r>
              <a:rPr lang="en-US" dirty="0"/>
              <a:t>and practically deployable and when Core is insufficient. What is the unique challenge in RAN</a:t>
            </a:r>
          </a:p>
          <a:p>
            <a:pPr marL="342900" indent="-342900">
              <a:buFontTx/>
              <a:buAutoNum type="arabicPeriod"/>
            </a:pPr>
            <a:endParaRPr lang="en-US" dirty="0"/>
          </a:p>
          <a:p>
            <a:pPr marL="342900" indent="-342900">
              <a:buFontTx/>
              <a:buAutoNum type="arabicPeriod"/>
            </a:pPr>
            <a:r>
              <a:rPr lang="en-US" dirty="0"/>
              <a:t>what is uniquely RAN-specific about using cross-attention</a:t>
            </a:r>
          </a:p>
          <a:p>
            <a:pPr marL="342900" indent="-342900">
              <a:buFontTx/>
              <a:buAutoNum type="arabicPeriod"/>
            </a:pPr>
            <a:endParaRPr lang="en-US" dirty="0"/>
          </a:p>
          <a:p>
            <a:pPr marL="342900" indent="-342900">
              <a:buFontTx/>
              <a:buAutoNum type="arabicPeriod"/>
            </a:pPr>
            <a:r>
              <a:rPr lang="en-US" dirty="0"/>
              <a:t>Insufficient treatment of data imbalance, noise, missingness, and temporal shift.</a:t>
            </a:r>
          </a:p>
        </p:txBody>
      </p:sp>
    </p:spTree>
    <p:extLst>
      <p:ext uri="{BB962C8B-B14F-4D97-AF65-F5344CB8AC3E}">
        <p14:creationId xmlns:p14="http://schemas.microsoft.com/office/powerpoint/2010/main" val="4161173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7C7D28-FB88-DB3B-6246-EF709D10EC9D}"/>
              </a:ext>
            </a:extLst>
          </p:cNvPr>
          <p:cNvSpPr txBox="1"/>
          <p:nvPr/>
        </p:nvSpPr>
        <p:spPr>
          <a:xfrm>
            <a:off x="195942" y="289679"/>
            <a:ext cx="11190514" cy="1754326"/>
          </a:xfrm>
          <a:prstGeom prst="rect">
            <a:avLst/>
          </a:prstGeom>
          <a:noFill/>
        </p:spPr>
        <p:txBody>
          <a:bodyPr wrap="square" rtlCol="0">
            <a:spAutoFit/>
          </a:bodyPr>
          <a:lstStyle/>
          <a:p>
            <a:r>
              <a:rPr lang="en-US" altLang="zh-CN" dirty="0"/>
              <a:t>Reviewer</a:t>
            </a:r>
            <a:r>
              <a:rPr lang="zh-CN" altLang="en-US"/>
              <a:t> </a:t>
            </a:r>
            <a:r>
              <a:rPr lang="en-US" altLang="zh-CN" dirty="0"/>
              <a:t>e:</a:t>
            </a:r>
          </a:p>
          <a:p>
            <a:endParaRPr lang="en-US" altLang="zh-CN" dirty="0"/>
          </a:p>
          <a:p>
            <a:pPr marL="342900" indent="-342900">
              <a:buAutoNum type="arabicPeriod"/>
            </a:pPr>
            <a:r>
              <a:rPr lang="en-US" altLang="zh-CN" dirty="0"/>
              <a:t>Does all configuration variables needed, why choose these variables? </a:t>
            </a:r>
          </a:p>
          <a:p>
            <a:pPr marL="342900" indent="-342900">
              <a:buAutoNum type="arabicPeriod"/>
            </a:pPr>
            <a:endParaRPr lang="en-US" altLang="zh-CN" dirty="0"/>
          </a:p>
          <a:p>
            <a:pPr marL="342900" indent="-342900">
              <a:buAutoNum type="arabicPeriod"/>
            </a:pPr>
            <a:r>
              <a:rPr lang="en-US" dirty="0"/>
              <a:t>The field study is underspecified, especially whether the system actually changed production configurations and measured real outcomes or only made predictions on production data.</a:t>
            </a:r>
            <a:r>
              <a:rPr lang="en-US" altLang="zh-CN" dirty="0"/>
              <a:t> </a:t>
            </a:r>
          </a:p>
        </p:txBody>
      </p:sp>
    </p:spTree>
    <p:extLst>
      <p:ext uri="{BB962C8B-B14F-4D97-AF65-F5344CB8AC3E}">
        <p14:creationId xmlns:p14="http://schemas.microsoft.com/office/powerpoint/2010/main" val="4167117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4681</TotalTime>
  <Words>993</Words>
  <Application>Microsoft Macintosh PowerPoint</Application>
  <PresentationFormat>Widescreen</PresentationFormat>
  <Paragraphs>128</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Review Digest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Zheng, Xinyue</dc:creator>
  <cp:lastModifiedBy>Zheng, Xinyue</cp:lastModifiedBy>
  <cp:revision>4</cp:revision>
  <dcterms:created xsi:type="dcterms:W3CDTF">2026-04-27T18:59:48Z</dcterms:created>
  <dcterms:modified xsi:type="dcterms:W3CDTF">2026-07-30T18:19:38Z</dcterms:modified>
</cp:coreProperties>
</file>