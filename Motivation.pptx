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RRC (k)</c:v>
                </c:pt>
              </c:strCache>
            </c:strRef>
          </c:tx>
          <c:spPr>
            <a:solidFill>
              <a:srgbClr val="1D4ED8"/>
            </a:solidFill>
            <a:ln w="25400" cap="flat">
              <a:solidFill>
                <a:srgbClr val="1D4ED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00:00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06:00</c:v>
                  </c:pt>
                  <c:pt idx="5">
                    <c:v/>
                  </c:pt>
                  <c:pt idx="6">
                    <c:v/>
                  </c:pt>
                  <c:pt idx="7">
                    <c:v>12:00</c:v>
                  </c:pt>
                  <c:pt idx="8">
                    <c:v/>
                  </c:pt>
                  <c:pt idx="9">
                    <c:v/>
                  </c:pt>
                  <c:pt idx="10">
                    <c:v>18:00</c:v>
                  </c:pt>
                  <c:pt idx="11">
                    <c:v/>
                  </c:pt>
                  <c:pt idx="12">
                    <c:v/>
                  </c:pt>
                  <c:pt idx="13">
                    <c:v>24:00</c:v>
                  </c:pt>
                  <c:pt idx="14">
                    <c:v/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30</c:v>
                </c:pt>
                <c:pt idx="1">
                  <c:v>40</c:v>
                </c:pt>
                <c:pt idx="2">
                  <c:v>35</c:v>
                </c:pt>
                <c:pt idx="3">
                  <c:v>50</c:v>
                </c:pt>
                <c:pt idx="4">
                  <c:v>45</c:v>
                </c:pt>
                <c:pt idx="5">
                  <c:v>65</c:v>
                </c:pt>
                <c:pt idx="6">
                  <c:v>90</c:v>
                </c:pt>
                <c:pt idx="7">
                  <c:v>75</c:v>
                </c:pt>
                <c:pt idx="8">
                  <c:v>60</c:v>
                </c:pt>
                <c:pt idx="9">
                  <c:v>95</c:v>
                </c:pt>
                <c:pt idx="10">
                  <c:v>105</c:v>
                </c:pt>
                <c:pt idx="11">
                  <c:v>100</c:v>
                </c:pt>
                <c:pt idx="12">
                  <c:v>80</c:v>
                </c:pt>
                <c:pt idx="13">
                  <c:v>70</c:v>
                </c:pt>
                <c:pt idx="14">
                  <c:v>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E5E9F0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280"/>
                    </a:solidFill>
                    <a:latin typeface="Arial"/>
                  </a:rPr>
                  <a:t>RRC (k)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 (%)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38</c:v>
                </c:pt>
                <c:pt idx="1">
                  <c:v>42</c:v>
                </c:pt>
                <c:pt idx="2">
                  <c:v>30</c:v>
                </c:pt>
                <c:pt idx="3">
                  <c:v>55</c:v>
                </c:pt>
                <c:pt idx="4">
                  <c:v>35</c:v>
                </c:pt>
                <c:pt idx="5">
                  <c:v>60</c:v>
                </c:pt>
                <c:pt idx="6">
                  <c:v>45</c:v>
                </c:pt>
                <c:pt idx="7">
                  <c:v>58</c:v>
                </c:pt>
                <c:pt idx="8">
                  <c:v>40</c:v>
                </c:pt>
                <c:pt idx="9">
                  <c:v>72</c:v>
                </c:pt>
                <c:pt idx="10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5E9F0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280"/>
                    </a:solidFill>
                    <a:latin typeface="Arial"/>
                  </a:rPr>
                  <a:t>Utilization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1-1.png"/><Relationship Id="rId4" Type="http://schemas.openxmlformats.org/officeDocument/2006/relationships/image" Target="../media/image-1-2.png"/><Relationship Id="rId5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646920" y="292608"/>
            <a:ext cx="2148840" cy="365760"/>
          </a:xfrm>
          <a:prstGeom prst="roundRect">
            <a:avLst>
              <a:gd name="adj" fmla="val 20000"/>
            </a:avLst>
          </a:prstGeom>
          <a:solidFill>
            <a:srgbClr val="F5F7FB"/>
          </a:solidFill>
          <a:ln w="12700">
            <a:solidFill>
              <a:srgbClr val="C7D2E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46920" y="29260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/ Future Text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84280" cy="0"/>
          </a:xfrm>
          <a:prstGeom prst="line">
            <a:avLst/>
          </a:prstGeom>
          <a:noFill/>
          <a:ln w="19050">
            <a:solidFill>
              <a:srgbClr val="2255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" y="905256"/>
            <a:ext cx="109728" cy="109728"/>
          </a:xfrm>
          <a:prstGeom prst="ellipse">
            <a:avLst/>
          </a:prstGeom>
          <a:solidFill>
            <a:srgbClr val="2255C4"/>
          </a:solidFill>
          <a:ln/>
        </p:spPr>
      </p:sp>
      <p:sp>
        <p:nvSpPr>
          <p:cNvPr id="7" name="Shape 5"/>
          <p:cNvSpPr/>
          <p:nvPr/>
        </p:nvSpPr>
        <p:spPr>
          <a:xfrm>
            <a:off x="411480" y="6510528"/>
            <a:ext cx="11064240" cy="0"/>
          </a:xfrm>
          <a:prstGeom prst="line">
            <a:avLst/>
          </a:prstGeom>
          <a:noFill/>
          <a:ln w="19050">
            <a:solidFill>
              <a:srgbClr val="2255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03152" y="6400800"/>
            <a:ext cx="256032" cy="256032"/>
          </a:xfrm>
          <a:prstGeom prst="ellipse">
            <a:avLst/>
          </a:prstGeom>
          <a:solidFill>
            <a:srgbClr val="2255C4"/>
          </a:solidFill>
          <a:ln/>
        </p:spPr>
      </p:sp>
      <p:sp>
        <p:nvSpPr>
          <p:cNvPr id="9" name="Text 7"/>
          <p:cNvSpPr/>
          <p:nvPr/>
        </p:nvSpPr>
        <p:spPr>
          <a:xfrm>
            <a:off x="11503152" y="6400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234440"/>
            <a:ext cx="324612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5875">
            <a:solidFill>
              <a:srgbClr val="2255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34440"/>
            <a:ext cx="3246120" cy="3840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2344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/ RSRP Map</a:t>
            </a:r>
            <a:endParaRPr lang="en-US" sz="1400" dirty="0"/>
          </a:p>
        </p:txBody>
      </p:sp>
      <p:pic>
        <p:nvPicPr>
          <p:cNvPr id="13" name="Image 0" descr="/home/claude/imgs/coverag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73352"/>
            <a:ext cx="3099816" cy="1197864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114800" y="1234440"/>
            <a:ext cx="324612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5875">
            <a:solidFill>
              <a:srgbClr val="2255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14800" y="1234440"/>
            <a:ext cx="3246120" cy="3840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3"/>
          <p:cNvSpPr/>
          <p:nvPr/>
        </p:nvSpPr>
        <p:spPr>
          <a:xfrm>
            <a:off x="4114800" y="12344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/ RRC</a:t>
            </a:r>
            <a:endParaRPr lang="en-US" sz="1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87952" y="1636776"/>
          <a:ext cx="3099816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7680960" y="1234440"/>
            <a:ext cx="324612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5875">
            <a:solidFill>
              <a:srgbClr val="2255C4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680960" y="1234440"/>
            <a:ext cx="3246120" cy="3840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6"/>
          <p:cNvSpPr/>
          <p:nvPr/>
        </p:nvSpPr>
        <p:spPr>
          <a:xfrm>
            <a:off x="7680960" y="12344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PRB Utilization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7754112" y="1636776"/>
          <a:ext cx="3099816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Shape 17"/>
          <p:cNvSpPr/>
          <p:nvPr/>
        </p:nvSpPr>
        <p:spPr>
          <a:xfrm>
            <a:off x="548640" y="3977640"/>
            <a:ext cx="324612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5875">
            <a:solidFill>
              <a:srgbClr val="2255C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977640"/>
            <a:ext cx="3246120" cy="3840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19"/>
          <p:cNvSpPr/>
          <p:nvPr/>
        </p:nvSpPr>
        <p:spPr>
          <a:xfrm>
            <a:off x="548640" y="3977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Density</a:t>
            </a:r>
            <a:endParaRPr lang="en-US" sz="1400" dirty="0"/>
          </a:p>
        </p:txBody>
      </p:sp>
      <p:pic>
        <p:nvPicPr>
          <p:cNvPr id="25" name="Image 1" descr="/home/claude/imgs/population_den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16552"/>
            <a:ext cx="3099816" cy="1197864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680960" y="3977640"/>
            <a:ext cx="324612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5875">
            <a:solidFill>
              <a:srgbClr val="2255C4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680960" y="3977640"/>
            <a:ext cx="3246120" cy="3840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8" name="Text 22"/>
          <p:cNvSpPr/>
          <p:nvPr/>
        </p:nvSpPr>
        <p:spPr>
          <a:xfrm>
            <a:off x="7680960" y="397764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Region Features</a:t>
            </a:r>
            <a:endParaRPr lang="en-US" sz="1400" dirty="0"/>
          </a:p>
        </p:txBody>
      </p:sp>
      <p:pic>
        <p:nvPicPr>
          <p:cNvPr id="29" name="Image 2" descr="/home/claude/imgs/osm_m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4112" y="4416552"/>
            <a:ext cx="3099816" cy="1197864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297680" y="397764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1B2A6B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500116" y="4197096"/>
            <a:ext cx="402336" cy="402336"/>
          </a:xfrm>
          <a:prstGeom prst="ellipse">
            <a:avLst/>
          </a:prstGeom>
          <a:ln w="38100">
            <a:solidFill>
              <a:srgbClr val="FFFF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618988" y="4389120"/>
            <a:ext cx="64008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26"/>
          <p:cNvSpPr/>
          <p:nvPr/>
        </p:nvSpPr>
        <p:spPr>
          <a:xfrm>
            <a:off x="5705856" y="4315968"/>
            <a:ext cx="64008" cy="210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27"/>
          <p:cNvSpPr/>
          <p:nvPr/>
        </p:nvSpPr>
        <p:spPr>
          <a:xfrm>
            <a:off x="5792724" y="4425696"/>
            <a:ext cx="64008" cy="1005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28"/>
          <p:cNvSpPr/>
          <p:nvPr/>
        </p:nvSpPr>
        <p:spPr>
          <a:xfrm>
            <a:off x="5875020" y="4572000"/>
            <a:ext cx="219456" cy="219456"/>
          </a:xfrm>
          <a:prstGeom prst="line">
            <a:avLst/>
          </a:prstGeom>
          <a:noFill/>
          <a:ln w="50800">
            <a:solidFill>
              <a:srgbClr val="FFFFFF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4297680" y="48463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Outage Impact</a:t>
            </a:r>
            <a:endParaRPr lang="en-US" sz="19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900" dirty="0"/>
          </a:p>
        </p:txBody>
      </p:sp>
      <p:sp>
        <p:nvSpPr>
          <p:cNvPr id="37" name="Shape 30"/>
          <p:cNvSpPr/>
          <p:nvPr/>
        </p:nvSpPr>
        <p:spPr>
          <a:xfrm>
            <a:off x="3520440" y="2926080"/>
            <a:ext cx="914400" cy="105156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38" name="Shape 31"/>
          <p:cNvSpPr/>
          <p:nvPr/>
        </p:nvSpPr>
        <p:spPr>
          <a:xfrm>
            <a:off x="5737860" y="2926080"/>
            <a:ext cx="0" cy="105156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39" name="Shape 32"/>
          <p:cNvSpPr/>
          <p:nvPr/>
        </p:nvSpPr>
        <p:spPr>
          <a:xfrm flipH="1">
            <a:off x="7040880" y="2926080"/>
            <a:ext cx="914400" cy="105156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3794760" y="4823460"/>
            <a:ext cx="502920" cy="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41" name="Shape 34"/>
          <p:cNvSpPr/>
          <p:nvPr/>
        </p:nvSpPr>
        <p:spPr>
          <a:xfrm>
            <a:off x="7178040" y="4823460"/>
            <a:ext cx="502920" cy="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42" name="Shape 35"/>
          <p:cNvSpPr/>
          <p:nvPr/>
        </p:nvSpPr>
        <p:spPr>
          <a:xfrm>
            <a:off x="2103120" y="5806440"/>
            <a:ext cx="7955280" cy="566928"/>
          </a:xfrm>
          <a:prstGeom prst="roundRect">
            <a:avLst>
              <a:gd name="adj" fmla="val 16129"/>
            </a:avLst>
          </a:prstGeom>
          <a:solidFill>
            <a:srgbClr val="EAF0FB"/>
          </a:solidFill>
          <a:ln w="12700">
            <a:solidFill>
              <a:srgbClr val="D3E0F5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2331720" y="5897880"/>
            <a:ext cx="384048" cy="38404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44" name="Shape 37"/>
          <p:cNvSpPr/>
          <p:nvPr/>
        </p:nvSpPr>
        <p:spPr>
          <a:xfrm>
            <a:off x="2441448" y="5952744"/>
            <a:ext cx="164592" cy="164592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2478024" y="6121908"/>
            <a:ext cx="914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2487168" y="6163056"/>
            <a:ext cx="73152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0"/>
          <p:cNvSpPr/>
          <p:nvPr/>
        </p:nvSpPr>
        <p:spPr>
          <a:xfrm>
            <a:off x="2523744" y="5980176"/>
            <a:ext cx="0" cy="13716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2926080" y="5806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data source is sufficient.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2026-07-31T03:47:14Z</dcterms:created>
  <dcterms:modified xsi:type="dcterms:W3CDTF">2026-07-31T03:47:14Z</dcterms:modified>
</cp:coreProperties>
</file>