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7" r:id="rId6"/>
    <p:sldId id="260" r:id="rId7"/>
    <p:sldId id="265" r:id="rId8"/>
    <p:sldId id="266" r:id="rId9"/>
    <p:sldId id="261" r:id="rId10"/>
    <p:sldId id="262" r:id="rId11"/>
    <p:sldId id="263" r:id="rId12"/>
    <p:sldId id="264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76857"/>
  </p:normalViewPr>
  <p:slideViewPr>
    <p:cSldViewPr snapToGrid="0" snapToObjects="1">
      <p:cViewPr varScale="1">
        <p:scale>
          <a:sx n="92" d="100"/>
          <a:sy n="92" d="100"/>
        </p:scale>
        <p:origin x="15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1649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Online mode: </a:t>
            </a:r>
          </a:p>
          <a:p>
            <a:r>
              <a:rPr lang="en-US" dirty="0"/>
              <a:t>Input: query: USID, outage </a:t>
            </a:r>
            <a:r>
              <a:rPr lang="en-US" dirty="0" err="1"/>
              <a:t>time_bin</a:t>
            </a:r>
            <a:r>
              <a:rPr lang="en-US" dirty="0"/>
              <a:t>, outage cell</a:t>
            </a:r>
          </a:p>
          <a:p>
            <a:r>
              <a:rPr lang="en-US" dirty="0"/>
              <a:t>Coverage: Rhea </a:t>
            </a:r>
            <a:r>
              <a:rPr lang="en-US" dirty="0" err="1"/>
              <a:t>api</a:t>
            </a:r>
            <a:r>
              <a:rPr lang="en-US" dirty="0"/>
              <a:t> (Cost function)</a:t>
            </a:r>
          </a:p>
          <a:p>
            <a:r>
              <a:rPr lang="en-US" dirty="0"/>
              <a:t>Todo: KPI database study, define the constrains, and the Cost function</a:t>
            </a:r>
          </a:p>
          <a:p>
            <a:endParaRPr lang="en-US" dirty="0"/>
          </a:p>
          <a:p>
            <a:r>
              <a:rPr lang="en-US" dirty="0"/>
              <a:t>Output: 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200" dirty="0">
                <a:solidFill>
                  <a:srgbClr val="C00000"/>
                </a:solidFill>
              </a:rPr>
              <a:t>User average loss (no service)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200" dirty="0">
                <a:solidFill>
                  <a:srgbClr val="C00000"/>
                </a:solidFill>
              </a:rPr>
              <a:t>User degrade (UE throughput)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200" dirty="0">
                <a:solidFill>
                  <a:srgbClr val="C00000"/>
                </a:solidFill>
              </a:rPr>
              <a:t>KPI distribution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Offline mode: </a:t>
            </a:r>
          </a:p>
          <a:p>
            <a:r>
              <a:rPr lang="en-US" dirty="0"/>
              <a:t>Ground truth: the only ground truth is KPI data.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AI: adaptively work on KPI selection and query.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21C10-77BB-5B2A-27F4-4B913E059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FA7E26-36F9-5D2E-336F-7CB6417766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46690B-4E9D-254F-4811-E5CF81A932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Online mode: </a:t>
            </a:r>
          </a:p>
          <a:p>
            <a:r>
              <a:rPr lang="en-US" dirty="0"/>
              <a:t>Input: query: USID, outage </a:t>
            </a:r>
            <a:r>
              <a:rPr lang="en-US" dirty="0" err="1"/>
              <a:t>time_bin</a:t>
            </a:r>
            <a:r>
              <a:rPr lang="en-US" dirty="0"/>
              <a:t>, outage cell</a:t>
            </a:r>
          </a:p>
          <a:p>
            <a:r>
              <a:rPr lang="en-US" dirty="0"/>
              <a:t>Coverage: Rhea </a:t>
            </a:r>
            <a:r>
              <a:rPr lang="en-US" dirty="0" err="1"/>
              <a:t>api</a:t>
            </a:r>
            <a:r>
              <a:rPr lang="en-US" dirty="0"/>
              <a:t> (Cost function)</a:t>
            </a:r>
          </a:p>
          <a:p>
            <a:r>
              <a:rPr lang="en-US" dirty="0"/>
              <a:t>Todo: KPI database study, define the constrains, and the Cost function (need to define the cost function and the )</a:t>
            </a:r>
          </a:p>
          <a:p>
            <a:endParaRPr lang="en-US" dirty="0"/>
          </a:p>
          <a:p>
            <a:r>
              <a:rPr lang="en-US" dirty="0"/>
              <a:t>Output: 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200" dirty="0">
                <a:solidFill>
                  <a:srgbClr val="C00000"/>
                </a:solidFill>
              </a:rPr>
              <a:t>User average loss (no service)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200" dirty="0">
                <a:solidFill>
                  <a:srgbClr val="C00000"/>
                </a:solidFill>
              </a:rPr>
              <a:t>User degrade (UE throughput)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200" dirty="0">
                <a:solidFill>
                  <a:srgbClr val="C00000"/>
                </a:solidFill>
              </a:rPr>
              <a:t>KPI distribution</a:t>
            </a:r>
          </a:p>
          <a:p>
            <a:endParaRPr lang="en-US" dirty="0"/>
          </a:p>
          <a:p>
            <a:r>
              <a:rPr lang="en-US" altLang="zh-CN" dirty="0"/>
              <a:t>User</a:t>
            </a:r>
            <a:r>
              <a:rPr lang="zh-CN" altLang="en-US" dirty="0"/>
              <a:t>： 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Offline mode: </a:t>
            </a:r>
          </a:p>
          <a:p>
            <a:r>
              <a:rPr lang="en-US" dirty="0"/>
              <a:t>Ground truth: the only ground truth is KPI data.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AI: adaptively work on KPI selection and query.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18D4AD-8144-8B2F-1059-6E0F9206AA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0826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9141B-A1EA-C28C-1E9F-611A05F67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130285-1FC0-3E90-49C0-2F7AA584BA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55EE42-2FF2-468D-7928-984F656DC9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459E8-E145-EF98-CE55-0D9B4760DB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2687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2C7DC-39D6-04C8-0D0D-6AB77A9F1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793C89-80F4-32AA-5AB5-BFA01329CD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77ED9A-35B4-8182-BD53-85F9A8E34E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744AB3-7766-6DB1-A0B0-A5E5D00FAB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2653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6E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1874520"/>
            <a:ext cx="457200" cy="118872"/>
          </a:xfrm>
          <a:prstGeom prst="rect">
            <a:avLst/>
          </a:prstGeom>
          <a:solidFill>
            <a:srgbClr val="2F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89888" y="1874520"/>
            <a:ext cx="457200" cy="118872"/>
          </a:xfrm>
          <a:prstGeom prst="rect">
            <a:avLst/>
          </a:prstGeom>
          <a:solidFill>
            <a:srgbClr val="5A7F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938528" y="1874520"/>
            <a:ext cx="457200" cy="118872"/>
          </a:xfrm>
          <a:prstGeom prst="rect">
            <a:avLst/>
          </a:prstGeom>
          <a:solidFill>
            <a:srgbClr val="5FB7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487168" y="1874520"/>
            <a:ext cx="457200" cy="118872"/>
          </a:xfrm>
          <a:prstGeom prst="rect">
            <a:avLst/>
          </a:prstGeom>
          <a:solidFill>
            <a:srgbClr val="E0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Station Outage —</a:t>
            </a:r>
            <a:endParaRPr lang="en-US" sz="4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Impact Analysis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41248" y="3977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A9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Progress Update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41248" y="5897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FB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advisor meeting     ·     [Your name]     ·     [Date]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6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solidFill>
            <a:srgbClr val="EB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2296" cy="914400"/>
          </a:xfrm>
          <a:prstGeom prst="rect">
            <a:avLst/>
          </a:prstGeom>
          <a:solidFill>
            <a:srgbClr val="1B8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1623060"/>
            <a:ext cx="502920" cy="502920"/>
          </a:xfrm>
          <a:prstGeom prst="ellipse">
            <a:avLst/>
          </a:prstGeom>
          <a:solidFill>
            <a:srgbClr val="1B8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6230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1417320"/>
            <a:ext cx="9902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B8A7A"/>
                </a:solidFill>
              </a:rPr>
              <a:t>Last Week</a:t>
            </a:r>
            <a:endParaRPr lang="en-US" sz="15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2B2B2B"/>
                </a:solidFill>
              </a:rPr>
              <a:t>Recap of the direction given and what came out of it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96312"/>
            <a:ext cx="11091672" cy="914400"/>
          </a:xfrm>
          <a:prstGeom prst="rect">
            <a:avLst/>
          </a:prstGeom>
          <a:solidFill>
            <a:srgbClr val="EB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2496312"/>
            <a:ext cx="82296" cy="914400"/>
          </a:xfrm>
          <a:prstGeom prst="rect">
            <a:avLst/>
          </a:prstGeom>
          <a:solidFill>
            <a:srgbClr val="2A4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22960" y="2702052"/>
            <a:ext cx="502920" cy="502920"/>
          </a:xfrm>
          <a:prstGeom prst="ellipse">
            <a:avLst/>
          </a:prstGeom>
          <a:solidFill>
            <a:srgbClr val="2A4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27020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2496312"/>
            <a:ext cx="9902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A4F8C"/>
                </a:solidFill>
              </a:rPr>
              <a:t>Research Plan</a:t>
            </a:r>
            <a:endParaRPr lang="en-US" sz="15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2B2B2B"/>
                </a:solidFill>
              </a:rPr>
              <a:t>Problem framing + phase-by-phase detail: Miss match in ground truth label, and the outage analysis output determine 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575304"/>
            <a:ext cx="11091672" cy="914400"/>
          </a:xfrm>
          <a:prstGeom prst="rect">
            <a:avLst/>
          </a:prstGeom>
          <a:solidFill>
            <a:srgbClr val="EB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3575304"/>
            <a:ext cx="82296" cy="914400"/>
          </a:xfrm>
          <a:prstGeom prst="rect">
            <a:avLst/>
          </a:prstGeom>
          <a:solidFill>
            <a:srgbClr val="1A6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22960" y="3781044"/>
            <a:ext cx="502920" cy="502920"/>
          </a:xfrm>
          <a:prstGeom prst="ellipse">
            <a:avLst/>
          </a:prstGeom>
          <a:solidFill>
            <a:srgbClr val="1A6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37810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3575304"/>
            <a:ext cx="9902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6B3C"/>
                </a:solidFill>
              </a:rPr>
              <a:t>This Week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2B2B2B"/>
                </a:solidFill>
              </a:rPr>
              <a:t>Finish ticket data distribution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654296"/>
            <a:ext cx="11091672" cy="914400"/>
          </a:xfrm>
          <a:prstGeom prst="rect">
            <a:avLst/>
          </a:prstGeom>
          <a:solidFill>
            <a:srgbClr val="EB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4654296"/>
            <a:ext cx="82296" cy="914400"/>
          </a:xfrm>
          <a:prstGeom prst="rect">
            <a:avLst/>
          </a:prstGeom>
          <a:solidFill>
            <a:srgbClr val="8C6E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22960" y="4860036"/>
            <a:ext cx="502920" cy="502920"/>
          </a:xfrm>
          <a:prstGeom prst="ellipse">
            <a:avLst/>
          </a:prstGeom>
          <a:solidFill>
            <a:srgbClr val="8C6E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" y="48600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54480" y="4654296"/>
            <a:ext cx="9902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8C6E1A"/>
                </a:solidFill>
              </a:rPr>
              <a:t>Next Steps</a:t>
            </a:r>
            <a:endParaRPr lang="en-US" sz="15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2B2B2B"/>
                </a:solidFill>
              </a:rPr>
              <a:t>Focus for the coming week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6455664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E6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Station Outage — User Impact Analysis  ·  Weekly Progress Update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6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Week — Recap &amp; Direction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486400" cy="457200"/>
          </a:xfrm>
          <a:prstGeom prst="rect">
            <a:avLst/>
          </a:prstGeom>
          <a:solidFill>
            <a:srgbClr val="1B8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3232" y="1280160"/>
            <a:ext cx="5175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From Last Week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486400" cy="1325880"/>
          </a:xfrm>
          <a:prstGeom prst="rect">
            <a:avLst/>
          </a:prstGeom>
          <a:solidFill>
            <a:srgbClr val="EB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82296" cy="1325880"/>
          </a:xfrm>
          <a:prstGeom prst="rect">
            <a:avLst/>
          </a:prstGeom>
          <a:solidFill>
            <a:srgbClr val="1B8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2960" y="2286000"/>
            <a:ext cx="502920" cy="502920"/>
          </a:xfrm>
          <a:prstGeom prst="ellipse">
            <a:avLst/>
          </a:prstGeom>
          <a:solidFill>
            <a:srgbClr val="1B8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1874520"/>
            <a:ext cx="4297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8A7A"/>
                </a:solidFill>
              </a:rPr>
              <a:t>Dive into the data</a:t>
            </a:r>
            <a:endParaRPr lang="en-US" sz="14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2B2B2B"/>
                </a:solidFill>
              </a:rPr>
              <a:t>Explore the KPI, coverage, ticket and attribute sources first-hand to understand their real structure, gaps and quirks.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5486400" cy="1325880"/>
          </a:xfrm>
          <a:prstGeom prst="rect">
            <a:avLst/>
          </a:prstGeom>
          <a:solidFill>
            <a:srgbClr val="EB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82296" cy="1325880"/>
          </a:xfrm>
          <a:prstGeom prst="rect">
            <a:avLst/>
          </a:prstGeom>
          <a:solidFill>
            <a:srgbClr val="2A4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2960" y="3749040"/>
            <a:ext cx="502920" cy="502920"/>
          </a:xfrm>
          <a:prstGeom prst="ellipse">
            <a:avLst/>
          </a:prstGeom>
          <a:solidFill>
            <a:srgbClr val="2A4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337560"/>
            <a:ext cx="4297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A4F8C"/>
                </a:solidFill>
              </a:rPr>
              <a:t>Frame the problem</a:t>
            </a:r>
            <a:endParaRPr lang="en-US" sz="14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2B2B2B"/>
                </a:solidFill>
              </a:rPr>
              <a:t>Work out how to approach and solve outage user-impact estimation end to end, before building agentic</a:t>
            </a:r>
            <a:r>
              <a:rPr lang="zh-CN" altLang="en-US" sz="1150" dirty="0">
                <a:solidFill>
                  <a:srgbClr val="2B2B2B"/>
                </a:solidFill>
              </a:rPr>
              <a:t> </a:t>
            </a:r>
            <a:r>
              <a:rPr lang="en-US" altLang="zh-CN" sz="1150" dirty="0">
                <a:solidFill>
                  <a:srgbClr val="2B2B2B"/>
                </a:solidFill>
              </a:rPr>
              <a:t>system</a:t>
            </a:r>
            <a:r>
              <a:rPr lang="en-US" sz="1150" dirty="0">
                <a:solidFill>
                  <a:srgbClr val="2B2B2B"/>
                </a:solidFill>
              </a:rPr>
              <a:t>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1280160"/>
            <a:ext cx="5330952" cy="457200"/>
          </a:xfrm>
          <a:prstGeom prst="rect">
            <a:avLst/>
          </a:prstGeom>
          <a:solidFill>
            <a:srgbClr val="1A6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73952" y="1280160"/>
            <a:ext cx="5020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Landed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09360" y="1737360"/>
            <a:ext cx="533095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37960" y="1920240"/>
            <a:ext cx="4892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B2B2B"/>
                </a:solidFill>
              </a:rPr>
              <a:t>The exploration was turned into a concrete, phased research plan (v3):</a:t>
            </a:r>
            <a:endParaRPr lang="en-US" sz="1300" dirty="0"/>
          </a:p>
          <a:p>
            <a:pPr marL="177800" indent="-177800" algn="l"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</a:rPr>
              <a:t>Clear input → output definition</a:t>
            </a:r>
            <a:endParaRPr lang="en-US" sz="1300" dirty="0"/>
          </a:p>
          <a:p>
            <a:pPr marL="177800" indent="-177800" algn="l"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</a:rPr>
              <a:t>Data inventory across all four sources</a:t>
            </a:r>
            <a:endParaRPr lang="en-US" sz="1300" dirty="0"/>
          </a:p>
          <a:p>
            <a:pPr marL="177800" indent="-177800" algn="l"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</a:rPr>
              <a:t>Risk register for known data pitfalls</a:t>
            </a:r>
            <a:endParaRPr lang="en-US" sz="1300" dirty="0"/>
          </a:p>
          <a:p>
            <a:pPr marL="177800" indent="-177800" algn="l"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</a:rPr>
              <a:t>A 5-phase plan (Phase 0 → Phase 4)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55664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E6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Station Outage — User Impact Analysis  ·  Weekly Progress Update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6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Plan — Problem Framing &amp; Roadmap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394960" cy="457200"/>
          </a:xfrm>
          <a:prstGeom prst="rect">
            <a:avLst/>
          </a:prstGeom>
          <a:solidFill>
            <a:srgbClr val="1B8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3232" y="1234440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Framing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794144"/>
            <a:ext cx="5394960" cy="1927964"/>
          </a:xfrm>
          <a:prstGeom prst="rect">
            <a:avLst/>
          </a:prstGeom>
          <a:solidFill>
            <a:srgbClr val="EB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794143"/>
            <a:ext cx="64008" cy="1927964"/>
          </a:xfrm>
          <a:prstGeom prst="rect">
            <a:avLst/>
          </a:prstGeom>
          <a:solidFill>
            <a:srgbClr val="1B8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4672" y="2322576"/>
            <a:ext cx="5138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B8A7A"/>
                </a:solidFill>
              </a:rPr>
              <a:t>Input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200" dirty="0">
                <a:solidFill>
                  <a:srgbClr val="2B2B2B"/>
                </a:solidFill>
              </a:rPr>
              <a:t>query: USID, planned time duration, full outage/partial outage 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200" dirty="0">
                <a:solidFill>
                  <a:srgbClr val="2B2B2B"/>
                </a:solidFill>
              </a:rPr>
              <a:t>KPI: 15 min data, cell level (</a:t>
            </a:r>
            <a:r>
              <a:rPr lang="en-US" sz="1200" dirty="0" err="1">
                <a:solidFill>
                  <a:srgbClr val="2B2B2B"/>
                </a:solidFill>
              </a:rPr>
              <a:t>RRCConnect</a:t>
            </a:r>
            <a:r>
              <a:rPr lang="en-US" sz="1200" dirty="0">
                <a:solidFill>
                  <a:srgbClr val="2B2B2B"/>
                </a:solidFill>
              </a:rPr>
              <a:t>, </a:t>
            </a:r>
            <a:r>
              <a:rPr lang="en-US" sz="1200" dirty="0" err="1">
                <a:solidFill>
                  <a:srgbClr val="2B2B2B"/>
                </a:solidFill>
              </a:rPr>
              <a:t>PRBUtilization</a:t>
            </a:r>
            <a:r>
              <a:rPr lang="en-US" sz="1200" dirty="0">
                <a:solidFill>
                  <a:srgbClr val="2B2B2B"/>
                </a:solidFill>
              </a:rPr>
              <a:t>, Throughput, Volume, +)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200" dirty="0">
                <a:solidFill>
                  <a:srgbClr val="C00000"/>
                </a:solidFill>
              </a:rPr>
              <a:t>KPI database: require background and selection policy. Trade-off for query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200" dirty="0">
                <a:solidFill>
                  <a:srgbClr val="2B2B2B"/>
                </a:solidFill>
              </a:rPr>
              <a:t>Coverage: Rhea </a:t>
            </a:r>
            <a:r>
              <a:rPr lang="en-US" sz="1200" dirty="0" err="1">
                <a:solidFill>
                  <a:srgbClr val="2B2B2B"/>
                </a:solidFill>
              </a:rPr>
              <a:t>api</a:t>
            </a:r>
            <a:r>
              <a:rPr lang="en-US" sz="1200" dirty="0">
                <a:solidFill>
                  <a:srgbClr val="2B2B2B"/>
                </a:solidFill>
              </a:rPr>
              <a:t>: constrain (limited search round)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200" dirty="0">
                <a:solidFill>
                  <a:srgbClr val="2B2B2B"/>
                </a:solidFill>
              </a:rPr>
              <a:t>Attribute data: Frequency band, location, technology, Area type (Rural/suburban/urban)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200" dirty="0">
                <a:solidFill>
                  <a:srgbClr val="C00000"/>
                </a:solidFill>
              </a:rPr>
              <a:t>Cost function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200" dirty="0">
                <a:solidFill>
                  <a:srgbClr val="2B2B2B"/>
                </a:solidFill>
              </a:rPr>
              <a:t>Ground truth label: severity level</a:t>
            </a:r>
          </a:p>
          <a:p>
            <a:pPr marL="0" indent="0" algn="l">
              <a:spcAft>
                <a:spcPts val="200"/>
              </a:spcAft>
              <a:buNone/>
            </a:pP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537630"/>
            <a:ext cx="5394960" cy="1578549"/>
          </a:xfrm>
          <a:prstGeom prst="rect">
            <a:avLst/>
          </a:prstGeom>
          <a:solidFill>
            <a:srgbClr val="EB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4557128"/>
            <a:ext cx="82296" cy="1540764"/>
          </a:xfrm>
          <a:prstGeom prst="rect">
            <a:avLst/>
          </a:prstGeom>
          <a:solidFill>
            <a:srgbClr val="2A4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3232" y="4752831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A4F8C"/>
                </a:solidFill>
              </a:rPr>
              <a:t>Reasoning process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200" dirty="0">
                <a:solidFill>
                  <a:srgbClr val="2B2B2B"/>
                </a:solidFill>
              </a:rPr>
              <a:t>Coverage hole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200" dirty="0">
                <a:solidFill>
                  <a:srgbClr val="2B2B2B"/>
                </a:solidFill>
              </a:rPr>
              <a:t>Back-up neighbor absorption fraction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200" dirty="0">
                <a:solidFill>
                  <a:srgbClr val="2B2B2B"/>
                </a:solidFill>
              </a:rPr>
              <a:t>Service degrade based on </a:t>
            </a:r>
            <a:r>
              <a:rPr lang="en-US" sz="1200" dirty="0" err="1">
                <a:solidFill>
                  <a:srgbClr val="2B2B2B"/>
                </a:solidFill>
              </a:rPr>
              <a:t>rsrp</a:t>
            </a:r>
            <a:endParaRPr lang="en-US" sz="1200" dirty="0">
              <a:solidFill>
                <a:srgbClr val="2B2B2B"/>
              </a:solidFill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US" sz="1200" dirty="0">
                <a:solidFill>
                  <a:srgbClr val="2B2B2B"/>
                </a:solidFill>
              </a:rPr>
              <a:t>Congestion analysis based on </a:t>
            </a:r>
            <a:r>
              <a:rPr lang="en-US" sz="1200" dirty="0" err="1">
                <a:solidFill>
                  <a:srgbClr val="2B2B2B"/>
                </a:solidFill>
              </a:rPr>
              <a:t>PRButilization</a:t>
            </a:r>
            <a:endParaRPr lang="en-US" sz="1200" dirty="0">
              <a:solidFill>
                <a:srgbClr val="2B2B2B"/>
              </a:solidFill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US" sz="1200" dirty="0">
                <a:solidFill>
                  <a:srgbClr val="2B2B2B"/>
                </a:solidFill>
              </a:rPr>
              <a:t>Estimation of RRC loss</a:t>
            </a:r>
          </a:p>
          <a:p>
            <a:pPr marL="0" indent="0" algn="l">
              <a:spcAft>
                <a:spcPts val="200"/>
              </a:spcAft>
              <a:buNone/>
            </a:pPr>
            <a:endParaRPr lang="en-US" sz="1200" dirty="0">
              <a:solidFill>
                <a:srgbClr val="2B2B2B"/>
              </a:solidFill>
            </a:endParaRPr>
          </a:p>
          <a:p>
            <a:pPr>
              <a:spcAft>
                <a:spcPts val="200"/>
              </a:spcAft>
            </a:pPr>
            <a:r>
              <a:rPr lang="en-US" sz="1200" b="1" dirty="0">
                <a:solidFill>
                  <a:srgbClr val="2A4F8C"/>
                </a:solidFill>
              </a:rPr>
              <a:t>Output: impact analysis</a:t>
            </a:r>
            <a:endParaRPr lang="en-US" sz="1200" dirty="0">
              <a:solidFill>
                <a:srgbClr val="2B2B2B"/>
              </a:solidFill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US" sz="1200" dirty="0">
                <a:solidFill>
                  <a:srgbClr val="C00000"/>
                </a:solidFill>
              </a:rPr>
              <a:t>User average loss (no service)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200" dirty="0">
                <a:solidFill>
                  <a:srgbClr val="C00000"/>
                </a:solidFill>
              </a:rPr>
              <a:t>User degrade (UE throughput)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200" dirty="0">
                <a:solidFill>
                  <a:srgbClr val="C00000"/>
                </a:solidFill>
              </a:rPr>
              <a:t>KPI distribution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200" dirty="0">
                <a:solidFill>
                  <a:srgbClr val="2B2B2B"/>
                </a:solidFill>
              </a:rPr>
              <a:t> </a:t>
            </a:r>
            <a:r>
              <a:rPr lang="en-US" altLang="zh-CN" sz="1200" dirty="0">
                <a:solidFill>
                  <a:srgbClr val="2B2B2B"/>
                </a:solidFill>
              </a:rPr>
              <a:t>……</a:t>
            </a:r>
            <a:endParaRPr lang="en-US" sz="1200" dirty="0">
              <a:solidFill>
                <a:srgbClr val="2B2B2B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45352" y="1234440"/>
            <a:ext cx="5394960" cy="457200"/>
          </a:xfrm>
          <a:prstGeom prst="rect">
            <a:avLst/>
          </a:prstGeom>
          <a:solidFill>
            <a:srgbClr val="1A6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9944" y="1234440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Roadmap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45352" y="1828800"/>
            <a:ext cx="5394960" cy="713232"/>
          </a:xfrm>
          <a:prstGeom prst="rect">
            <a:avLst/>
          </a:prstGeom>
          <a:solidFill>
            <a:srgbClr val="EB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45352" y="1828800"/>
            <a:ext cx="82296" cy="713232"/>
          </a:xfrm>
          <a:prstGeom prst="rect">
            <a:avLst/>
          </a:prstGeom>
          <a:solidFill>
            <a:srgbClr val="1B8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519672" y="1975104"/>
            <a:ext cx="420624" cy="420624"/>
          </a:xfrm>
          <a:prstGeom prst="ellipse">
            <a:avLst/>
          </a:prstGeom>
          <a:solidFill>
            <a:srgbClr val="1B8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19672" y="1975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68896" y="1828800"/>
            <a:ext cx="4288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B8A7A"/>
                </a:solidFill>
              </a:rPr>
              <a:t>Phase 0: Data exploration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1250" dirty="0"/>
              <a:t>A full pass of the ticket data distribution (severity, area type, time-duration, coverage) </a:t>
            </a:r>
          </a:p>
        </p:txBody>
      </p:sp>
      <p:sp>
        <p:nvSpPr>
          <p:cNvPr id="22" name="Shape 20"/>
          <p:cNvSpPr/>
          <p:nvPr/>
        </p:nvSpPr>
        <p:spPr>
          <a:xfrm>
            <a:off x="6245352" y="2633472"/>
            <a:ext cx="5394960" cy="713232"/>
          </a:xfrm>
          <a:prstGeom prst="rect">
            <a:avLst/>
          </a:prstGeom>
          <a:solidFill>
            <a:srgbClr val="EB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245352" y="2633472"/>
            <a:ext cx="82296" cy="713232"/>
          </a:xfrm>
          <a:prstGeom prst="rect">
            <a:avLst/>
          </a:prstGeom>
          <a:solidFill>
            <a:srgbClr val="2A4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519672" y="2779776"/>
            <a:ext cx="420624" cy="420624"/>
          </a:xfrm>
          <a:prstGeom prst="ellipse">
            <a:avLst/>
          </a:prstGeom>
          <a:solidFill>
            <a:srgbClr val="2A4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19672" y="2779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68896" y="2633472"/>
            <a:ext cx="4288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A4F8C"/>
                </a:solidFill>
              </a:rPr>
              <a:t>Phase 1: Manual trace of one ticket</a:t>
            </a:r>
          </a:p>
          <a:p>
            <a:pPr>
              <a:spcAft>
                <a:spcPts val="300"/>
              </a:spcAft>
            </a:pPr>
            <a:r>
              <a:rPr lang="en-US" sz="1250" dirty="0"/>
              <a:t>Going from input to output in different cases  </a:t>
            </a:r>
          </a:p>
        </p:txBody>
      </p:sp>
      <p:sp>
        <p:nvSpPr>
          <p:cNvPr id="27" name="Shape 25"/>
          <p:cNvSpPr/>
          <p:nvPr/>
        </p:nvSpPr>
        <p:spPr>
          <a:xfrm>
            <a:off x="6245352" y="3438144"/>
            <a:ext cx="5394960" cy="713232"/>
          </a:xfrm>
          <a:prstGeom prst="rect">
            <a:avLst/>
          </a:prstGeom>
          <a:solidFill>
            <a:srgbClr val="EB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245352" y="3438144"/>
            <a:ext cx="82296" cy="713232"/>
          </a:xfrm>
          <a:prstGeom prst="rect">
            <a:avLst/>
          </a:prstGeom>
          <a:solidFill>
            <a:srgbClr val="1A6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519672" y="3584448"/>
            <a:ext cx="420624" cy="420624"/>
          </a:xfrm>
          <a:prstGeom prst="ellipse">
            <a:avLst/>
          </a:prstGeom>
          <a:solidFill>
            <a:srgbClr val="1A6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519672" y="3584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68896" y="3438144"/>
            <a:ext cx="4288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A6B3C"/>
                </a:solidFill>
              </a:rPr>
              <a:t>Phase 2</a:t>
            </a:r>
            <a:endParaRPr lang="en-US" sz="12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00" dirty="0">
                <a:solidFill>
                  <a:srgbClr val="2B2B2B"/>
                </a:solidFill>
              </a:rPr>
              <a:t>Batch metrics + severity calibration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45352" y="4242816"/>
            <a:ext cx="5394960" cy="713232"/>
          </a:xfrm>
          <a:prstGeom prst="rect">
            <a:avLst/>
          </a:prstGeom>
          <a:solidFill>
            <a:srgbClr val="EB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245352" y="4242816"/>
            <a:ext cx="82296" cy="713232"/>
          </a:xfrm>
          <a:prstGeom prst="rect">
            <a:avLst/>
          </a:prstGeom>
          <a:solidFill>
            <a:srgbClr val="8C6E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519672" y="4389120"/>
            <a:ext cx="420624" cy="420624"/>
          </a:xfrm>
          <a:prstGeom prst="ellipse">
            <a:avLst/>
          </a:prstGeom>
          <a:solidFill>
            <a:srgbClr val="8C6E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519672" y="4389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168896" y="4242816"/>
            <a:ext cx="4288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8C6E1A"/>
                </a:solidFill>
              </a:rPr>
              <a:t>Phase 3</a:t>
            </a:r>
            <a:endParaRPr lang="en-US" sz="12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00" dirty="0">
                <a:solidFill>
                  <a:srgbClr val="2B2B2B"/>
                </a:solidFill>
              </a:rPr>
              <a:t>Output design &amp; system build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245352" y="5047488"/>
            <a:ext cx="5394960" cy="713232"/>
          </a:xfrm>
          <a:prstGeom prst="rect">
            <a:avLst/>
          </a:prstGeom>
          <a:solidFill>
            <a:srgbClr val="EB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245352" y="5047488"/>
            <a:ext cx="82296" cy="713232"/>
          </a:xfrm>
          <a:prstGeom prst="rect">
            <a:avLst/>
          </a:prstGeom>
          <a:solidFill>
            <a:srgbClr val="9B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519672" y="5193792"/>
            <a:ext cx="420624" cy="420624"/>
          </a:xfrm>
          <a:prstGeom prst="ellipse">
            <a:avLst/>
          </a:prstGeom>
          <a:solidFill>
            <a:srgbClr val="9B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519672" y="5193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168896" y="5047488"/>
            <a:ext cx="4288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9B2D2D"/>
                </a:solidFill>
              </a:rPr>
              <a:t>Phase 4</a:t>
            </a:r>
            <a:endParaRPr lang="en-US" sz="12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00" dirty="0">
                <a:solidFill>
                  <a:srgbClr val="2B2B2B"/>
                </a:solidFill>
              </a:rPr>
              <a:t>Validation &amp; iteration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4DB66-EE49-B3ED-A878-263BDCF4A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3EC7649-90AC-986A-7AA1-1AC48B38C2AF}"/>
              </a:ext>
            </a:extLst>
          </p:cNvPr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6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CE59147-10C7-0497-B2F7-4A7E29894BB1}"/>
              </a:ext>
            </a:extLst>
          </p:cNvPr>
          <p:cNvSpPr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Plan — Problem Framing &amp; Roadmap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B0CB193-9ED0-A4C6-B0F7-E000ADA997D8}"/>
              </a:ext>
            </a:extLst>
          </p:cNvPr>
          <p:cNvSpPr/>
          <p:nvPr/>
        </p:nvSpPr>
        <p:spPr>
          <a:xfrm>
            <a:off x="105294" y="929182"/>
            <a:ext cx="5394960" cy="457200"/>
          </a:xfrm>
          <a:prstGeom prst="rect">
            <a:avLst/>
          </a:prstGeom>
          <a:solidFill>
            <a:srgbClr val="1B8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9A8A3C8-6931-249E-8637-187793A33DEB}"/>
              </a:ext>
            </a:extLst>
          </p:cNvPr>
          <p:cNvSpPr/>
          <p:nvPr/>
        </p:nvSpPr>
        <p:spPr>
          <a:xfrm>
            <a:off x="269886" y="929182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Framing</a:t>
            </a:r>
            <a:endParaRPr lang="en-US" sz="15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3F619D2-3116-5C30-0E22-8CDD06DEA724}"/>
              </a:ext>
            </a:extLst>
          </p:cNvPr>
          <p:cNvSpPr/>
          <p:nvPr/>
        </p:nvSpPr>
        <p:spPr>
          <a:xfrm>
            <a:off x="105295" y="1538082"/>
            <a:ext cx="3492314" cy="2313481"/>
          </a:xfrm>
          <a:prstGeom prst="rect">
            <a:avLst/>
          </a:prstGeom>
          <a:solidFill>
            <a:srgbClr val="EB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55E732E-E2D0-7BD4-649C-F15F08FE9ADA}"/>
              </a:ext>
            </a:extLst>
          </p:cNvPr>
          <p:cNvSpPr/>
          <p:nvPr/>
        </p:nvSpPr>
        <p:spPr>
          <a:xfrm>
            <a:off x="105294" y="1538081"/>
            <a:ext cx="45719" cy="2313481"/>
          </a:xfrm>
          <a:prstGeom prst="rect">
            <a:avLst/>
          </a:prstGeom>
          <a:solidFill>
            <a:srgbClr val="1B8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034A6DF-DFB4-2623-AF53-7CA22E1FD727}"/>
              </a:ext>
            </a:extLst>
          </p:cNvPr>
          <p:cNvSpPr/>
          <p:nvPr/>
        </p:nvSpPr>
        <p:spPr>
          <a:xfrm>
            <a:off x="219386" y="1799050"/>
            <a:ext cx="3355155" cy="165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B8A7A"/>
                </a:solidFill>
              </a:rPr>
              <a:t>Online mode Input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350" dirty="0">
                <a:solidFill>
                  <a:srgbClr val="2B2B2B"/>
                </a:solidFill>
              </a:rPr>
              <a:t>Query: USID, outage time bines, outage cells</a:t>
            </a:r>
          </a:p>
          <a:p>
            <a:pPr marL="0" indent="0" algn="l">
              <a:spcAft>
                <a:spcPts val="200"/>
              </a:spcAft>
              <a:buNone/>
            </a:pPr>
            <a:endParaRPr lang="en-US" sz="1350" dirty="0">
              <a:solidFill>
                <a:srgbClr val="2B2B2B"/>
              </a:solidFill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US" sz="1350" dirty="0">
                <a:solidFill>
                  <a:srgbClr val="2B2B2B"/>
                </a:solidFill>
              </a:rPr>
              <a:t>KPI: Query from snowflake, can be fine-grained to 15 min data, cell level, have query limit</a:t>
            </a:r>
          </a:p>
          <a:p>
            <a:pPr marL="0" indent="0" algn="l">
              <a:spcAft>
                <a:spcPts val="200"/>
              </a:spcAft>
              <a:buNone/>
            </a:pPr>
            <a:endParaRPr lang="en-US" sz="1350" dirty="0">
              <a:solidFill>
                <a:srgbClr val="C00000"/>
              </a:solidFill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US" sz="1350" dirty="0">
                <a:solidFill>
                  <a:srgbClr val="2B2B2B"/>
                </a:solidFill>
              </a:rPr>
              <a:t>Coverage: Rhea </a:t>
            </a:r>
            <a:r>
              <a:rPr lang="en-US" sz="1350" dirty="0" err="1">
                <a:solidFill>
                  <a:srgbClr val="2B2B2B"/>
                </a:solidFill>
              </a:rPr>
              <a:t>api</a:t>
            </a:r>
            <a:r>
              <a:rPr lang="en-US" sz="1350" dirty="0">
                <a:solidFill>
                  <a:srgbClr val="2B2B2B"/>
                </a:solidFill>
              </a:rPr>
              <a:t>, have limited times for access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350" dirty="0">
                <a:solidFill>
                  <a:srgbClr val="2B2B2B"/>
                </a:solidFill>
              </a:rPr>
              <a:t>Attribute data: Frequency band, location, technology, Area type (Rural/suburban/urban)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D8A2B53-0345-9B4D-383B-7E59A546BB2A}"/>
              </a:ext>
            </a:extLst>
          </p:cNvPr>
          <p:cNvSpPr/>
          <p:nvPr/>
        </p:nvSpPr>
        <p:spPr>
          <a:xfrm>
            <a:off x="3028603" y="4530642"/>
            <a:ext cx="7874923" cy="1578549"/>
          </a:xfrm>
          <a:prstGeom prst="rect">
            <a:avLst/>
          </a:prstGeom>
          <a:solidFill>
            <a:srgbClr val="EB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D283B69-8B28-2B5A-A7C6-7FC781D8D8EB}"/>
              </a:ext>
            </a:extLst>
          </p:cNvPr>
          <p:cNvSpPr/>
          <p:nvPr/>
        </p:nvSpPr>
        <p:spPr>
          <a:xfrm>
            <a:off x="3028604" y="4550140"/>
            <a:ext cx="82296" cy="1540764"/>
          </a:xfrm>
          <a:prstGeom prst="rect">
            <a:avLst/>
          </a:prstGeom>
          <a:solidFill>
            <a:srgbClr val="2A4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1484D922-CA3E-40C1-26F7-C372E32254AB}"/>
              </a:ext>
            </a:extLst>
          </p:cNvPr>
          <p:cNvSpPr/>
          <p:nvPr/>
        </p:nvSpPr>
        <p:spPr>
          <a:xfrm>
            <a:off x="4015047" y="1538082"/>
            <a:ext cx="3391315" cy="2313480"/>
          </a:xfrm>
          <a:prstGeom prst="rect">
            <a:avLst/>
          </a:prstGeom>
          <a:solidFill>
            <a:srgbClr val="EB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38706EB1-0DB7-0FB7-7B0E-B6BE1146D239}"/>
              </a:ext>
            </a:extLst>
          </p:cNvPr>
          <p:cNvSpPr/>
          <p:nvPr/>
        </p:nvSpPr>
        <p:spPr>
          <a:xfrm>
            <a:off x="4015047" y="1557579"/>
            <a:ext cx="82296" cy="2293983"/>
          </a:xfrm>
          <a:prstGeom prst="rect">
            <a:avLst/>
          </a:prstGeom>
          <a:solidFill>
            <a:srgbClr val="2A4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6">
            <a:extLst>
              <a:ext uri="{FF2B5EF4-FFF2-40B4-BE49-F238E27FC236}">
                <a16:creationId xmlns:a16="http://schemas.microsoft.com/office/drawing/2014/main" id="{44AEA3B8-65B5-E0FA-AED5-E2B8D77E1DD2}"/>
              </a:ext>
            </a:extLst>
          </p:cNvPr>
          <p:cNvSpPr/>
          <p:nvPr/>
        </p:nvSpPr>
        <p:spPr>
          <a:xfrm>
            <a:off x="4184835" y="1681953"/>
            <a:ext cx="3290316" cy="1887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B8A7A"/>
                </a:solidFill>
              </a:rPr>
              <a:t>Online Reasoning process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300" dirty="0">
                <a:solidFill>
                  <a:srgbClr val="2B2B2B"/>
                </a:solidFill>
              </a:rPr>
              <a:t>query: USID, planned time duration, full outage/partial outage 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300" dirty="0">
                <a:solidFill>
                  <a:srgbClr val="2B2B2B"/>
                </a:solidFill>
              </a:rPr>
              <a:t>KPI: Query from snowflake, can be fine-grained to 15 min data, cell level, have query limit</a:t>
            </a:r>
            <a:endParaRPr lang="en-US" sz="1300" dirty="0">
              <a:solidFill>
                <a:srgbClr val="C00000"/>
              </a:solidFill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US" sz="1300" dirty="0">
                <a:solidFill>
                  <a:srgbClr val="2B2B2B"/>
                </a:solidFill>
              </a:rPr>
              <a:t>Coverage: Rhea </a:t>
            </a:r>
            <a:r>
              <a:rPr lang="en-US" sz="1300" dirty="0" err="1">
                <a:solidFill>
                  <a:srgbClr val="2B2B2B"/>
                </a:solidFill>
              </a:rPr>
              <a:t>api</a:t>
            </a:r>
            <a:r>
              <a:rPr lang="en-US" sz="1300" dirty="0">
                <a:solidFill>
                  <a:srgbClr val="2B2B2B"/>
                </a:solidFill>
              </a:rPr>
              <a:t>, have limited times for access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300" dirty="0">
                <a:solidFill>
                  <a:srgbClr val="2B2B2B"/>
                </a:solidFill>
              </a:rPr>
              <a:t>Attribute data: Frequency band, location, technology, Area type (Rural/suburban/urban)</a:t>
            </a:r>
          </a:p>
        </p:txBody>
      </p:sp>
      <p:sp>
        <p:nvSpPr>
          <p:cNvPr id="45" name="Shape 7">
            <a:extLst>
              <a:ext uri="{FF2B5EF4-FFF2-40B4-BE49-F238E27FC236}">
                <a16:creationId xmlns:a16="http://schemas.microsoft.com/office/drawing/2014/main" id="{CCF95FB0-4A28-FAA3-F4F0-2AA024EA8A99}"/>
              </a:ext>
            </a:extLst>
          </p:cNvPr>
          <p:cNvSpPr/>
          <p:nvPr/>
        </p:nvSpPr>
        <p:spPr>
          <a:xfrm>
            <a:off x="7924799" y="1538081"/>
            <a:ext cx="3391315" cy="2313479"/>
          </a:xfrm>
          <a:prstGeom prst="rect">
            <a:avLst/>
          </a:prstGeom>
          <a:solidFill>
            <a:srgbClr val="EB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8">
            <a:extLst>
              <a:ext uri="{FF2B5EF4-FFF2-40B4-BE49-F238E27FC236}">
                <a16:creationId xmlns:a16="http://schemas.microsoft.com/office/drawing/2014/main" id="{7416CC62-2D17-6F02-7181-247541CB8E7A}"/>
              </a:ext>
            </a:extLst>
          </p:cNvPr>
          <p:cNvSpPr/>
          <p:nvPr/>
        </p:nvSpPr>
        <p:spPr>
          <a:xfrm>
            <a:off x="7924799" y="1557579"/>
            <a:ext cx="45719" cy="2293981"/>
          </a:xfrm>
          <a:prstGeom prst="rect">
            <a:avLst/>
          </a:prstGeom>
          <a:solidFill>
            <a:srgbClr val="2A4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6">
            <a:extLst>
              <a:ext uri="{FF2B5EF4-FFF2-40B4-BE49-F238E27FC236}">
                <a16:creationId xmlns:a16="http://schemas.microsoft.com/office/drawing/2014/main" id="{3289EEA2-55DD-55BF-FE13-F55B46FE55B8}"/>
              </a:ext>
            </a:extLst>
          </p:cNvPr>
          <p:cNvSpPr/>
          <p:nvPr/>
        </p:nvSpPr>
        <p:spPr>
          <a:xfrm>
            <a:off x="8108095" y="1643928"/>
            <a:ext cx="3061716" cy="165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B8A7A"/>
                </a:solidFill>
              </a:rPr>
              <a:t>Output</a:t>
            </a:r>
            <a:endParaRPr lang="en-US" sz="1400" dirty="0"/>
          </a:p>
          <a:p>
            <a:pPr>
              <a:spcAft>
                <a:spcPts val="200"/>
              </a:spcAft>
            </a:pPr>
            <a:r>
              <a:rPr lang="en-US" sz="1300" dirty="0">
                <a:solidFill>
                  <a:srgbClr val="2B2B2B"/>
                </a:solidFill>
              </a:rPr>
              <a:t>The number and locations of Users who completely lost service.</a:t>
            </a:r>
          </a:p>
          <a:p>
            <a:pPr>
              <a:spcAft>
                <a:spcPts val="200"/>
              </a:spcAft>
            </a:pPr>
            <a:endParaRPr lang="en-US" sz="1300" dirty="0">
              <a:solidFill>
                <a:srgbClr val="2B2B2B"/>
              </a:solidFill>
            </a:endParaRPr>
          </a:p>
          <a:p>
            <a:pPr>
              <a:spcAft>
                <a:spcPts val="200"/>
              </a:spcAft>
            </a:pPr>
            <a:r>
              <a:rPr lang="en-US" sz="1300" dirty="0">
                <a:solidFill>
                  <a:srgbClr val="2B2B2B"/>
                </a:solidFill>
              </a:rPr>
              <a:t>The number and locations of Users who got service degrade</a:t>
            </a:r>
          </a:p>
          <a:p>
            <a:pPr marL="0" indent="0" algn="l">
              <a:spcAft>
                <a:spcPts val="200"/>
              </a:spcAft>
              <a:buNone/>
            </a:pPr>
            <a:endParaRPr lang="en-US" sz="1200" dirty="0">
              <a:solidFill>
                <a:srgbClr val="2B2B2B"/>
              </a:solidFill>
            </a:endParaRPr>
          </a:p>
        </p:txBody>
      </p:sp>
      <p:sp>
        <p:nvSpPr>
          <p:cNvPr id="48" name="Text 6">
            <a:extLst>
              <a:ext uri="{FF2B5EF4-FFF2-40B4-BE49-F238E27FC236}">
                <a16:creationId xmlns:a16="http://schemas.microsoft.com/office/drawing/2014/main" id="{6BAADBCE-2D29-3CC2-7DBF-AEC2B874AC6D}"/>
              </a:ext>
            </a:extLst>
          </p:cNvPr>
          <p:cNvSpPr/>
          <p:nvPr/>
        </p:nvSpPr>
        <p:spPr>
          <a:xfrm>
            <a:off x="3212035" y="4493468"/>
            <a:ext cx="6772935" cy="165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B8A7A"/>
                </a:solidFill>
              </a:rPr>
              <a:t>Offline mode </a:t>
            </a:r>
          </a:p>
          <a:p>
            <a:pPr marL="0" indent="0" algn="l">
              <a:spcAft>
                <a:spcPts val="200"/>
              </a:spcAft>
              <a:buNone/>
            </a:pPr>
            <a:endParaRPr lang="en-US" sz="1400" b="1" dirty="0">
              <a:solidFill>
                <a:srgbClr val="1B8A7A"/>
              </a:solidFill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US" sz="1400" dirty="0">
                <a:solidFill>
                  <a:srgbClr val="2B2B2B"/>
                </a:solidFill>
              </a:rPr>
              <a:t>Online ground truth: ticket data where there are existing detected KPI fluctuation or completely loss.   </a:t>
            </a:r>
          </a:p>
        </p:txBody>
      </p:sp>
    </p:spTree>
    <p:extLst>
      <p:ext uri="{BB962C8B-B14F-4D97-AF65-F5344CB8AC3E}">
        <p14:creationId xmlns:p14="http://schemas.microsoft.com/office/powerpoint/2010/main" val="1543202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6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 — Data Exploration &amp; Cleaning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0" cy="411480"/>
          </a:xfrm>
          <a:prstGeom prst="rect">
            <a:avLst/>
          </a:prstGeom>
          <a:solidFill>
            <a:srgbClr val="1B8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188720"/>
            <a:ext cx="4261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572000" cy="987552"/>
          </a:xfrm>
          <a:prstGeom prst="rect">
            <a:avLst/>
          </a:prstGeom>
          <a:solidFill>
            <a:srgbClr val="EB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" cy="987552"/>
          </a:xfrm>
          <a:prstGeom prst="rect">
            <a:avLst/>
          </a:prstGeom>
          <a:solidFill>
            <a:srgbClr val="1B8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1691640"/>
            <a:ext cx="4114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8A7A"/>
                </a:solidFill>
              </a:rPr>
              <a:t>0.1  Ticket data (about 130000 tickets after 2026) 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050" dirty="0">
                <a:solidFill>
                  <a:srgbClr val="2B2B2B"/>
                </a:solidFill>
              </a:rPr>
              <a:t>Distributions: severity (8 levels), Full outage/Partial outage, duration, Area type.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4572000" cy="987552"/>
          </a:xfrm>
          <a:prstGeom prst="rect">
            <a:avLst/>
          </a:prstGeom>
          <a:solidFill>
            <a:srgbClr val="EB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82296" cy="987552"/>
          </a:xfrm>
          <a:prstGeom prst="rect">
            <a:avLst/>
          </a:prstGeom>
          <a:solidFill>
            <a:srgbClr val="2A4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3232" y="2788920"/>
            <a:ext cx="4114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A4F8C"/>
                </a:solidFill>
              </a:rPr>
              <a:t>0.2  Cascade detection</a:t>
            </a:r>
            <a:endParaRPr lang="en-US" sz="12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050" dirty="0">
                <a:solidFill>
                  <a:srgbClr val="2B2B2B"/>
                </a:solidFill>
              </a:rPr>
              <a:t>Per ticket, flag other BS down within ±2h and ~2–3× footprint radius. Tag is_cascade + linked tickets.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886200"/>
            <a:ext cx="4572000" cy="987552"/>
          </a:xfrm>
          <a:prstGeom prst="rect">
            <a:avLst/>
          </a:prstGeom>
          <a:solidFill>
            <a:srgbClr val="EB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3886200"/>
            <a:ext cx="82296" cy="987552"/>
          </a:xfrm>
          <a:prstGeom prst="rect">
            <a:avLst/>
          </a:prstGeom>
          <a:solidFill>
            <a:srgbClr val="1A6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3232" y="3886200"/>
            <a:ext cx="4114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6B3C"/>
                </a:solidFill>
              </a:rPr>
              <a:t>0.4  KPI sampling 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050" dirty="0">
                <a:solidFill>
                  <a:srgbClr val="2B2B2B"/>
                </a:solidFill>
              </a:rPr>
              <a:t>1-week pre-alarm series, </a:t>
            </a:r>
            <a:r>
              <a:rPr lang="en-US" sz="1050" dirty="0">
                <a:solidFill>
                  <a:srgbClr val="C00000"/>
                </a:solidFill>
              </a:rPr>
              <a:t>Full/Partial outage (in ticket data, it’s column name is Customer Affect)</a:t>
            </a:r>
            <a:endParaRPr lang="en-US" sz="1200" dirty="0">
              <a:solidFill>
                <a:srgbClr val="C00000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4983480"/>
            <a:ext cx="4572000" cy="987552"/>
          </a:xfrm>
          <a:prstGeom prst="rect">
            <a:avLst/>
          </a:prstGeom>
          <a:solidFill>
            <a:srgbClr val="EB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4983480"/>
            <a:ext cx="82296" cy="987552"/>
          </a:xfrm>
          <a:prstGeom prst="rect">
            <a:avLst/>
          </a:prstGeom>
          <a:solidFill>
            <a:srgbClr val="8C6E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3232" y="4983480"/>
            <a:ext cx="4114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8C6E1A"/>
                </a:solidFill>
              </a:rPr>
              <a:t>0.5  Coverage sampling( about 2000 )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050" dirty="0">
                <a:solidFill>
                  <a:srgbClr val="2B2B2B"/>
                </a:solidFill>
              </a:rPr>
              <a:t>Coarsely scan the coverage data to derive the typical coverage extent (footprint radius) for each </a:t>
            </a:r>
            <a:r>
              <a:rPr lang="en-US" sz="1050" dirty="0" err="1">
                <a:solidFill>
                  <a:srgbClr val="2B2B2B"/>
                </a:solidFill>
              </a:rPr>
              <a:t>area_type</a:t>
            </a:r>
            <a:r>
              <a:rPr lang="en-US" sz="1050" dirty="0">
                <a:solidFill>
                  <a:srgbClr val="2B2B2B"/>
                </a:solidFill>
              </a:rPr>
              <a:t> — urban, suburban, and rural.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03520" y="1188720"/>
            <a:ext cx="6428232" cy="411480"/>
          </a:xfrm>
          <a:prstGeom prst="rect">
            <a:avLst/>
          </a:prstGeom>
          <a:solidFill>
            <a:srgbClr val="1A6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68112" y="1188720"/>
            <a:ext cx="6117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Ticket-data figures &amp; tables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577840" y="1691640"/>
            <a:ext cx="587959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69269" y="6436686"/>
            <a:ext cx="45299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/>
              <a:t>Ticket with level 5 (critical) severity have most cases, when the </a:t>
            </a:r>
            <a:r>
              <a:rPr lang="en-US" sz="900" dirty="0" err="1"/>
              <a:t>Cust_Affect</a:t>
            </a:r>
            <a:r>
              <a:rPr lang="en-US" sz="900" dirty="0"/>
              <a:t> shows no outage, it will still have critical data. 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B3BD265-F805-FAB1-4341-AA4781036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550" y="1691640"/>
            <a:ext cx="4370671" cy="228063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94B75E8-3BA0-0122-806B-BC67094AE4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3550" y="3939908"/>
            <a:ext cx="5125331" cy="24967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F7FEA-E182-8616-0205-6E2D81C6E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31A7CCC-F0FA-D55E-9612-8DEE6139476B}"/>
              </a:ext>
            </a:extLst>
          </p:cNvPr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6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E9D49D0-3D14-AF48-22B8-D505D267F219}"/>
              </a:ext>
            </a:extLst>
          </p:cNvPr>
          <p:cNvSpPr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 — Data Exploration &amp; Cleaning</a:t>
            </a:r>
            <a:endParaRPr lang="en-US" sz="26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AAD1FAB2-C969-5980-0E97-5BF3CC3DDABE}"/>
              </a:ext>
            </a:extLst>
          </p:cNvPr>
          <p:cNvSpPr/>
          <p:nvPr/>
        </p:nvSpPr>
        <p:spPr>
          <a:xfrm>
            <a:off x="157655" y="1188720"/>
            <a:ext cx="11574097" cy="411480"/>
          </a:xfrm>
          <a:prstGeom prst="rect">
            <a:avLst/>
          </a:prstGeom>
          <a:solidFill>
            <a:srgbClr val="1A6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1A48477-5CFC-4816-3754-43EF1B930E2A}"/>
              </a:ext>
            </a:extLst>
          </p:cNvPr>
          <p:cNvSpPr/>
          <p:nvPr/>
        </p:nvSpPr>
        <p:spPr>
          <a:xfrm>
            <a:off x="244471" y="1188720"/>
            <a:ext cx="6117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Ticket-data figures &amp; tables</a:t>
            </a:r>
            <a:endParaRPr lang="en-US" sz="13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9114B49-6BA8-0018-8509-BBB2E1CB7A8D}"/>
              </a:ext>
            </a:extLst>
          </p:cNvPr>
          <p:cNvSpPr/>
          <p:nvPr/>
        </p:nvSpPr>
        <p:spPr>
          <a:xfrm>
            <a:off x="5577840" y="1691640"/>
            <a:ext cx="587959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C2AF963-C627-7D01-BE11-7D4A84B97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785" y="1725966"/>
            <a:ext cx="4537568" cy="281131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9706BB8-2516-011C-B92F-2137BB0700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7149" y="1802941"/>
            <a:ext cx="5325739" cy="265736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6B5E2EC-5A02-1F40-8EA7-93322A1F48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4823" y="4537285"/>
            <a:ext cx="2801338" cy="219274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219032-4D48-E0D1-F01E-2DA7F7057C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8345" y="4460308"/>
            <a:ext cx="3857296" cy="233337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AF6C643-B81C-A219-D3AB-6EC1EE62F7E5}"/>
              </a:ext>
            </a:extLst>
          </p:cNvPr>
          <p:cNvSpPr txBox="1"/>
          <p:nvPr/>
        </p:nvSpPr>
        <p:spPr>
          <a:xfrm>
            <a:off x="10053618" y="4663049"/>
            <a:ext cx="19807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Rhea data query start point: </a:t>
            </a:r>
          </a:p>
          <a:p>
            <a:endParaRPr lang="en-US" sz="1200" dirty="0"/>
          </a:p>
          <a:p>
            <a:r>
              <a:rPr lang="en-US" sz="1200" dirty="0"/>
              <a:t>Urban: 5 km</a:t>
            </a:r>
          </a:p>
          <a:p>
            <a:r>
              <a:rPr lang="en-US" sz="1200" dirty="0"/>
              <a:t>Suburban: 10km</a:t>
            </a:r>
          </a:p>
          <a:p>
            <a:r>
              <a:rPr lang="en-US" sz="1200" dirty="0"/>
              <a:t>Rural: 15 km</a:t>
            </a:r>
          </a:p>
        </p:txBody>
      </p:sp>
    </p:spTree>
    <p:extLst>
      <p:ext uri="{BB962C8B-B14F-4D97-AF65-F5344CB8AC3E}">
        <p14:creationId xmlns:p14="http://schemas.microsoft.com/office/powerpoint/2010/main" val="3043384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5A1F6-7D46-048A-020E-F43883496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E5EDFA9-6BAC-C6B2-498A-A0B5A05D205C}"/>
              </a:ext>
            </a:extLst>
          </p:cNvPr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6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F9FAA9D-9AF7-2F23-41D2-8D2BE625A854}"/>
              </a:ext>
            </a:extLst>
          </p:cNvPr>
          <p:cNvSpPr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 — Data Exploration &amp; Cleaning</a:t>
            </a:r>
            <a:endParaRPr lang="en-US" sz="26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71C1F79F-23F3-1CB4-4040-85D0988CF3A6}"/>
              </a:ext>
            </a:extLst>
          </p:cNvPr>
          <p:cNvSpPr/>
          <p:nvPr/>
        </p:nvSpPr>
        <p:spPr>
          <a:xfrm>
            <a:off x="157655" y="1188720"/>
            <a:ext cx="11574097" cy="411480"/>
          </a:xfrm>
          <a:prstGeom prst="rect">
            <a:avLst/>
          </a:prstGeom>
          <a:solidFill>
            <a:srgbClr val="1A6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7EC6856-D8B6-AEDD-56CA-5D2957BDB37B}"/>
              </a:ext>
            </a:extLst>
          </p:cNvPr>
          <p:cNvSpPr/>
          <p:nvPr/>
        </p:nvSpPr>
        <p:spPr>
          <a:xfrm>
            <a:off x="244471" y="1188720"/>
            <a:ext cx="6117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data plotting and Matching with severity level</a:t>
            </a:r>
            <a:endParaRPr lang="en-US" sz="13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2756567-62CC-621D-CCEE-AF81AC033AE2}"/>
              </a:ext>
            </a:extLst>
          </p:cNvPr>
          <p:cNvSpPr/>
          <p:nvPr/>
        </p:nvSpPr>
        <p:spPr>
          <a:xfrm>
            <a:off x="5577840" y="1691640"/>
            <a:ext cx="587959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C8C2F-05CE-8863-51B3-DF02A31D0D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1013" y="4552292"/>
            <a:ext cx="5447862" cy="18514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ED555C-C693-8CEB-D991-40098C92BF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471" y="1786095"/>
            <a:ext cx="10669393" cy="22900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AC4E0B-4BE3-607B-CBC8-41632C485B71}"/>
              </a:ext>
            </a:extLst>
          </p:cNvPr>
          <p:cNvSpPr txBox="1"/>
          <p:nvPr/>
        </p:nvSpPr>
        <p:spPr>
          <a:xfrm>
            <a:off x="4492174" y="4115876"/>
            <a:ext cx="398342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Fig. a sample with full outage</a:t>
            </a:r>
          </a:p>
        </p:txBody>
      </p:sp>
    </p:spTree>
    <p:extLst>
      <p:ext uri="{BB962C8B-B14F-4D97-AF65-F5344CB8AC3E}">
        <p14:creationId xmlns:p14="http://schemas.microsoft.com/office/powerpoint/2010/main" val="483973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6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Single-Ticket Manual Trace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0" cy="411480"/>
          </a:xfrm>
          <a:prstGeom prst="rect">
            <a:avLst/>
          </a:prstGeom>
          <a:solidFill>
            <a:srgbClr val="1B8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188720"/>
            <a:ext cx="4261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&amp; what to analyse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4572000" cy="987552"/>
          </a:xfrm>
          <a:prstGeom prst="rect">
            <a:avLst/>
          </a:prstGeom>
          <a:solidFill>
            <a:srgbClr val="EB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82296" cy="987552"/>
          </a:xfrm>
          <a:prstGeom prst="rect">
            <a:avLst/>
          </a:prstGeom>
          <a:solidFill>
            <a:srgbClr val="2A4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3232" y="1920240"/>
            <a:ext cx="4114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A4F8C"/>
                </a:solidFill>
              </a:rPr>
              <a:t>1.1  Coverage continuity</a:t>
            </a:r>
            <a:endParaRPr lang="en-US" sz="12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050" dirty="0">
                <a:solidFill>
                  <a:srgbClr val="2B2B2B"/>
                </a:solidFill>
              </a:rPr>
              <a:t>Search radius start from </a:t>
            </a:r>
            <a:r>
              <a:rPr lang="en-US" sz="1050" dirty="0" err="1">
                <a:solidFill>
                  <a:srgbClr val="2B2B2B"/>
                </a:solidFill>
              </a:rPr>
              <a:t>area_type</a:t>
            </a:r>
            <a:r>
              <a:rPr lang="en-US" sz="1050" dirty="0">
                <a:solidFill>
                  <a:srgbClr val="2B2B2B"/>
                </a:solidFill>
              </a:rPr>
              <a:t> suggest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050" dirty="0">
                <a:solidFill>
                  <a:srgbClr val="2B2B2B"/>
                </a:solidFill>
              </a:rPr>
              <a:t>Coarse-grained to fine-grained query Rhea data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050" dirty="0">
                <a:solidFill>
                  <a:srgbClr val="2B2B2B"/>
                </a:solidFill>
              </a:rPr>
              <a:t>Get the back up USID information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4572000" cy="987552"/>
          </a:xfrm>
          <a:prstGeom prst="rect">
            <a:avLst/>
          </a:prstGeom>
          <a:solidFill>
            <a:srgbClr val="EB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" cy="987552"/>
          </a:xfrm>
          <a:prstGeom prst="rect">
            <a:avLst/>
          </a:prstGeom>
          <a:solidFill>
            <a:srgbClr val="1A6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3232" y="3017520"/>
            <a:ext cx="4114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6B3C"/>
                </a:solidFill>
              </a:rPr>
              <a:t>1.2  KPI baseline</a:t>
            </a:r>
            <a:endParaRPr lang="en-US" sz="12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050" dirty="0">
                <a:solidFill>
                  <a:srgbClr val="2B2B2B"/>
                </a:solidFill>
              </a:rPr>
              <a:t>4-week baseline by time-of-day × day-of-week → expected RRC / throughput / volume.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4572000" cy="987552"/>
          </a:xfrm>
          <a:prstGeom prst="rect">
            <a:avLst/>
          </a:prstGeom>
          <a:solidFill>
            <a:srgbClr val="EB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82296" cy="987552"/>
          </a:xfrm>
          <a:prstGeom prst="rect">
            <a:avLst/>
          </a:prstGeom>
          <a:solidFill>
            <a:srgbClr val="8C6E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3232" y="4114800"/>
            <a:ext cx="4114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8C6E1A"/>
                </a:solidFill>
              </a:rPr>
              <a:t>1.3  Neighbor capacity </a:t>
            </a:r>
            <a:endParaRPr lang="en-US" sz="12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050" dirty="0">
                <a:solidFill>
                  <a:srgbClr val="2B2B2B"/>
                </a:solidFill>
              </a:rPr>
              <a:t>Determine neighbor capacity by  </a:t>
            </a:r>
            <a:r>
              <a:rPr lang="en-US" sz="1050" dirty="0" err="1">
                <a:solidFill>
                  <a:srgbClr val="2B2B2B"/>
                </a:solidFill>
              </a:rPr>
              <a:t>PRBUtilization</a:t>
            </a:r>
            <a:r>
              <a:rPr lang="en-US" sz="1050" dirty="0">
                <a:solidFill>
                  <a:srgbClr val="2B2B2B"/>
                </a:solidFill>
              </a:rPr>
              <a:t>,  use the coverage fraction to estimate how much traffic will each neighbor absorb. (When the neighbor KPI is null, assume this USID is down.)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03520" y="1188720"/>
            <a:ext cx="6428232" cy="411480"/>
          </a:xfrm>
          <a:prstGeom prst="rect">
            <a:avLst/>
          </a:prstGeom>
          <a:solidFill>
            <a:srgbClr val="1A6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68112" y="1188720"/>
            <a:ext cx="6117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Full-outage use case  —  figures &amp; tables</a:t>
            </a:r>
            <a:endParaRPr lang="en-US" sz="13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53978D7-60AB-03A6-1A09-68A054DF0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735" y="1681654"/>
            <a:ext cx="2258137" cy="517634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51DF600-442A-52CA-284E-AC54AD3195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575" y="1763116"/>
            <a:ext cx="3001349" cy="50948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6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2–4 — Calibration, Build &amp; Validation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557016" cy="411480"/>
          </a:xfrm>
          <a:prstGeom prst="rect">
            <a:avLst/>
          </a:prstGeom>
          <a:solidFill>
            <a:srgbClr val="1A6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2344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· Calibration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15968" y="1234440"/>
            <a:ext cx="3557016" cy="411480"/>
          </a:xfrm>
          <a:prstGeom prst="rect">
            <a:avLst/>
          </a:prstGeom>
          <a:solidFill>
            <a:srgbClr val="2A4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480560" y="12344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· Build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174736" y="1234440"/>
            <a:ext cx="3557016" cy="411480"/>
          </a:xfrm>
          <a:prstGeom prst="rect">
            <a:avLst/>
          </a:prstGeom>
          <a:solidFill>
            <a:srgbClr val="8C6E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339328" y="12344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· Validation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3557016" cy="896112"/>
          </a:xfrm>
          <a:prstGeom prst="rect">
            <a:avLst/>
          </a:prstGeom>
          <a:solidFill>
            <a:srgbClr val="EB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737360"/>
            <a:ext cx="82296" cy="896112"/>
          </a:xfrm>
          <a:prstGeom prst="rect">
            <a:avLst/>
          </a:prstGeom>
          <a:solidFill>
            <a:srgbClr val="1A6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" y="1737360"/>
            <a:ext cx="3099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A6B3C"/>
                </a:solidFill>
              </a:rPr>
              <a:t>2.0  Severity mismatch</a:t>
            </a:r>
            <a:endParaRPr lang="en-US" sz="115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950" dirty="0">
                <a:solidFill>
                  <a:srgbClr val="2B2B2B"/>
                </a:solidFill>
              </a:rPr>
              <a:t>Understand RRC → 8-level mapping; analyse mismatch cases.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3557016" cy="896112"/>
          </a:xfrm>
          <a:prstGeom prst="rect">
            <a:avLst/>
          </a:prstGeom>
          <a:solidFill>
            <a:srgbClr val="EB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82296" cy="896112"/>
          </a:xfrm>
          <a:prstGeom prst="rect">
            <a:avLst/>
          </a:prstGeom>
          <a:solidFill>
            <a:srgbClr val="1A6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3232" y="2743200"/>
            <a:ext cx="3099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A6B3C"/>
                </a:solidFill>
              </a:rPr>
              <a:t>2.1  Batch metrics</a:t>
            </a:r>
            <a:endParaRPr lang="en-US" sz="115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950" dirty="0">
                <a:solidFill>
                  <a:srgbClr val="2B2B2B"/>
                </a:solidFill>
              </a:rPr>
              <a:t>Coverage, user-hours-lost, traffic loss, neighbour pressure.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3557016" cy="896112"/>
          </a:xfrm>
          <a:prstGeom prst="rect">
            <a:avLst/>
          </a:prstGeom>
          <a:solidFill>
            <a:srgbClr val="EB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82296" cy="896112"/>
          </a:xfrm>
          <a:prstGeom prst="rect">
            <a:avLst/>
          </a:prstGeom>
          <a:solidFill>
            <a:srgbClr val="1A6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3232" y="3749040"/>
            <a:ext cx="3099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A6B3C"/>
                </a:solidFill>
              </a:rPr>
              <a:t>2.2  Metrics ↔ severity</a:t>
            </a:r>
            <a:endParaRPr lang="en-US" sz="115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950" dirty="0">
                <a:solidFill>
                  <a:srgbClr val="2B2B2B"/>
                </a:solidFill>
              </a:rPr>
              <a:t>Which metrics discriminate; flag mismatches.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754880"/>
            <a:ext cx="3557016" cy="896112"/>
          </a:xfrm>
          <a:prstGeom prst="rect">
            <a:avLst/>
          </a:prstGeom>
          <a:solidFill>
            <a:srgbClr val="EB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4754880"/>
            <a:ext cx="82296" cy="896112"/>
          </a:xfrm>
          <a:prstGeom prst="rect">
            <a:avLst/>
          </a:prstGeom>
          <a:solidFill>
            <a:srgbClr val="1A6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3232" y="4754880"/>
            <a:ext cx="3099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A6B3C"/>
                </a:solidFill>
              </a:rPr>
              <a:t>2.3  Output direction</a:t>
            </a:r>
            <a:endParaRPr lang="en-US" sz="115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950" dirty="0">
                <a:solidFill>
                  <a:srgbClr val="2B2B2B"/>
                </a:solidFill>
              </a:rPr>
              <a:t>Decide how severity is used in the output.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315968" y="1737360"/>
            <a:ext cx="3557016" cy="896112"/>
          </a:xfrm>
          <a:prstGeom prst="rect">
            <a:avLst/>
          </a:prstGeom>
          <a:solidFill>
            <a:srgbClr val="EB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315968" y="1737360"/>
            <a:ext cx="82296" cy="896112"/>
          </a:xfrm>
          <a:prstGeom prst="rect">
            <a:avLst/>
          </a:prstGeom>
          <a:solidFill>
            <a:srgbClr val="2A4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0" y="1737360"/>
            <a:ext cx="3099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2A4F8C"/>
                </a:solidFill>
              </a:rPr>
              <a:t>3.1  Output schema</a:t>
            </a:r>
            <a:endParaRPr lang="en-US" sz="115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950" dirty="0">
                <a:solidFill>
                  <a:srgbClr val="2B2B2B"/>
                </a:solidFill>
              </a:rPr>
              <a:t>Coverage · KPI baseline · traffic · strain · context.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15968" y="2743200"/>
            <a:ext cx="3557016" cy="896112"/>
          </a:xfrm>
          <a:prstGeom prst="rect">
            <a:avLst/>
          </a:prstGeom>
          <a:solidFill>
            <a:srgbClr val="EB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315968" y="2743200"/>
            <a:ext cx="82296" cy="896112"/>
          </a:xfrm>
          <a:prstGeom prst="rect">
            <a:avLst/>
          </a:prstGeom>
          <a:solidFill>
            <a:srgbClr val="2A4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0" y="2743200"/>
            <a:ext cx="3099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2A4F8C"/>
                </a:solidFill>
              </a:rPr>
              <a:t>3.2  Eval criteria</a:t>
            </a:r>
            <a:endParaRPr lang="en-US" sz="115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950" dirty="0">
                <a:solidFill>
                  <a:srgbClr val="2B2B2B"/>
                </a:solidFill>
              </a:rPr>
              <a:t>Severity accuracy, KPI consistency, expert scoring.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315968" y="3749040"/>
            <a:ext cx="3557016" cy="896112"/>
          </a:xfrm>
          <a:prstGeom prst="rect">
            <a:avLst/>
          </a:prstGeom>
          <a:solidFill>
            <a:srgbClr val="EB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315968" y="3749040"/>
            <a:ext cx="82296" cy="896112"/>
          </a:xfrm>
          <a:prstGeom prst="rect">
            <a:avLst/>
          </a:prstGeom>
          <a:solidFill>
            <a:srgbClr val="2A4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0" y="3749040"/>
            <a:ext cx="3099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2A4F8C"/>
                </a:solidFill>
              </a:rPr>
              <a:t>3.3  Text generation</a:t>
            </a:r>
            <a:endParaRPr lang="en-US" sz="115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950" dirty="0">
                <a:solidFill>
                  <a:srgbClr val="2B2B2B"/>
                </a:solidFill>
              </a:rPr>
              <a:t>Expert-written few-shot (not problem detail).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315968" y="4754880"/>
            <a:ext cx="3557016" cy="896112"/>
          </a:xfrm>
          <a:prstGeom prst="rect">
            <a:avLst/>
          </a:prstGeom>
          <a:solidFill>
            <a:srgbClr val="EB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315968" y="4754880"/>
            <a:ext cx="82296" cy="896112"/>
          </a:xfrm>
          <a:prstGeom prst="rect">
            <a:avLst/>
          </a:prstGeom>
          <a:solidFill>
            <a:srgbClr val="2A4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0" y="4754880"/>
            <a:ext cx="3099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2A4F8C"/>
                </a:solidFill>
              </a:rPr>
              <a:t>3.4  End-to-end test</a:t>
            </a:r>
            <a:endParaRPr lang="en-US" sz="115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950" dirty="0">
                <a:solidFill>
                  <a:srgbClr val="2B2B2B"/>
                </a:solidFill>
              </a:rPr>
              <a:t>Full pipeline run + edge cases.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174736" y="1737360"/>
            <a:ext cx="3557016" cy="896112"/>
          </a:xfrm>
          <a:prstGeom prst="rect">
            <a:avLst/>
          </a:prstGeom>
          <a:solidFill>
            <a:srgbClr val="EB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174736" y="1737360"/>
            <a:ext cx="82296" cy="896112"/>
          </a:xfrm>
          <a:prstGeom prst="rect">
            <a:avLst/>
          </a:prstGeom>
          <a:solidFill>
            <a:srgbClr val="8C6E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430768" y="1737360"/>
            <a:ext cx="3099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8C6E1A"/>
                </a:solidFill>
              </a:rPr>
              <a:t>Hold-out set</a:t>
            </a:r>
            <a:endParaRPr lang="en-US" sz="115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950" dirty="0">
                <a:solidFill>
                  <a:srgbClr val="2B2B2B"/>
                </a:solidFill>
              </a:rPr>
              <a:t>20%, stratified by severity × outage level.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174736" y="2743200"/>
            <a:ext cx="3557016" cy="896112"/>
          </a:xfrm>
          <a:prstGeom prst="rect">
            <a:avLst/>
          </a:prstGeom>
          <a:solidFill>
            <a:srgbClr val="EB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174736" y="2743200"/>
            <a:ext cx="82296" cy="896112"/>
          </a:xfrm>
          <a:prstGeom prst="rect">
            <a:avLst/>
          </a:prstGeom>
          <a:solidFill>
            <a:srgbClr val="8C6E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430768" y="2743200"/>
            <a:ext cx="3099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8C6E1A"/>
                </a:solidFill>
              </a:rPr>
              <a:t>Evaluate</a:t>
            </a:r>
            <a:endParaRPr lang="en-US" sz="115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950" dirty="0">
                <a:solidFill>
                  <a:srgbClr val="2B2B2B"/>
                </a:solidFill>
              </a:rPr>
              <a:t>Apply the locked evaluation criteria.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174736" y="3749040"/>
            <a:ext cx="3557016" cy="896112"/>
          </a:xfrm>
          <a:prstGeom prst="rect">
            <a:avLst/>
          </a:prstGeom>
          <a:solidFill>
            <a:srgbClr val="EB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174736" y="3749040"/>
            <a:ext cx="82296" cy="896112"/>
          </a:xfrm>
          <a:prstGeom prst="rect">
            <a:avLst/>
          </a:prstGeom>
          <a:solidFill>
            <a:srgbClr val="8C6E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430768" y="3749040"/>
            <a:ext cx="3099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8C6E1A"/>
                </a:solidFill>
              </a:rPr>
              <a:t>Stratified accuracy</a:t>
            </a:r>
            <a:endParaRPr lang="en-US" sz="115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950" dirty="0">
                <a:solidFill>
                  <a:srgbClr val="2B2B2B"/>
                </a:solidFill>
              </a:rPr>
              <a:t>By environment / level / equipment / cascade.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8174736" y="4754880"/>
            <a:ext cx="3557016" cy="896112"/>
          </a:xfrm>
          <a:prstGeom prst="rect">
            <a:avLst/>
          </a:prstGeom>
          <a:solidFill>
            <a:srgbClr val="EB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174736" y="4754880"/>
            <a:ext cx="82296" cy="896112"/>
          </a:xfrm>
          <a:prstGeom prst="rect">
            <a:avLst/>
          </a:prstGeom>
          <a:solidFill>
            <a:srgbClr val="8C6E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430768" y="4754880"/>
            <a:ext cx="3099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8C6E1A"/>
                </a:solidFill>
              </a:rPr>
              <a:t>Error patterns</a:t>
            </a:r>
            <a:endParaRPr lang="en-US" sz="115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950" dirty="0">
                <a:solidFill>
                  <a:srgbClr val="2B2B2B"/>
                </a:solidFill>
              </a:rPr>
              <a:t>Find systematic failures; iterate.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57200" y="6455664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E6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Station Outage — User Impact Analysis  ·  Weekly Progress Update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6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 — Progress &amp; Gaps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394960" cy="457200"/>
          </a:xfrm>
          <a:prstGeom prst="rect">
            <a:avLst/>
          </a:prstGeom>
          <a:solidFill>
            <a:srgbClr val="1A6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3232" y="1234440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94960" cy="1078992"/>
          </a:xfrm>
          <a:prstGeom prst="rect">
            <a:avLst/>
          </a:prstGeom>
          <a:solidFill>
            <a:srgbClr val="EAF6EE"/>
          </a:solidFill>
          <a:ln w="1587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828800"/>
            <a:ext cx="499262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A6B3C"/>
                </a:solidFill>
              </a:rPr>
              <a:t>Research plan finalized (v3)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00" dirty="0">
                <a:solidFill>
                  <a:srgbClr val="2B2B2B"/>
                </a:solidFill>
              </a:rPr>
              <a:t>Problem definition, data inventory, risk register, 5-phase roadmap.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035808"/>
            <a:ext cx="5394960" cy="1078992"/>
          </a:xfrm>
          <a:prstGeom prst="rect">
            <a:avLst/>
          </a:prstGeom>
          <a:solidFill>
            <a:srgbClr val="EAF6EE"/>
          </a:solidFill>
          <a:ln w="1587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9808" y="3035808"/>
            <a:ext cx="499262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A6B3C"/>
                </a:solidFill>
              </a:rPr>
              <a:t>Phase 0.1 — Ticket data analysis (started)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00" dirty="0">
                <a:solidFill>
                  <a:srgbClr val="2B2B2B"/>
                </a:solidFill>
              </a:rPr>
              <a:t>Equipment-type split (drop COW); severity &amp; customer-affecting distributions.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242816"/>
            <a:ext cx="5394960" cy="1078992"/>
          </a:xfrm>
          <a:prstGeom prst="rect">
            <a:avLst/>
          </a:prstGeom>
          <a:solidFill>
            <a:srgbClr val="EAF6EE"/>
          </a:solidFill>
          <a:ln w="1587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808" y="4242816"/>
            <a:ext cx="499262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A6B3C"/>
                </a:solidFill>
              </a:rPr>
              <a:t>Phase 1 — Full-outage use case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00" dirty="0">
                <a:solidFill>
                  <a:srgbClr val="2B2B2B"/>
                </a:solidFill>
              </a:rPr>
              <a:t>Traced one full-outage ticket end-to-end through the analysis chain.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45352" y="1234440"/>
            <a:ext cx="5394960" cy="457200"/>
          </a:xfrm>
          <a:prstGeom prst="rect">
            <a:avLst/>
          </a:prstGeom>
          <a:solidFill>
            <a:srgbClr val="8C6E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9944" y="1234440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Open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45352" y="4846320"/>
            <a:ext cx="5394960" cy="841248"/>
          </a:xfrm>
          <a:prstGeom prst="rect">
            <a:avLst/>
          </a:prstGeom>
          <a:solidFill>
            <a:srgbClr val="FBF1DD"/>
          </a:solidFill>
          <a:ln w="15875">
            <a:solidFill>
              <a:srgbClr val="C77D0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446520" y="4846320"/>
            <a:ext cx="49926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8C6E1A"/>
                </a:solidFill>
              </a:rPr>
              <a:t>Phase 1 — Remaining traces (cross-severity, partial)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55664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E6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Station Outage — User Impact Analysis  ·  Weekly Progress Update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6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143000"/>
          </a:xfrm>
          <a:prstGeom prst="rect">
            <a:avLst/>
          </a:prstGeom>
          <a:solidFill>
            <a:srgbClr val="EB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82296" cy="1143000"/>
          </a:xfrm>
          <a:prstGeom prst="rect">
            <a:avLst/>
          </a:prstGeom>
          <a:solidFill>
            <a:srgbClr val="1B8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rgbClr val="1B8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1600200"/>
            <a:ext cx="99029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B8A7A"/>
                </a:solidFill>
              </a:rPr>
              <a:t>Finish Phase 0 data exploration</a:t>
            </a:r>
            <a:endParaRPr lang="en-US" sz="15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2B2B2B"/>
                </a:solidFill>
              </a:rPr>
              <a:t>Cascade detection, KPI sampling (10–15 tickets), and coverage-sampling validation across urban / suburban / rural sites.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11091672" cy="1143000"/>
          </a:xfrm>
          <a:prstGeom prst="rect">
            <a:avLst/>
          </a:prstGeom>
          <a:solidFill>
            <a:srgbClr val="EB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82296" cy="1143000"/>
          </a:xfrm>
          <a:prstGeom prst="rect">
            <a:avLst/>
          </a:prstGeom>
          <a:solidFill>
            <a:srgbClr val="2A4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22960" y="3246120"/>
            <a:ext cx="502920" cy="502920"/>
          </a:xfrm>
          <a:prstGeom prst="ellipse">
            <a:avLst/>
          </a:prstGeom>
          <a:solidFill>
            <a:srgbClr val="2A4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2926080"/>
            <a:ext cx="99029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A4F8C"/>
                </a:solidFill>
              </a:rPr>
              <a:t>Extend Phase 1 traces</a:t>
            </a:r>
            <a:endParaRPr lang="en-US" sz="15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2B2B2B"/>
                </a:solidFill>
              </a:rPr>
              <a:t>Add cross-severity and partial-degradation tickets; lock in the analysis logic before batching.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11091672" cy="1143000"/>
          </a:xfrm>
          <a:prstGeom prst="rect">
            <a:avLst/>
          </a:prstGeom>
          <a:solidFill>
            <a:srgbClr val="EB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4251960"/>
            <a:ext cx="82296" cy="1143000"/>
          </a:xfrm>
          <a:prstGeom prst="rect">
            <a:avLst/>
          </a:prstGeom>
          <a:solidFill>
            <a:srgbClr val="1A6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22960" y="4572000"/>
            <a:ext cx="502920" cy="502920"/>
          </a:xfrm>
          <a:prstGeom prst="ellipse">
            <a:avLst/>
          </a:prstGeom>
          <a:solidFill>
            <a:srgbClr val="1A6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4251960"/>
            <a:ext cx="99029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6B3C"/>
                </a:solidFill>
              </a:rPr>
              <a:t>Confirm open data questions</a:t>
            </a:r>
            <a:endParaRPr lang="en-US" sz="15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2B2B2B"/>
                </a:solidFill>
              </a:rPr>
              <a:t>Verify availability of back_to_service / resolved timestamps needed for outage-duration calculations.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6455664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E6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Station Outage — User Impact Analysis  ·  Weekly Progress Update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5569</TotalTime>
  <Words>1382</Words>
  <Application>Microsoft Macintosh PowerPoint</Application>
  <PresentationFormat>Widescreen</PresentationFormat>
  <Paragraphs>222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 Station Outage — Weekly Progress</dc:title>
  <dc:subject>PptxGenJS Presentation</dc:subject>
  <dc:creator>Weekly Update</dc:creator>
  <cp:lastModifiedBy>Zheng, Xinyue</cp:lastModifiedBy>
  <cp:revision>4</cp:revision>
  <dcterms:created xsi:type="dcterms:W3CDTF">2026-06-04T16:17:52Z</dcterms:created>
  <dcterms:modified xsi:type="dcterms:W3CDTF">2026-06-09T13:10:26Z</dcterms:modified>
</cp:coreProperties>
</file>