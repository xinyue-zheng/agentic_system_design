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262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statement: we design an agentic system that answers the what-if question for base-station outages. The gap matrix shows manual analysis is accurate but doesn't scale, existing tools are single-source and coarse; only an agentic system clears every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challenge, in two parts. Multi-source: coverage, KPIs, geography must be read jointly, no single one suffices. Open-ended: unlike a fixed pipeline, each finding changes where you look next, so the path emerges from evidence and cannot be scripted. Takeaway: the hard part is deciding where to investigate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ground truth to show the agent's regional judgments are right, but no regional service measurement exists. Instead we build a proxy from cell-level ground truth that we DO have from historical outages: RSRP (coverage) and the portion of a region's backup cells that reach a high-PRB state (capacity). Combined, they give a graded regional label. Boundary: this evaluates the backup load-and-coverage state a region inherits, not directly-measured regional degradation.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current human-trace analysis of traffic redistribution is a conservative stress test: each backup's added load estimated separately from coverage overlap. The limitation is double counting — the same traffic enters multiple estimates and worst cases needn't coincide, so load is over-stated. The plan: (1) add carried-traffic volume to the RRC/PRB analysis, (2) compare consistent allocation scenarios instead of independent worst cases, (3) test whether land-use weighting changes the conclusions. Still open: cell-level volume doesn't uniquely identify the regional source/destination of transferred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3604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kern="0" spc="3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8239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Assessing outage impact </a:t>
            </a:r>
            <a:r>
              <a:rPr lang="en-US" b="1" dirty="0" err="1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querys</a:t>
            </a:r>
            <a:r>
              <a:rPr lang="en-US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with an </a:t>
            </a:r>
            <a:r>
              <a:rPr lang="en-US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system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8452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these cells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C8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offline?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 ·  sector  ·  site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3320" y="210312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703320" y="21488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38711" y="2707517"/>
            <a:ext cx="14152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next step</a:t>
            </a:r>
            <a:r>
              <a:rPr lang="en-US" altLang="zh-CN" sz="1050" i="1" dirty="0">
                <a:solidFill>
                  <a:srgbClr val="5B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output a verified action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2583180"/>
            <a:ext cx="411480" cy="0"/>
          </a:xfrm>
          <a:prstGeom prst="line">
            <a:avLst/>
          </a:prstGeom>
          <a:noFill/>
          <a:ln w="22225">
            <a:solidFill>
              <a:srgbClr val="1329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85432" y="1783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redistribution  </a:t>
            </a:r>
            <a:r>
              <a:rPr lang="en-US" sz="10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backup cells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2359152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885432" y="235915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map  </a:t>
            </a:r>
            <a:r>
              <a:rPr lang="en-US" sz="10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· degraded · ok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2935224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85432" y="293522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region types  </a:t>
            </a:r>
            <a:r>
              <a:rPr lang="en-US" sz="10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· highway</a:t>
            </a:r>
            <a:r>
              <a:rPr lang="en-US" sz="12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commercial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2583180"/>
            <a:ext cx="685800" cy="0"/>
          </a:xfrm>
          <a:prstGeom prst="line">
            <a:avLst/>
          </a:prstGeom>
          <a:noFill/>
          <a:ln w="22225">
            <a:solidFill>
              <a:srgbClr val="1329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3794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an agentic system is both scalable and comprehensive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829800" y="4297680"/>
            <a:ext cx="2194560" cy="2304288"/>
          </a:xfrm>
          <a:prstGeom prst="roundRect">
            <a:avLst>
              <a:gd name="adj" fmla="val 3333"/>
            </a:avLst>
          </a:prstGeom>
          <a:solidFill>
            <a:srgbClr val="E8E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669280" y="4343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343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4343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27448"/>
            <a:ext cx="1143000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48640" y="47274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evidence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47274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7274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0" y="47274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1846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Multi-granularity (carrier · site · cluster)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51846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51846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0" y="51846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6418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investigation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5641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0" y="5641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875520" y="5641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0990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&amp; scalable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0" y="6099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0" y="6099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875520" y="6099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kern="0" spc="3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156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 itself is </a:t>
            </a:r>
            <a:r>
              <a:rPr lang="en-US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multi-source</a:t>
            </a:r>
            <a:r>
              <a:rPr lang="en-US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r>
              <a:rPr lang="en-US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open-ended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suffices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214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KPIs, and geography must be examined jointly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8EFF9"/>
          </a:solidFill>
          <a:ln w="9525">
            <a:solidFill>
              <a:srgbClr val="5B8F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26060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8EFF9"/>
          </a:solidFill>
          <a:ln w="9525">
            <a:solidFill>
              <a:srgbClr val="5B8F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337560" y="26060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8EFF9"/>
          </a:solidFill>
          <a:ln w="9525">
            <a:solidFill>
              <a:srgbClr val="5B8F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344728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3447288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8EFF9"/>
          </a:solidFill>
          <a:ln w="9525">
            <a:solidFill>
              <a:srgbClr val="5B8F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337560" y="344728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5137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jointly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1828800"/>
            <a:ext cx="0" cy="329184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35508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cannot be scripted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1214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changes where to look next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pipeline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69748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537960" y="2697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60920" y="3081528"/>
            <a:ext cx="0" cy="182880"/>
          </a:xfrm>
          <a:prstGeom prst="line">
            <a:avLst/>
          </a:prstGeom>
          <a:noFill/>
          <a:ln w="15875">
            <a:solidFill>
              <a:srgbClr val="8A93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37960" y="3264408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537960" y="32644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60920" y="3648456"/>
            <a:ext cx="0" cy="182880"/>
          </a:xfrm>
          <a:prstGeom prst="line">
            <a:avLst/>
          </a:prstGeom>
          <a:noFill/>
          <a:ln w="15875">
            <a:solidFill>
              <a:srgbClr val="8A93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37960" y="3831336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537960" y="38313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evidence-driven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52560" y="2697480"/>
            <a:ext cx="2057400" cy="384048"/>
          </a:xfrm>
          <a:prstGeom prst="roundRect">
            <a:avLst>
              <a:gd name="adj" fmla="val 14286"/>
            </a:avLst>
          </a:prstGeom>
          <a:solidFill>
            <a:srgbClr val="2E5E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052560" y="2697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coverage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81260" y="3081528"/>
            <a:ext cx="0" cy="182880"/>
          </a:xfrm>
          <a:prstGeom prst="line">
            <a:avLst/>
          </a:prstGeom>
          <a:noFill/>
          <a:ln w="15875">
            <a:solidFill>
              <a:srgbClr val="E8A1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109960" y="2889504"/>
            <a:ext cx="457200" cy="228600"/>
          </a:xfrm>
          <a:prstGeom prst="line">
            <a:avLst/>
          </a:prstGeom>
          <a:noFill/>
          <a:ln w="12700">
            <a:solidFill>
              <a:srgbClr val="8A93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052560" y="3264408"/>
            <a:ext cx="2057400" cy="384048"/>
          </a:xfrm>
          <a:prstGeom prst="roundRect">
            <a:avLst>
              <a:gd name="adj" fmla="val 14286"/>
            </a:avLst>
          </a:prstGeom>
          <a:solidFill>
            <a:srgbClr val="2E5E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9052560" y="32644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along highway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081260" y="3648456"/>
            <a:ext cx="0" cy="182880"/>
          </a:xfrm>
          <a:prstGeom prst="line">
            <a:avLst/>
          </a:prstGeom>
          <a:noFill/>
          <a:ln w="15875">
            <a:solidFill>
              <a:srgbClr val="E8A1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1109960" y="3456432"/>
            <a:ext cx="457200" cy="228600"/>
          </a:xfrm>
          <a:prstGeom prst="line">
            <a:avLst/>
          </a:prstGeom>
          <a:noFill/>
          <a:ln w="12700">
            <a:solidFill>
              <a:srgbClr val="8A93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052560" y="3831336"/>
            <a:ext cx="2057400" cy="384048"/>
          </a:xfrm>
          <a:prstGeom prst="roundRect">
            <a:avLst>
              <a:gd name="adj" fmla="val 14286"/>
            </a:avLst>
          </a:prstGeom>
          <a:solidFill>
            <a:srgbClr val="2E5E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9052560" y="383133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backup KPIs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8A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The challenge is not running the analysis, but deciding where to investigate next.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39A6-3E03-FE44-5A1A-F61DC7795C19}"/>
              </a:ext>
            </a:extLst>
          </p:cNvPr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500" b="1" kern="0" spc="3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r>
              <a:rPr lang="zh-CN" altLang="en-US" sz="3500" b="1" kern="0" spc="3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3500" b="1" kern="0" spc="3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5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EA36F4B-BAA7-61B2-28F5-6E86E5DB9330}"/>
              </a:ext>
            </a:extLst>
          </p:cNvPr>
          <p:cNvSpPr/>
          <p:nvPr/>
        </p:nvSpPr>
        <p:spPr>
          <a:xfrm>
            <a:off x="1253886" y="1425464"/>
            <a:ext cx="1524000" cy="7041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What-if query</a:t>
            </a:r>
          </a:p>
          <a:p>
            <a:pPr algn="ctr"/>
            <a:r>
              <a:rPr lang="en-US" sz="1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Cells duration</a:t>
            </a:r>
            <a:endParaRPr lang="en-US" sz="15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F08309-D4AC-B7F4-AF9C-ABB0116F23C6}"/>
              </a:ext>
            </a:extLst>
          </p:cNvPr>
          <p:cNvSpPr/>
          <p:nvPr/>
        </p:nvSpPr>
        <p:spPr>
          <a:xfrm>
            <a:off x="4487918" y="2165129"/>
            <a:ext cx="1818289" cy="70419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Execute</a:t>
            </a:r>
            <a:r>
              <a:rPr lang="zh-CN" altLang="en-US" sz="1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 </a:t>
            </a:r>
          </a:p>
          <a:p>
            <a:pPr algn="ctr"/>
            <a:r>
              <a:rPr lang="en-US" sz="1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Observe -&gt; decide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19A3E99-06F9-B563-4AC3-69AF1BF9E404}"/>
              </a:ext>
            </a:extLst>
          </p:cNvPr>
          <p:cNvSpPr/>
          <p:nvPr/>
        </p:nvSpPr>
        <p:spPr>
          <a:xfrm>
            <a:off x="4487917" y="3009523"/>
            <a:ext cx="1818289" cy="70419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Verify</a:t>
            </a:r>
            <a:r>
              <a:rPr lang="zh-CN" altLang="en-US" sz="1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 </a:t>
            </a:r>
          </a:p>
          <a:p>
            <a:pPr algn="ctr"/>
            <a:r>
              <a:rPr lang="en-US" sz="1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review -&gt; flag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EC8F37D-7D4D-E351-75B3-D9B5E86D608F}"/>
              </a:ext>
            </a:extLst>
          </p:cNvPr>
          <p:cNvSpPr/>
          <p:nvPr/>
        </p:nvSpPr>
        <p:spPr>
          <a:xfrm>
            <a:off x="762527" y="2517225"/>
            <a:ext cx="2107324" cy="105103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Evidence state</a:t>
            </a:r>
          </a:p>
          <a:p>
            <a:pPr algn="ctr"/>
            <a:r>
              <a:rPr lang="en-US" sz="1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Context grow each round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3B9EFEF-D94A-1DBE-B996-CF81909D1333}"/>
              </a:ext>
            </a:extLst>
          </p:cNvPr>
          <p:cNvSpPr/>
          <p:nvPr/>
        </p:nvSpPr>
        <p:spPr>
          <a:xfrm>
            <a:off x="4610887" y="5297775"/>
            <a:ext cx="1450427" cy="57806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Tool Library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B1E04C6-803B-7B0C-8F4A-4616F92624EC}"/>
              </a:ext>
            </a:extLst>
          </p:cNvPr>
          <p:cNvSpPr/>
          <p:nvPr/>
        </p:nvSpPr>
        <p:spPr>
          <a:xfrm>
            <a:off x="4771695" y="1653690"/>
            <a:ext cx="1250731" cy="4729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Skill library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29562B65-D395-5993-7AD4-270040F5892E}"/>
              </a:ext>
            </a:extLst>
          </p:cNvPr>
          <p:cNvSpPr/>
          <p:nvPr/>
        </p:nvSpPr>
        <p:spPr>
          <a:xfrm>
            <a:off x="4426957" y="4376429"/>
            <a:ext cx="1818289" cy="704193"/>
          </a:xfrm>
          <a:prstGeom prst="diamond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Budget Check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427655-20BC-9306-9B90-272EC4059ABB}"/>
              </a:ext>
            </a:extLst>
          </p:cNvPr>
          <p:cNvSpPr/>
          <p:nvPr/>
        </p:nvSpPr>
        <p:spPr>
          <a:xfrm>
            <a:off x="4206240" y="1425464"/>
            <a:ext cx="2259724" cy="2505405"/>
          </a:xfrm>
          <a:prstGeom prst="round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545A7D-BBFC-A483-B959-7C7DECC13012}"/>
              </a:ext>
            </a:extLst>
          </p:cNvPr>
          <p:cNvCxnSpPr>
            <a:stCxn id="4" idx="3"/>
          </p:cNvCxnSpPr>
          <p:nvPr/>
        </p:nvCxnSpPr>
        <p:spPr>
          <a:xfrm flipV="1">
            <a:off x="2777886" y="1777560"/>
            <a:ext cx="13526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9876B3-974C-DABE-3A47-7058697A3B9A}"/>
              </a:ext>
            </a:extLst>
          </p:cNvPr>
          <p:cNvCxnSpPr>
            <a:stCxn id="12" idx="2"/>
            <a:endCxn id="11" idx="0"/>
          </p:cNvCxnSpPr>
          <p:nvPr/>
        </p:nvCxnSpPr>
        <p:spPr>
          <a:xfrm>
            <a:off x="5336102" y="3930869"/>
            <a:ext cx="0" cy="445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A56D01-7505-F619-6EBC-959C3E143033}"/>
              </a:ext>
            </a:extLst>
          </p:cNvPr>
          <p:cNvCxnSpPr>
            <a:stCxn id="11" idx="2"/>
            <a:endCxn id="9" idx="0"/>
          </p:cNvCxnSpPr>
          <p:nvPr/>
        </p:nvCxnSpPr>
        <p:spPr>
          <a:xfrm flipH="1">
            <a:off x="5336101" y="5080622"/>
            <a:ext cx="1" cy="217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7D839422-9F08-DC3E-852E-A773ED2CFDD6}"/>
              </a:ext>
            </a:extLst>
          </p:cNvPr>
          <p:cNvCxnSpPr>
            <a:stCxn id="9" idx="1"/>
            <a:endCxn id="8" idx="2"/>
          </p:cNvCxnSpPr>
          <p:nvPr/>
        </p:nvCxnSpPr>
        <p:spPr>
          <a:xfrm rot="10800000">
            <a:off x="1816189" y="3568260"/>
            <a:ext cx="2794698" cy="20185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CAB526-6D14-DF5A-8882-36AF2FF38C48}"/>
              </a:ext>
            </a:extLst>
          </p:cNvPr>
          <p:cNvCxnSpPr>
            <a:stCxn id="8" idx="3"/>
          </p:cNvCxnSpPr>
          <p:nvPr/>
        </p:nvCxnSpPr>
        <p:spPr>
          <a:xfrm flipV="1">
            <a:off x="2869851" y="3042742"/>
            <a:ext cx="13363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Down Arrow 26">
            <a:extLst>
              <a:ext uri="{FF2B5EF4-FFF2-40B4-BE49-F238E27FC236}">
                <a16:creationId xmlns:a16="http://schemas.microsoft.com/office/drawing/2014/main" id="{5BFE2EBA-ECE2-9D15-7400-589C18D03C36}"/>
              </a:ext>
            </a:extLst>
          </p:cNvPr>
          <p:cNvSpPr/>
          <p:nvPr/>
        </p:nvSpPr>
        <p:spPr>
          <a:xfrm>
            <a:off x="5336100" y="2869322"/>
            <a:ext cx="60960" cy="17342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EBBD6F-380C-C7CF-E7F1-2D98F37B014A}"/>
              </a:ext>
            </a:extLst>
          </p:cNvPr>
          <p:cNvSpPr txBox="1"/>
          <p:nvPr/>
        </p:nvSpPr>
        <p:spPr>
          <a:xfrm>
            <a:off x="5273038" y="3956015"/>
            <a:ext cx="830316" cy="36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04A9EF5-9331-3BEB-0A70-30B2E3B76975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6465964" y="2678167"/>
            <a:ext cx="11330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90D64AB-B28C-DA35-41E0-582E793116C1}"/>
              </a:ext>
            </a:extLst>
          </p:cNvPr>
          <p:cNvSpPr txBox="1"/>
          <p:nvPr/>
        </p:nvSpPr>
        <p:spPr>
          <a:xfrm>
            <a:off x="6465964" y="2385848"/>
            <a:ext cx="10384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Enough to output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4A7565A-5609-B546-C540-CE7CC07E0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824" y="2176516"/>
            <a:ext cx="21209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27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kern="0" spc="3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235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regional impact from </a:t>
            </a:r>
            <a:r>
              <a:rPr lang="en-US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cell-level ground truth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service measurements are unavailable — so we build a measurable proxy.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108960" cy="251460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350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regional service data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outages give real </a:t>
            </a:r>
            <a:r>
              <a:rPr lang="en-US" sz="13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cell-level</a:t>
            </a: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ground truth KPIs including: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23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RRC  ·  PRB  ·  RSRP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9959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3995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RRC  ·  PRB  ·  RSRP…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67328" y="3406140"/>
            <a:ext cx="384048" cy="0"/>
          </a:xfrm>
          <a:prstGeom prst="line">
            <a:avLst/>
          </a:prstGeom>
          <a:noFill/>
          <a:ln w="25400">
            <a:solidFill>
              <a:srgbClr val="2E5EA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61104" y="2148840"/>
            <a:ext cx="3794760" cy="251460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489704" y="23500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89704" y="267919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region inherits the state of its backup cells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89704" y="3383280"/>
            <a:ext cx="3337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5B8F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672584" y="3383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 </a:t>
            </a:r>
            <a:r>
              <a:rPr lang="en-US" sz="12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strength (RSRP)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89704" y="4023360"/>
            <a:ext cx="3337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5B8F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672584" y="4023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  </a:t>
            </a:r>
            <a:r>
              <a:rPr lang="en-US" sz="12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portion of backups saturated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165592" y="3406140"/>
            <a:ext cx="384048" cy="0"/>
          </a:xfrm>
          <a:prstGeom prst="line">
            <a:avLst/>
          </a:prstGeom>
          <a:noFill/>
          <a:ln w="25400">
            <a:solidFill>
              <a:srgbClr val="2E5EA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59368" y="2148840"/>
            <a:ext cx="2953512" cy="251460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887968" y="235000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887968" y="267919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graded regional label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15400" y="3328416"/>
            <a:ext cx="146304" cy="146304"/>
          </a:xfrm>
          <a:prstGeom prst="ellipse">
            <a:avLst/>
          </a:prstGeom>
          <a:solidFill>
            <a:srgbClr val="C84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171432" y="3246120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signal → coverage-driven degradation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15400" y="3785616"/>
            <a:ext cx="146304" cy="146304"/>
          </a:xfrm>
          <a:prstGeom prst="ellipse">
            <a:avLst/>
          </a:prstGeom>
          <a:solidFill>
            <a:srgbClr val="E8A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171432" y="3703320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saturated → congestion (scales with portion)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915400" y="4242816"/>
            <a:ext cx="146304" cy="14630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171432" y="4160520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signal, spare capacity → unaffected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Refining the </a:t>
            </a:r>
            <a:r>
              <a:rPr lang="en-US" sz="32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redistribution</a:t>
            </a:r>
            <a:r>
              <a:rPr lang="en-US" sz="3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estimate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many-to-many region–cell relationships, how should we estimate backup load?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23591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a conservative stress test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70048"/>
            <a:ext cx="4562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each backup's added traffic separately from coverage overlap — land-use differences not yet considered.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BF1E5"/>
          </a:solidFill>
          <a:ln w="12700">
            <a:solidFill>
              <a:srgbClr val="E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04672" y="37764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A6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— double counting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087368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traffic can enter several estimates; each backup's worst case need not occur simultaneously — so the load is over-stated.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760720" y="3611880"/>
            <a:ext cx="411480" cy="0"/>
          </a:xfrm>
          <a:prstGeom prst="line">
            <a:avLst/>
          </a:prstGeom>
          <a:noFill/>
          <a:ln w="25400">
            <a:solidFill>
              <a:srgbClr val="2E5EA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55080" y="2194560"/>
            <a:ext cx="5257800" cy="283464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29400" y="23591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47688" y="2798064"/>
            <a:ext cx="365760" cy="36576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647688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27432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volume to the picture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3017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RRC + PRB analysis with carried-traffic volume to check real load changes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47688" y="3511296"/>
            <a:ext cx="365760" cy="36576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647688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34564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allocation scenarios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73075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consistent traffic-sharing assumptions instead of independent worst cases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47688" y="4224528"/>
            <a:ext cx="365760" cy="36576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647688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1696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land-use sensitivity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44398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land-use weighting changes the regional risk conclusions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711</Words>
  <Application>Microsoft Macintosh PowerPoint</Application>
  <PresentationFormat>Widescreen</PresentationFormat>
  <Paragraphs>107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Zheng, Xinyue</cp:lastModifiedBy>
  <cp:revision>2</cp:revision>
  <dcterms:created xsi:type="dcterms:W3CDTF">2026-09-16T05:54:09Z</dcterms:created>
  <dcterms:modified xsi:type="dcterms:W3CDTF">2026-09-16T08:41:08Z</dcterms:modified>
</cp:coreProperties>
</file>