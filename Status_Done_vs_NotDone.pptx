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story, top to bottom: the answer is an interval; its width comes from three variables; each variable has its own data source that narrows it; the order of narrowing is chosen by certainty-per-cost; we stop when nothing is worth its price. Built and running: KPI registry + parameterized SQL behind B and O, coverage scan/refine behind H, LangGraph loop with milestones, judge, evidence provenance and checkpoints around it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extensions, one message each. Throughput: the formula is ready and almost all of its inputs are by-products of data we already buy for RRC. Worker autonomy: motivated by a real incident; the autonomy is enum-constrained and proposal-based, so auditability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Built: Buying Down Uncertainty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never computed once — it starts as a wide range, and every query exists to narrow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1C6E7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RRC_loss  =  B × ( H + O )</a:t>
            </a:r>
            <a:pPr algn="ctr" indent="0" marL="0">
              <a:buNone/>
            </a:pPr>
            <a:r>
              <a:rPr lang="en-US" sz="1200" dirty="0">
                <a:solidFill>
                  <a:srgbClr val="D7E9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each variable held as  [low, mid, high]  —  bounds on its true value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1938528"/>
            <a:ext cx="2697480" cy="2084832"/>
          </a:xfrm>
          <a:prstGeom prst="roundRect">
            <a:avLst>
              <a:gd name="adj" fmla="val 2632"/>
            </a:avLst>
          </a:prstGeom>
          <a:solidFill>
            <a:srgbClr val="F2F4F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048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 </a:t>
            </a:r>
            <a:pPr indent="0" marL="0">
              <a:buNone/>
            </a:pPr>
            <a:r>
              <a:rPr lang="en-US" sz="1150" b="1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connections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4140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RRC connections the cell actually carries in that window.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94360" y="29626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b="1" dirty="0">
                <a:solidFill>
                  <a:srgbClr val="16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by: </a:t>
            </a:r>
            <a:pPr indent="0" marL="0">
              <a:buNone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KPI query (historical same-window)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94360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17320" y="3520440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C9D4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458468" y="3511296"/>
            <a:ext cx="1289304" cy="54864"/>
          </a:xfrm>
          <a:prstGeom prst="roundRect">
            <a:avLst>
              <a:gd name="adj" fmla="val 50000"/>
            </a:avLst>
          </a:prstGeom>
          <a:solidFill>
            <a:srgbClr val="168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1426464" y="350672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350672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3493008"/>
            <a:ext cx="91440" cy="91440"/>
          </a:xfrm>
          <a:prstGeom prst="diamond">
            <a:avLst/>
          </a:prstGeom>
          <a:solidFill>
            <a:srgbClr val="1C6E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21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query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417320" y="3794760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C9D4D6"/>
          </a:solidFill>
          <a:ln/>
        </p:spPr>
      </p:sp>
      <p:sp>
        <p:nvSpPr>
          <p:cNvPr id="18" name="Shape 16"/>
          <p:cNvSpPr/>
          <p:nvPr/>
        </p:nvSpPr>
        <p:spPr>
          <a:xfrm>
            <a:off x="1869948" y="3785616"/>
            <a:ext cx="370332" cy="54864"/>
          </a:xfrm>
          <a:prstGeom prst="roundRect">
            <a:avLst>
              <a:gd name="adj" fmla="val 50000"/>
            </a:avLst>
          </a:prstGeom>
          <a:solidFill>
            <a:srgbClr val="168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837944" y="378104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08276" y="378104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88820" y="3767328"/>
            <a:ext cx="91440" cy="91440"/>
          </a:xfrm>
          <a:prstGeom prst="diamond">
            <a:avLst/>
          </a:prstGeom>
          <a:solidFill>
            <a:srgbClr val="1C6E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1938528"/>
            <a:ext cx="2697480" cy="2084832"/>
          </a:xfrm>
          <a:prstGeom prst="roundRect">
            <a:avLst>
              <a:gd name="adj" fmla="val 2632"/>
            </a:avLst>
          </a:prstGeom>
          <a:solidFill>
            <a:srgbClr val="F2F4F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01568" y="2048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  </a:t>
            </a:r>
            <a:pPr indent="0" marL="0">
              <a:buNone/>
            </a:pPr>
            <a:r>
              <a:rPr lang="en-US" sz="1150" b="1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Coverage-hole share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401568" y="24140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area is left with no usable neighbor signal — those users drop.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401568" y="29626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b="1" dirty="0">
                <a:solidFill>
                  <a:srgbClr val="16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by: </a:t>
            </a:r>
            <a:pPr indent="0" marL="0">
              <a:buNone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API: coarse scan, then targeted refine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3401568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24528" y="3520440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C9D4D6"/>
          </a:solidFill>
          <a:ln/>
        </p:spPr>
      </p:sp>
      <p:sp>
        <p:nvSpPr>
          <p:cNvPr id="28" name="Shape 26"/>
          <p:cNvSpPr/>
          <p:nvPr/>
        </p:nvSpPr>
        <p:spPr>
          <a:xfrm>
            <a:off x="4265676" y="3511296"/>
            <a:ext cx="1289304" cy="54864"/>
          </a:xfrm>
          <a:prstGeom prst="roundRect">
            <a:avLst>
              <a:gd name="adj" fmla="val 50000"/>
            </a:avLst>
          </a:prstGeom>
          <a:solidFill>
            <a:srgbClr val="168C8C"/>
          </a:solidFill>
          <a:ln/>
        </p:spPr>
      </p:sp>
      <p:sp>
        <p:nvSpPr>
          <p:cNvPr id="29" name="Shape 27"/>
          <p:cNvSpPr/>
          <p:nvPr/>
        </p:nvSpPr>
        <p:spPr>
          <a:xfrm>
            <a:off x="4233672" y="350672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22976" y="350672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96028" y="3493008"/>
            <a:ext cx="91440" cy="91440"/>
          </a:xfrm>
          <a:prstGeom prst="diamond">
            <a:avLst/>
          </a:prstGeom>
          <a:solidFill>
            <a:srgbClr val="1C6E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3721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query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24528" y="3794760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C9D4D6"/>
          </a:solidFill>
          <a:ln/>
        </p:spPr>
      </p:sp>
      <p:sp>
        <p:nvSpPr>
          <p:cNvPr id="34" name="Shape 32"/>
          <p:cNvSpPr/>
          <p:nvPr/>
        </p:nvSpPr>
        <p:spPr>
          <a:xfrm>
            <a:off x="4677156" y="3785616"/>
            <a:ext cx="370332" cy="54864"/>
          </a:xfrm>
          <a:prstGeom prst="roundRect">
            <a:avLst>
              <a:gd name="adj" fmla="val 50000"/>
            </a:avLst>
          </a:prstGeom>
          <a:solidFill>
            <a:srgbClr val="168C8C"/>
          </a:solidFill>
          <a:ln/>
        </p:spPr>
      </p:sp>
      <p:sp>
        <p:nvSpPr>
          <p:cNvPr id="35" name="Shape 33"/>
          <p:cNvSpPr/>
          <p:nvPr/>
        </p:nvSpPr>
        <p:spPr>
          <a:xfrm>
            <a:off x="4645152" y="378104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5484" y="378104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6028" y="3767328"/>
            <a:ext cx="91440" cy="91440"/>
          </a:xfrm>
          <a:prstGeom prst="diamond">
            <a:avLst/>
          </a:prstGeom>
          <a:solidFill>
            <a:srgbClr val="1C6E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1938528"/>
            <a:ext cx="2697480" cy="2084832"/>
          </a:xfrm>
          <a:prstGeom prst="roundRect">
            <a:avLst>
              <a:gd name="adj" fmla="val 2632"/>
            </a:avLst>
          </a:prstGeom>
          <a:solidFill>
            <a:srgbClr val="F2F4F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08776" y="2048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  </a:t>
            </a:r>
            <a:pPr indent="0" marL="0">
              <a:buNone/>
            </a:pPr>
            <a:r>
              <a:rPr lang="en-US" sz="1150" b="1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share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6208776" y="24140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has coverage but cannot be absorbed — neighbors near capacity.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208776" y="29626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b="1" dirty="0">
                <a:solidFill>
                  <a:srgbClr val="16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by: </a:t>
            </a:r>
            <a:pPr indent="0" marL="0">
              <a:buNone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Neighbor-load KPIs over the confirmed neighbor set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6208776" y="34472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31736" y="3520440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C9D4D6"/>
          </a:solidFill>
          <a:ln/>
        </p:spPr>
      </p:sp>
      <p:sp>
        <p:nvSpPr>
          <p:cNvPr id="44" name="Shape 42"/>
          <p:cNvSpPr/>
          <p:nvPr/>
        </p:nvSpPr>
        <p:spPr>
          <a:xfrm>
            <a:off x="7072884" y="3511296"/>
            <a:ext cx="1289304" cy="54864"/>
          </a:xfrm>
          <a:prstGeom prst="roundRect">
            <a:avLst>
              <a:gd name="adj" fmla="val 50000"/>
            </a:avLst>
          </a:prstGeom>
          <a:solidFill>
            <a:srgbClr val="168C8C"/>
          </a:solidFill>
          <a:ln/>
        </p:spPr>
      </p:sp>
      <p:sp>
        <p:nvSpPr>
          <p:cNvPr id="45" name="Shape 43"/>
          <p:cNvSpPr/>
          <p:nvPr/>
        </p:nvSpPr>
        <p:spPr>
          <a:xfrm>
            <a:off x="7040880" y="350672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184" y="350672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03236" y="3493008"/>
            <a:ext cx="91440" cy="91440"/>
          </a:xfrm>
          <a:prstGeom prst="diamond">
            <a:avLst/>
          </a:prstGeom>
          <a:solidFill>
            <a:srgbClr val="1C6E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08776" y="3721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query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31736" y="3794760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C9D4D6"/>
          </a:solidFill>
          <a:ln/>
        </p:spPr>
      </p:sp>
      <p:sp>
        <p:nvSpPr>
          <p:cNvPr id="50" name="Shape 48"/>
          <p:cNvSpPr/>
          <p:nvPr/>
        </p:nvSpPr>
        <p:spPr>
          <a:xfrm>
            <a:off x="7484364" y="3785616"/>
            <a:ext cx="370332" cy="54864"/>
          </a:xfrm>
          <a:prstGeom prst="roundRect">
            <a:avLst>
              <a:gd name="adj" fmla="val 50000"/>
            </a:avLst>
          </a:prstGeom>
          <a:solidFill>
            <a:srgbClr val="168C8C"/>
          </a:solidFill>
          <a:ln/>
        </p:spPr>
      </p:sp>
      <p:sp>
        <p:nvSpPr>
          <p:cNvPr id="51" name="Shape 49"/>
          <p:cNvSpPr/>
          <p:nvPr/>
        </p:nvSpPr>
        <p:spPr>
          <a:xfrm>
            <a:off x="7452360" y="378104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22692" y="3781044"/>
            <a:ext cx="64008" cy="64008"/>
          </a:xfrm>
          <a:prstGeom prst="ellipse">
            <a:avLst/>
          </a:prstGeom>
          <a:solidFill>
            <a:srgbClr val="168C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03236" y="3767328"/>
            <a:ext cx="91440" cy="91440"/>
          </a:xfrm>
          <a:prstGeom prst="diamond">
            <a:avLst/>
          </a:prstGeom>
          <a:solidFill>
            <a:srgbClr val="1C6E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4187952"/>
            <a:ext cx="8321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1792" y="4187952"/>
            <a:ext cx="7900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order?  </a:t>
            </a:r>
            <a:pPr indent="0" marL="0">
              <a:buNone/>
            </a:pPr>
            <a:r>
              <a:rPr lang="en-US" sz="115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U(v) × r ÷ c — narrow whichever variable buys the most certainty per unit of query cost.  </a:t>
            </a:r>
            <a:pPr indent="0" marL="0">
              <a:buNone/>
            </a:pPr>
            <a:r>
              <a:rPr lang="en-US" sz="1150" b="1" dirty="0">
                <a:solidFill>
                  <a:srgbClr val="1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stop?  </a:t>
            </a:r>
            <a:pPr indent="0" marL="0">
              <a:buNone/>
            </a:pPr>
            <a:r>
              <a:rPr lang="en-US" sz="115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 &lt; θ: nothing left is worth its price. Budget hard-capped in the tool layer; every step logged with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Done Yet: Two Designed Extensions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fully specified, awaiting implementation — neither blocks the current RRC deliverable.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114800" cy="3291840"/>
          </a:xfrm>
          <a:prstGeom prst="roundRect">
            <a:avLst>
              <a:gd name="adj" fmla="val 1667"/>
            </a:avLst>
          </a:prstGeom>
          <a:solidFill>
            <a:srgbClr val="F2F4F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99032"/>
            <a:ext cx="438912" cy="438912"/>
          </a:xfrm>
          <a:prstGeom prst="ellipse">
            <a:avLst/>
          </a:prstGeom>
          <a:solidFill>
            <a:srgbClr val="1C6E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087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13990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chain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2648" y="1947672"/>
            <a:ext cx="371246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" y="194767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T_loss = T × ( H + (1−H) × L ),   L = 1 − s × 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2648" y="2532888"/>
            <a:ext cx="3712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baseline traffic — same Snowflake query as B, extra columns only</a:t>
            </a:r>
            <a:endParaRPr lang="en-US" sz="96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shared with the RRC chain — one coverage scan feeds both</a:t>
            </a:r>
            <a:endParaRPr lang="en-US" sz="96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spectral-efficiency retention from ΔRSRP (dominant vs 2nd-best) — already a by-product of coverage evidence</a:t>
            </a:r>
            <a:endParaRPr lang="en-US" sz="96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PRB-availability retention from neighbor load — already collected for M4</a:t>
            </a:r>
            <a:endParaRPr lang="en-US" sz="960" dirty="0"/>
          </a:p>
          <a:p>
            <a:pPr marL="101600" indent="-101600"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items: monotone-direction support in propagation, M1/M5 contract + rubric extension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114800" cy="3291840"/>
          </a:xfrm>
          <a:prstGeom prst="roundRect">
            <a:avLst>
              <a:gd name="adj" fmla="val 1667"/>
            </a:avLst>
          </a:prstGeom>
          <a:solidFill>
            <a:srgbClr val="F2F4F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399032"/>
            <a:ext cx="438912" cy="438912"/>
          </a:xfrm>
          <a:prstGeom prst="ellipse">
            <a:avLst/>
          </a:prstGeom>
          <a:solidFill>
            <a:srgbClr val="1C6E7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5087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3248" y="13990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worker autonomy (kpi_analyst first)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4864608" y="1947672"/>
            <a:ext cx="371246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64608" y="194767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params → execute → self-check   (max 2 internal retries)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64608" y="2532888"/>
            <a:ext cx="3712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0-rows neighbor query (site-ID format mismatch) was silently recorded — nobody owned the judgment “this result is wrong”</a:t>
            </a:r>
            <a:endParaRPr lang="en-US" sz="96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freedom = one validated JSON of query params within the 2D data contract — still no SQL, budget untouched</a:t>
            </a:r>
            <a:endParaRPr lang="en-US" sz="96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is rules first: entity coverage (rows per requested ID), value-range sanity from the KPI registry</a:t>
            </a:r>
            <a:endParaRPr lang="en-US" sz="96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LLM picks from a fixed menu: submit_partial / retry_with_mapping / retry_lower_granularity / report_anomaly</a:t>
            </a:r>
            <a:endParaRPr lang="en-US" sz="960" dirty="0"/>
          </a:p>
          <a:p>
            <a:pPr marL="101600" indent="-101600">
              <a:buSzPct val="100000"/>
              <a:buChar char="•"/>
            </a:pPr>
            <a:r>
              <a:rPr lang="en-US" sz="96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proposal — deterministic update_chain validates it before anything touches the intervals</a:t>
            </a:r>
            <a:endParaRPr lang="en-US" sz="960" dirty="0"/>
          </a:p>
        </p:txBody>
      </p:sp>
      <p:sp>
        <p:nvSpPr>
          <p:cNvPr id="18" name="Text 14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reuse evidence the system already collects </a:t>
            </a:r>
            <a:pPr algn="ctr" indent="0" marL="0">
              <a:buNone/>
            </a:pPr>
            <a:r>
              <a:rPr lang="en-US" sz="1200" dirty="0">
                <a:solidFill>
                  <a:srgbClr val="243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marginal cost is engineering, not query budget.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Status: Done vs Not Done</dc:title>
  <dc:subject>PptxGenJS Presentation</dc:subject>
  <dc:creator>PptxGenJS</dc:creator>
  <cp:lastModifiedBy>PptxGenJS</cp:lastModifiedBy>
  <cp:revision>1</cp:revision>
  <dcterms:created xsi:type="dcterms:W3CDTF">2026-06-11T15:52:52Z</dcterms:created>
  <dcterms:modified xsi:type="dcterms:W3CDTF">2026-06-11T15:52:52Z</dcterms:modified>
</cp:coreProperties>
</file>