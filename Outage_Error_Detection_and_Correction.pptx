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8"/>
  </p:normalViewPr>
  <p:slideViewPr>
    <p:cSldViewPr snapToGrid="0">
      <p:cViewPr varScale="1">
        <p:scale>
          <a:sx n="93" d="100"/>
          <a:sy n="93" d="100"/>
        </p:scale>
        <p:origin x="6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candidate approaches for the outage investigation system. Online checks use evidence available at the current step. They can check explicit information requirements and tool capabilities when the target region, time and metric are identifiable. Necessary intermediate actions can be valid.</a:t>
            </a:r>
          </a:p>
          <a:p>
            <a:endParaRPr/>
          </a:p>
          <a:p>
            <a:r>
              <a:t>Offline diagnosis compares the final output with a reference under the same data version and analysis criteria, then retrieves relevant state transitions, actual model inputs, actions and observations. Intermediate unknown values are normal. Candidate steps and semantic diagnoses do not establish a unique root cause.</a:t>
            </a:r>
          </a:p>
          <a:p>
            <a:endParaRPr/>
          </a:p>
          <a:p>
            <a:r>
              <a:t>When changing one step and rerunning, keep the data version and execution budget comparable. Use ground truth for evaluation. If ground truth guides the intervention itself, report that as a reference-guided diagnostic experiment. Consider variation across repeated model runs.</a:t>
            </a:r>
          </a:p>
          <a:p>
            <a:endParaRPr/>
          </a:p>
          <a:p>
            <a:r>
              <a:t>Related methods: AgentRx combines step-level checks and evidence with LLM failure attribution: https://arxiv.org/abs/2602.02475</a:t>
            </a:r>
          </a:p>
          <a:p>
            <a:r>
              <a:t>AgentDebug combines trajectory diagnosis, corrective feedback and subsequent execution: https://arxiv.org/abs/2509.25370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correction methods specified for comparison. Textual feedback asks the model to adjust future actions. Programmatic state correction explicitly reopens an incorrectly excluded region, incorporates correction evidence and regenerates the context. Checkpoint recovery returns to the saved state before the identified decision and executes later steps again with the same corrective information.</a:t>
            </a:r>
          </a:p>
          <a:p>
            <a:endParaRPr/>
          </a:p>
          <a:p>
            <a:r>
              <a:t>For a comparison, use the same identified issue and equivalent corrective information across methods. Restoring a checkpoint alone does not identify the error or supply the correction.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064B8027-0BD6-42DF-B75E-2FDBD635B866}"/>
              </a:ext>
            </a:extLst>
          </p:cNvPr>
          <p:cNvSpPr>
            <a:spLocks noGrp="1"/>
          </p:cNvSpPr>
          <p:nvPr/>
        </p:nvSpPr>
        <p:spPr>
          <a:xfrm>
            <a:off x="457200" y="400050"/>
            <a:ext cx="14325600" cy="857250"/>
          </a:xfrm>
          <a:prstGeom prst="rect">
            <a:avLst/>
          </a:prstGeom>
          <a:noFill/>
          <a:ln w="0">
            <a:noFill/>
          </a:ln>
        </p:spPr>
        <p:txBody>
          <a:bodyPr wrap="square" lIns="0" tIns="0" rIns="0" bIns="0" anchor="t">
            <a:noAutofit/>
          </a:bodyPr>
          <a:lstStyle/>
          <a:p>
            <a:pPr>
              <a:defRPr sz="4200" b="1">
                <a:solidFill>
                  <a:srgbClr val="2E5EAA"/>
                </a:solidFill>
                <a:latin typeface="Helvetica Neue"/>
                <a:ea typeface="Helvetica Neue"/>
                <a:cs typeface="Helvetica Neue"/>
              </a:defRPr>
            </a:pPr>
            <a:r>
              <a:rPr sz="4200" b="1">
                <a:solidFill>
                  <a:srgbClr val="2E5EAA"/>
                </a:solidFill>
                <a:latin typeface="Helvetica Neue"/>
                <a:ea typeface="Helvetica Neue"/>
                <a:cs typeface="Helvetica Neue"/>
              </a:rPr>
              <a:t>Decision error detection</a:t>
            </a:r>
          </a:p>
        </p:txBody>
      </p:sp>
      <p:sp>
        <p:nvSpPr>
          <p:cNvPr id="2" name="Online heading">
            <a:extLst>
              <a:ext uri="{FF2B5EF4-FFF2-40B4-BE49-F238E27FC236}">
                <a16:creationId xmlns:a16="http://schemas.microsoft.com/office/drawing/2014/main" id="{4FBD00AC-508B-4644-ACB8-88A839240334}"/>
              </a:ext>
            </a:extLst>
          </p:cNvPr>
          <p:cNvSpPr>
            <a:spLocks noGrp="1"/>
          </p:cNvSpPr>
          <p:nvPr/>
        </p:nvSpPr>
        <p:spPr>
          <a:xfrm>
            <a:off x="590550" y="1628775"/>
            <a:ext cx="14058900" cy="457200"/>
          </a:xfrm>
          <a:prstGeom prst="rect">
            <a:avLst/>
          </a:prstGeom>
          <a:noFill/>
          <a:ln w="0">
            <a:noFill/>
          </a:ln>
        </p:spPr>
        <p:txBody>
          <a:bodyPr wrap="square" lIns="0" tIns="0" rIns="0" bIns="0" anchor="t">
            <a:noAutofit/>
          </a:bodyPr>
          <a:lstStyle/>
          <a:p>
            <a:pPr>
              <a:defRPr sz="2625" b="1">
                <a:solidFill>
                  <a:srgbClr val="151515"/>
                </a:solidFill>
                <a:latin typeface="Helvetica Neue"/>
                <a:ea typeface="Helvetica Neue"/>
                <a:cs typeface="Helvetica Neue"/>
              </a:defRPr>
            </a:pPr>
            <a:r>
              <a:rPr sz="2625" b="1">
                <a:solidFill>
                  <a:srgbClr val="151515"/>
                </a:solidFill>
                <a:latin typeface="Helvetica Neue"/>
                <a:ea typeface="Helvetica Neue"/>
                <a:cs typeface="Helvetica Neue"/>
              </a:rPr>
              <a:t>Online checks</a:t>
            </a:r>
          </a:p>
        </p:txBody>
      </p:sp>
      <p:sp>
        <p:nvSpPr>
          <p:cNvPr id="3" name="Online methods">
            <a:extLst>
              <a:ext uri="{FF2B5EF4-FFF2-40B4-BE49-F238E27FC236}">
                <a16:creationId xmlns:a16="http://schemas.microsoft.com/office/drawing/2014/main" id="{7EA8B2A4-E088-4042-95EA-663B92B4FC04}"/>
              </a:ext>
            </a:extLst>
          </p:cNvPr>
          <p:cNvSpPr>
            <a:spLocks noGrp="1"/>
          </p:cNvSpPr>
          <p:nvPr/>
        </p:nvSpPr>
        <p:spPr>
          <a:xfrm>
            <a:off x="590550" y="2181225"/>
            <a:ext cx="14058900" cy="2019300"/>
          </a:xfrm>
          <a:prstGeom prst="rect">
            <a:avLst/>
          </a:prstGeom>
          <a:noFill/>
          <a:ln w="0">
            <a:noFill/>
          </a:ln>
        </p:spPr>
        <p:txBody>
          <a:bodyPr wrap="square" lIns="0" tIns="0" rIns="0" bIns="0" anchor="t">
            <a:noAutofit/>
          </a:bodyPr>
          <a:lstStyle/>
          <a:p>
            <a:pPr marL="304800" indent="-177800">
              <a:spcAft>
                <a:spcPts val="2100"/>
              </a:spcAft>
              <a:buChar char="•"/>
              <a:defRPr sz="2400" b="0">
                <a:solidFill>
                  <a:srgbClr val="151515"/>
                </a:solidFill>
                <a:latin typeface="Helvetica Neue"/>
                <a:ea typeface="Helvetica Neue"/>
                <a:cs typeface="Helvetica Neue"/>
              </a:defRPr>
            </a:pPr>
            <a:r>
              <a:rPr sz="2400" b="1" dirty="0">
                <a:solidFill>
                  <a:srgbClr val="151515"/>
                </a:solidFill>
                <a:latin typeface="Helvetica Neue"/>
                <a:ea typeface="Helvetica Neue"/>
                <a:cs typeface="Helvetica Neue"/>
              </a:rPr>
              <a:t>Action check:</a:t>
            </a:r>
            <a:r>
              <a:rPr sz="2400" b="0" dirty="0">
                <a:solidFill>
                  <a:srgbClr val="151515"/>
                </a:solidFill>
                <a:latin typeface="Helvetica Neue"/>
                <a:ea typeface="Helvetica Neue"/>
                <a:cs typeface="Helvetica Neue"/>
              </a:rPr>
              <a:t> Check whether the selected tool and parameters can provide the required information or complete a necessary prerequisite.</a:t>
            </a:r>
            <a:endParaRPr lang="en-US" sz="2400" b="0" dirty="0">
              <a:solidFill>
                <a:srgbClr val="151515"/>
              </a:solidFill>
              <a:latin typeface="Helvetica Neue"/>
              <a:ea typeface="Helvetica Neue"/>
              <a:cs typeface="Helvetica Neue"/>
            </a:endParaRPr>
          </a:p>
          <a:p>
            <a:pPr marL="304800" indent="-177800">
              <a:spcAft>
                <a:spcPts val="2100"/>
              </a:spcAft>
              <a:buFontTx/>
              <a:buChar char="•"/>
              <a:defRPr sz="2400" b="0">
                <a:solidFill>
                  <a:srgbClr val="151515"/>
                </a:solidFill>
                <a:latin typeface="Helvetica Neue"/>
                <a:ea typeface="Helvetica Neue"/>
                <a:cs typeface="Helvetica Neue"/>
              </a:defRPr>
            </a:pPr>
            <a:r>
              <a:rPr lang="en-US" sz="2400" b="1" dirty="0">
                <a:solidFill>
                  <a:srgbClr val="151515"/>
                </a:solidFill>
                <a:latin typeface="Helvetica Neue"/>
                <a:ea typeface="Helvetica Neue"/>
                <a:cs typeface="Helvetica Neue"/>
              </a:rPr>
              <a:t>Information gap check:</a:t>
            </a:r>
            <a:r>
              <a:rPr lang="en-US" sz="2400" dirty="0">
                <a:solidFill>
                  <a:srgbClr val="151515"/>
                </a:solidFill>
                <a:latin typeface="Helvetica Neue"/>
                <a:ea typeface="Helvetica Neue"/>
                <a:cs typeface="Helvetica Neue"/>
              </a:rPr>
              <a:t> Using LLM verifier to check whether the information gap is make sense (manually create wrong information gap?).</a:t>
            </a:r>
          </a:p>
          <a:p>
            <a:pPr marL="304800" indent="-177800">
              <a:spcAft>
                <a:spcPts val="2100"/>
              </a:spcAft>
              <a:buChar char="•"/>
              <a:defRPr sz="2400" b="0">
                <a:solidFill>
                  <a:srgbClr val="151515"/>
                </a:solidFill>
                <a:latin typeface="Helvetica Neue"/>
                <a:ea typeface="Helvetica Neue"/>
                <a:cs typeface="Helvetica Neue"/>
              </a:defRPr>
            </a:pPr>
            <a:endParaRPr sz="2400" b="0" dirty="0">
              <a:solidFill>
                <a:srgbClr val="151515"/>
              </a:solidFill>
              <a:latin typeface="Helvetica Neue"/>
              <a:ea typeface="Helvetica Neue"/>
              <a:cs typeface="Helvetica Neue"/>
            </a:endParaRPr>
          </a:p>
        </p:txBody>
      </p:sp>
      <p:sp>
        <p:nvSpPr>
          <p:cNvPr id="4" name="Offline heading">
            <a:extLst>
              <a:ext uri="{FF2B5EF4-FFF2-40B4-BE49-F238E27FC236}">
                <a16:creationId xmlns:a16="http://schemas.microsoft.com/office/drawing/2014/main" id="{BC711E94-4E07-427D-B706-1AF7A7322952}"/>
              </a:ext>
            </a:extLst>
          </p:cNvPr>
          <p:cNvSpPr>
            <a:spLocks noGrp="1"/>
          </p:cNvSpPr>
          <p:nvPr/>
        </p:nvSpPr>
        <p:spPr>
          <a:xfrm>
            <a:off x="590550" y="4391025"/>
            <a:ext cx="14058900" cy="457200"/>
          </a:xfrm>
          <a:prstGeom prst="rect">
            <a:avLst/>
          </a:prstGeom>
          <a:noFill/>
          <a:ln w="0">
            <a:noFill/>
          </a:ln>
        </p:spPr>
        <p:txBody>
          <a:bodyPr wrap="square" lIns="0" tIns="0" rIns="0" bIns="0" anchor="t">
            <a:noAutofit/>
          </a:bodyPr>
          <a:lstStyle/>
          <a:p>
            <a:pPr>
              <a:defRPr sz="2625" b="1">
                <a:solidFill>
                  <a:srgbClr val="151515"/>
                </a:solidFill>
                <a:latin typeface="Helvetica Neue"/>
                <a:ea typeface="Helvetica Neue"/>
                <a:cs typeface="Helvetica Neue"/>
              </a:defRPr>
            </a:pPr>
            <a:r>
              <a:rPr sz="2625" b="1">
                <a:solidFill>
                  <a:srgbClr val="151515"/>
                </a:solidFill>
                <a:latin typeface="Helvetica Neue"/>
                <a:ea typeface="Helvetica Neue"/>
                <a:cs typeface="Helvetica Neue"/>
              </a:rPr>
              <a:t>Offline diagnosis (with ground truth)</a:t>
            </a:r>
          </a:p>
        </p:txBody>
      </p:sp>
      <p:sp>
        <p:nvSpPr>
          <p:cNvPr id="5" name="Offline methods">
            <a:extLst>
              <a:ext uri="{FF2B5EF4-FFF2-40B4-BE49-F238E27FC236}">
                <a16:creationId xmlns:a16="http://schemas.microsoft.com/office/drawing/2014/main" id="{AD819A4A-B405-4739-A3BD-7A1255068EB6}"/>
              </a:ext>
            </a:extLst>
          </p:cNvPr>
          <p:cNvSpPr>
            <a:spLocks noGrp="1"/>
          </p:cNvSpPr>
          <p:nvPr/>
        </p:nvSpPr>
        <p:spPr>
          <a:xfrm>
            <a:off x="590550" y="4943475"/>
            <a:ext cx="14058900" cy="3200400"/>
          </a:xfrm>
          <a:prstGeom prst="rect">
            <a:avLst/>
          </a:prstGeom>
          <a:noFill/>
          <a:ln w="0">
            <a:noFill/>
          </a:ln>
        </p:spPr>
        <p:txBody>
          <a:bodyPr wrap="square" lIns="0" tIns="0" rIns="0" bIns="0" anchor="t">
            <a:noAutofit/>
          </a:bodyPr>
          <a:lstStyle/>
          <a:p>
            <a:pPr marL="304800" indent="-177800">
              <a:spcAft>
                <a:spcPts val="1800"/>
              </a:spcAft>
              <a:buChar char="•"/>
              <a:defRPr sz="2400" b="0">
                <a:solidFill>
                  <a:srgbClr val="151515"/>
                </a:solidFill>
                <a:latin typeface="Helvetica Neue"/>
                <a:ea typeface="Helvetica Neue"/>
                <a:cs typeface="Helvetica Neue"/>
              </a:defRPr>
            </a:pPr>
            <a:r>
              <a:rPr sz="2400" b="1" dirty="0">
                <a:solidFill>
                  <a:srgbClr val="151515"/>
                </a:solidFill>
                <a:latin typeface="Helvetica Neue"/>
                <a:ea typeface="Helvetica Neue"/>
                <a:cs typeface="Helvetica Neue"/>
              </a:rPr>
              <a:t>Program checks:</a:t>
            </a:r>
            <a:r>
              <a:rPr sz="2400" b="0" dirty="0">
                <a:solidFill>
                  <a:srgbClr val="151515"/>
                </a:solidFill>
                <a:latin typeface="Helvetica Neue"/>
                <a:ea typeface="Helvetica Neue"/>
                <a:cs typeface="Helvetica Neue"/>
              </a:rPr>
              <a:t> Compare final results with ground truth,</a:t>
            </a:r>
            <a:r>
              <a:rPr lang="en-US" sz="2400" b="0" dirty="0">
                <a:solidFill>
                  <a:srgbClr val="151515"/>
                </a:solidFill>
                <a:latin typeface="Helvetica Neue"/>
                <a:ea typeface="Helvetica Neue"/>
                <a:cs typeface="Helvetica Neue"/>
              </a:rPr>
              <a:t> using the stored state and ste</a:t>
            </a:r>
            <a:r>
              <a:rPr lang="en-US" sz="2400" dirty="0">
                <a:solidFill>
                  <a:srgbClr val="151515"/>
                </a:solidFill>
                <a:latin typeface="Helvetica Neue"/>
                <a:ea typeface="Helvetica Neue"/>
                <a:cs typeface="Helvetica Neue"/>
              </a:rPr>
              <a:t>p</a:t>
            </a:r>
            <a:r>
              <a:rPr lang="en-US" sz="2400" b="0" dirty="0">
                <a:solidFill>
                  <a:srgbClr val="151515"/>
                </a:solidFill>
                <a:latin typeface="Helvetica Neue"/>
                <a:ea typeface="Helvetica Neue"/>
                <a:cs typeface="Helvetica Neue"/>
              </a:rPr>
              <a:t> files and context to</a:t>
            </a:r>
            <a:r>
              <a:rPr sz="2400" b="0" dirty="0">
                <a:solidFill>
                  <a:srgbClr val="151515"/>
                </a:solidFill>
                <a:latin typeface="Helvetica Neue"/>
                <a:ea typeface="Helvetica Neue"/>
                <a:cs typeface="Helvetica Neue"/>
              </a:rPr>
              <a:t> locate relevant steps.</a:t>
            </a:r>
            <a:r>
              <a:rPr lang="en-US" sz="2400" b="0" dirty="0">
                <a:solidFill>
                  <a:srgbClr val="151515"/>
                </a:solidFill>
                <a:latin typeface="Helvetica Neue"/>
                <a:ea typeface="Helvetica Neue"/>
                <a:cs typeface="Helvetica Neue"/>
              </a:rPr>
              <a:t> (the stored file include each step action, so can locate the missing information is from which step.)</a:t>
            </a:r>
            <a:endParaRPr sz="2400" b="0" dirty="0">
              <a:solidFill>
                <a:srgbClr val="151515"/>
              </a:solidFill>
              <a:latin typeface="Helvetica Neue"/>
              <a:ea typeface="Helvetica Neue"/>
              <a:cs typeface="Helvetica Neue"/>
            </a:endParaRPr>
          </a:p>
          <a:p>
            <a:pPr marL="304800" indent="-177800">
              <a:spcAft>
                <a:spcPts val="1800"/>
              </a:spcAft>
              <a:buChar char="•"/>
              <a:defRPr sz="2400" b="0">
                <a:solidFill>
                  <a:srgbClr val="151515"/>
                </a:solidFill>
                <a:latin typeface="Helvetica Neue"/>
                <a:ea typeface="Helvetica Neue"/>
                <a:cs typeface="Helvetica Neue"/>
              </a:defRPr>
            </a:pPr>
            <a:r>
              <a:rPr sz="2400" b="1" dirty="0">
                <a:solidFill>
                  <a:srgbClr val="151515"/>
                </a:solidFill>
                <a:latin typeface="Helvetica Neue"/>
                <a:ea typeface="Helvetica Neue"/>
                <a:cs typeface="Helvetica Neue"/>
              </a:rPr>
              <a:t>Program checks + LLM diagnosis:</a:t>
            </a:r>
            <a:r>
              <a:rPr sz="2400" b="0" dirty="0">
                <a:solidFill>
                  <a:srgbClr val="151515"/>
                </a:solidFill>
                <a:latin typeface="Helvetica Neue"/>
                <a:ea typeface="Helvetica Neue"/>
                <a:cs typeface="Helvetica Neue"/>
              </a:rPr>
              <a:t> Give a verifier the final discrepancies and relevant steps to identify possible errors with supporting evidence.</a:t>
            </a:r>
          </a:p>
        </p:txBody>
      </p:sp>
    </p:spTree>
    <p:extLst>
      <p:ext uri="{BB962C8B-B14F-4D97-AF65-F5344CB8AC3E}">
        <p14:creationId xmlns:p14="http://schemas.microsoft.com/office/powerpoint/2010/main" val="1424641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FDB7AA5-01C1-4F81-9C96-197826594DEB}"/>
              </a:ext>
            </a:extLst>
          </p:cNvPr>
          <p:cNvSpPr>
            <a:spLocks noGrp="1"/>
          </p:cNvSpPr>
          <p:nvPr/>
        </p:nvSpPr>
        <p:spPr>
          <a:xfrm>
            <a:off x="457200" y="400050"/>
            <a:ext cx="14325600" cy="857250"/>
          </a:xfrm>
          <a:prstGeom prst="rect">
            <a:avLst/>
          </a:prstGeom>
          <a:noFill/>
          <a:ln w="0">
            <a:noFill/>
          </a:ln>
        </p:spPr>
        <p:txBody>
          <a:bodyPr wrap="square" lIns="0" tIns="0" rIns="0" bIns="0" anchor="t">
            <a:noAutofit/>
          </a:bodyPr>
          <a:lstStyle/>
          <a:p>
            <a:pPr>
              <a:defRPr sz="4200" b="1">
                <a:solidFill>
                  <a:srgbClr val="2E5EAA"/>
                </a:solidFill>
                <a:latin typeface="Helvetica Neue"/>
                <a:ea typeface="Helvetica Neue"/>
                <a:cs typeface="Helvetica Neue"/>
              </a:defRPr>
            </a:pPr>
            <a:r>
              <a:rPr sz="4200" b="1">
                <a:solidFill>
                  <a:srgbClr val="2E5EAA"/>
                </a:solidFill>
                <a:latin typeface="Helvetica Neue"/>
                <a:ea typeface="Helvetica Neue"/>
                <a:cs typeface="Helvetica Neue"/>
              </a:rPr>
              <a:t>Correction and recovery</a:t>
            </a:r>
          </a:p>
        </p:txBody>
      </p:sp>
      <p:sp>
        <p:nvSpPr>
          <p:cNvPr id="2" name="Correction methods">
            <a:extLst>
              <a:ext uri="{FF2B5EF4-FFF2-40B4-BE49-F238E27FC236}">
                <a16:creationId xmlns:a16="http://schemas.microsoft.com/office/drawing/2014/main" id="{1E95EA86-E4CB-48D7-B573-75B1EBFBC173}"/>
              </a:ext>
            </a:extLst>
          </p:cNvPr>
          <p:cNvSpPr>
            <a:spLocks noGrp="1"/>
          </p:cNvSpPr>
          <p:nvPr/>
        </p:nvSpPr>
        <p:spPr>
          <a:xfrm>
            <a:off x="590550" y="2076450"/>
            <a:ext cx="14058900" cy="5429250"/>
          </a:xfrm>
          <a:prstGeom prst="rect">
            <a:avLst/>
          </a:prstGeom>
          <a:noFill/>
          <a:ln w="0">
            <a:noFill/>
          </a:ln>
        </p:spPr>
        <p:txBody>
          <a:bodyPr wrap="square" lIns="0" tIns="0" rIns="0" bIns="0" anchor="t">
            <a:noAutofit/>
          </a:bodyPr>
          <a:lstStyle/>
          <a:p>
            <a:pPr marL="304800" indent="-177800">
              <a:spcAft>
                <a:spcPts val="4800"/>
              </a:spcAft>
              <a:buChar char="•"/>
              <a:defRPr sz="2700" b="0">
                <a:solidFill>
                  <a:srgbClr val="151515"/>
                </a:solidFill>
                <a:latin typeface="Helvetica Neue"/>
                <a:ea typeface="Helvetica Neue"/>
                <a:cs typeface="Helvetica Neue"/>
              </a:defRPr>
            </a:pPr>
            <a:r>
              <a:rPr sz="2700" b="1">
                <a:solidFill>
                  <a:srgbClr val="151515"/>
                </a:solidFill>
                <a:latin typeface="Helvetica Neue"/>
                <a:ea typeface="Helvetica Neue"/>
                <a:cs typeface="Helvetica Neue"/>
              </a:rPr>
              <a:t>Continue with textual feedback:</a:t>
            </a:r>
            <a:r>
              <a:rPr sz="2700" b="0">
                <a:solidFill>
                  <a:srgbClr val="151515"/>
                </a:solidFill>
                <a:latin typeface="Helvetica Neue"/>
                <a:ea typeface="Helvetica Neue"/>
                <a:cs typeface="Helvetica Neue"/>
              </a:rPr>
              <a:t> Give the LLM the correction and let it adjust subsequent actions.</a:t>
            </a:r>
          </a:p>
          <a:p>
            <a:pPr marL="304800" indent="-177800">
              <a:spcAft>
                <a:spcPts val="4800"/>
              </a:spcAft>
              <a:buChar char="•"/>
              <a:defRPr sz="2700" b="0">
                <a:solidFill>
                  <a:srgbClr val="151515"/>
                </a:solidFill>
                <a:latin typeface="Helvetica Neue"/>
                <a:ea typeface="Helvetica Neue"/>
                <a:cs typeface="Helvetica Neue"/>
              </a:defRPr>
            </a:pPr>
            <a:r>
              <a:rPr sz="2700" b="1">
                <a:solidFill>
                  <a:srgbClr val="151515"/>
                </a:solidFill>
                <a:latin typeface="Helvetica Neue"/>
                <a:ea typeface="Helvetica Neue"/>
                <a:cs typeface="Helvetica Neue"/>
              </a:rPr>
              <a:t>Correct the current state programmatically:</a:t>
            </a:r>
            <a:r>
              <a:rPr sz="2700" b="0">
                <a:solidFill>
                  <a:srgbClr val="151515"/>
                </a:solidFill>
                <a:latin typeface="Helvetica Neue"/>
                <a:ea typeface="Helvetica Neue"/>
                <a:cs typeface="Helvetica Neue"/>
              </a:rPr>
              <a:t> Reopen incorrectly excluded regions, add new evidence, regenerate the context, and continue.</a:t>
            </a:r>
          </a:p>
          <a:p>
            <a:pPr marL="304800" indent="-177800">
              <a:spcAft>
                <a:spcPts val="4800"/>
              </a:spcAft>
              <a:buChar char="•"/>
              <a:defRPr sz="2700" b="0">
                <a:solidFill>
                  <a:srgbClr val="151515"/>
                </a:solidFill>
                <a:latin typeface="Helvetica Neue"/>
                <a:ea typeface="Helvetica Neue"/>
                <a:cs typeface="Helvetica Neue"/>
              </a:defRPr>
            </a:pPr>
            <a:r>
              <a:rPr sz="2700" b="1">
                <a:solidFill>
                  <a:srgbClr val="151515"/>
                </a:solidFill>
                <a:latin typeface="Helvetica Neue"/>
                <a:ea typeface="Helvetica Neue"/>
                <a:cs typeface="Helvetica Neue"/>
              </a:rPr>
              <a:t>Restore a checkpoint and rerun:</a:t>
            </a:r>
            <a:r>
              <a:rPr sz="2700" b="0">
                <a:solidFill>
                  <a:srgbClr val="151515"/>
                </a:solidFill>
                <a:latin typeface="Helvetica Neue"/>
                <a:ea typeface="Helvetica Neue"/>
                <a:cs typeface="Helvetica Neue"/>
              </a:rPr>
              <a:t> Return to the state before the incorrect decision, provide the same corrective information, and rerun subsequent steps.</a:t>
            </a:r>
          </a:p>
        </p:txBody>
      </p:sp>
    </p:spTree>
    <p:extLst>
      <p:ext uri="{BB962C8B-B14F-4D97-AF65-F5344CB8AC3E}">
        <p14:creationId xmlns:p14="http://schemas.microsoft.com/office/powerpoint/2010/main" val="13501901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464</Words>
  <Application>Microsoft Macintosh PowerPoint</Application>
  <DocSecurity>0</DocSecurity>
  <PresentationFormat>Custom</PresentationFormat>
  <Paragraphs>22</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Calibri</vt:lpstr>
      <vt:lpstr>Helvetica Neue</vt:lpstr>
      <vt:lpstr>ChatGPT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Zheng, Xinyue</cp:lastModifiedBy>
  <cp:revision>1</cp:revision>
  <dcterms:created xsi:type="dcterms:W3CDTF">2026-09-28T09:42:26Z</dcterms:created>
  <dcterms:modified xsi:type="dcterms:W3CDTF">2026-09-28T09:47:34Z</dcterms:modified>
</cp:coreProperties>
</file>